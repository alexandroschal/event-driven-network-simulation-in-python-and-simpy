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57" r:id="rId3"/>
    <p:sldId id="258" r:id="rId4"/>
    <p:sldId id="263" r:id="rId5"/>
    <p:sldId id="260" r:id="rId6"/>
    <p:sldId id="261" r:id="rId7"/>
    <p:sldId id="272" r:id="rId8"/>
    <p:sldId id="269" r:id="rId9"/>
    <p:sldId id="273" r:id="rId10"/>
    <p:sldId id="270" r:id="rId11"/>
    <p:sldId id="274" r:id="rId12"/>
    <p:sldId id="271" r:id="rId13"/>
    <p:sldId id="275" r:id="rId14"/>
    <p:sldId id="276" r:id="rId15"/>
    <p:sldId id="277" r:id="rId16"/>
    <p:sldId id="278" r:id="rId17"/>
    <p:sldId id="279" r:id="rId18"/>
    <p:sldId id="280" r:id="rId19"/>
    <p:sldId id="281" r:id="rId20"/>
    <p:sldId id="283" r:id="rId21"/>
    <p:sldId id="28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4D23DB1-9F3E-4280-BC9C-7CD8D0FA7F4A}">
          <p14:sldIdLst>
            <p14:sldId id="256"/>
            <p14:sldId id="257"/>
            <p14:sldId id="258"/>
            <p14:sldId id="263"/>
            <p14:sldId id="260"/>
            <p14:sldId id="261"/>
            <p14:sldId id="272"/>
            <p14:sldId id="269"/>
            <p14:sldId id="273"/>
            <p14:sldId id="270"/>
            <p14:sldId id="274"/>
            <p14:sldId id="271"/>
            <p14:sldId id="275"/>
            <p14:sldId id="276"/>
            <p14:sldId id="277"/>
            <p14:sldId id="278"/>
            <p14:sldId id="279"/>
            <p14:sldId id="280"/>
            <p14:sldId id="281"/>
            <p14:sldId id="283"/>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D69326-44DD-4742-86E4-66314258F05D}"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EDC39548-FF97-418A-A819-1D283F9A559A}">
      <dgm:prSet/>
      <dgm:spPr/>
      <dgm:t>
        <a:bodyPr/>
        <a:lstStyle/>
        <a:p>
          <a:r>
            <a:rPr lang="el-GR" b="1" dirty="0"/>
            <a:t>Ιδιότητες Σύνδεσης (Link Properties):</a:t>
          </a:r>
          <a:endParaRPr lang="en-US" dirty="0"/>
        </a:p>
      </dgm:t>
    </dgm:pt>
    <dgm:pt modelId="{9C8CEB9A-8D06-43EC-94F2-5AB3CC488B79}" type="parTrans" cxnId="{AAFF7F7C-9D1D-48B4-B64D-23D95E0B3CB2}">
      <dgm:prSet/>
      <dgm:spPr/>
      <dgm:t>
        <a:bodyPr/>
        <a:lstStyle/>
        <a:p>
          <a:endParaRPr lang="en-US"/>
        </a:p>
      </dgm:t>
    </dgm:pt>
    <dgm:pt modelId="{0B08AF6B-FE9F-4B4F-901D-29F082864BD9}" type="sibTrans" cxnId="{AAFF7F7C-9D1D-48B4-B64D-23D95E0B3CB2}">
      <dgm:prSet/>
      <dgm:spPr/>
      <dgm:t>
        <a:bodyPr/>
        <a:lstStyle/>
        <a:p>
          <a:endParaRPr lang="en-US"/>
        </a:p>
      </dgm:t>
    </dgm:pt>
    <dgm:pt modelId="{88CCC424-F2DE-4B18-AACF-2A4B5EC11DE9}">
      <dgm:prSet/>
      <dgm:spPr/>
      <dgm:t>
        <a:bodyPr/>
        <a:lstStyle/>
        <a:p>
          <a:r>
            <a:rPr lang="el-GR" b="1" dirty="0"/>
            <a:t>Bandwidth:</a:t>
          </a:r>
          <a:r>
            <a:rPr lang="el-GR" dirty="0"/>
            <a:t> 1 Mbps</a:t>
          </a:r>
          <a:r>
            <a:rPr lang="en-US" dirty="0"/>
            <a:t>.</a:t>
          </a:r>
          <a:r>
            <a:rPr lang="el-GR" dirty="0"/>
            <a:t>Το εύρος ζώνης είναι ο μέγιστος ρυθμός μεταφοράς δεδομένων.</a:t>
          </a:r>
          <a:br>
            <a:rPr lang="el-GR" dirty="0"/>
          </a:br>
          <a:r>
            <a:rPr lang="en-US" b="1" dirty="0"/>
            <a:t>Bandwidth </a:t>
          </a:r>
          <a:r>
            <a:rPr lang="el-GR" b="1" dirty="0"/>
            <a:t>σε </a:t>
          </a:r>
          <a:r>
            <a:rPr lang="en-US" b="1" dirty="0"/>
            <a:t>Bytes: </a:t>
          </a:r>
          <a:r>
            <a:rPr lang="en-US" dirty="0"/>
            <a:t>Bandwidth/8=125.000</a:t>
          </a:r>
          <a:br>
            <a:rPr lang="el-GR" dirty="0"/>
          </a:br>
          <a:r>
            <a:rPr lang="el-GR" b="1" dirty="0"/>
            <a:t>Propagation Delay:</a:t>
          </a:r>
          <a:r>
            <a:rPr lang="el-GR" dirty="0"/>
            <a:t> 50 ms. Καθυστέρηση διάδοσης είναι η χρονική διάρκεια που απαιτείται για να φτάσει ένα σήμα στον προορισμό του</a:t>
          </a:r>
          <a:r>
            <a:rPr lang="en-US" dirty="0"/>
            <a:t>.</a:t>
          </a:r>
          <a:r>
            <a:rPr lang="el-GR" dirty="0"/>
            <a:t>  </a:t>
          </a:r>
          <a:endParaRPr lang="en-US" dirty="0"/>
        </a:p>
      </dgm:t>
    </dgm:pt>
    <dgm:pt modelId="{9D593CDC-1D83-4951-8577-4FA6A83B157F}" type="parTrans" cxnId="{615C478B-2C54-4273-9894-9D5F4D8FA317}">
      <dgm:prSet/>
      <dgm:spPr/>
      <dgm:t>
        <a:bodyPr/>
        <a:lstStyle/>
        <a:p>
          <a:endParaRPr lang="en-US"/>
        </a:p>
      </dgm:t>
    </dgm:pt>
    <dgm:pt modelId="{BC190561-97FC-4AD1-B434-D20EA3452C4A}" type="sibTrans" cxnId="{615C478B-2C54-4273-9894-9D5F4D8FA317}">
      <dgm:prSet/>
      <dgm:spPr/>
      <dgm:t>
        <a:bodyPr/>
        <a:lstStyle/>
        <a:p>
          <a:endParaRPr lang="en-US"/>
        </a:p>
      </dgm:t>
    </dgm:pt>
    <dgm:pt modelId="{BD9FE78B-0E14-4EC9-89F5-BF7D0F62163E}">
      <dgm:prSet/>
      <dgm:spPr/>
      <dgm:t>
        <a:bodyPr/>
        <a:lstStyle/>
        <a:p>
          <a:r>
            <a:rPr lang="el-GR" b="1"/>
            <a:t>Ιδιότητες Κίνησης (Traffic Properties):</a:t>
          </a:r>
          <a:endParaRPr lang="en-US"/>
        </a:p>
      </dgm:t>
    </dgm:pt>
    <dgm:pt modelId="{8B5CD102-5555-4F0C-974C-636639071A42}" type="parTrans" cxnId="{4671FA20-BF1F-4992-86B9-86274DEF1D8C}">
      <dgm:prSet/>
      <dgm:spPr/>
      <dgm:t>
        <a:bodyPr/>
        <a:lstStyle/>
        <a:p>
          <a:endParaRPr lang="en-US"/>
        </a:p>
      </dgm:t>
    </dgm:pt>
    <dgm:pt modelId="{32EFDF6B-017D-4E2B-B3E2-FDFEBA04EDAA}" type="sibTrans" cxnId="{4671FA20-BF1F-4992-86B9-86274DEF1D8C}">
      <dgm:prSet/>
      <dgm:spPr/>
      <dgm:t>
        <a:bodyPr/>
        <a:lstStyle/>
        <a:p>
          <a:endParaRPr lang="en-US"/>
        </a:p>
      </dgm:t>
    </dgm:pt>
    <dgm:pt modelId="{A67EFF8A-3F6C-4B9F-B122-A4BAE7F02772}">
      <dgm:prSet/>
      <dgm:spPr/>
      <dgm:t>
        <a:bodyPr/>
        <a:lstStyle/>
        <a:p>
          <a:r>
            <a:rPr lang="el-GR" b="1" dirty="0"/>
            <a:t>Packet Size:</a:t>
          </a:r>
          <a:r>
            <a:rPr lang="el-GR" dirty="0"/>
            <a:t> 1000 Bytes. Το μέγεθος κάθε πακέτου. Η πηγή παράγει 1 πακέτο κάθε 5 ms (200 πακέτα/sec).</a:t>
          </a:r>
          <a:endParaRPr lang="en-US" dirty="0"/>
        </a:p>
      </dgm:t>
    </dgm:pt>
    <dgm:pt modelId="{87B23B13-2B68-4809-9510-C7809510550C}" type="parTrans" cxnId="{4D13E887-00E2-4369-A4D8-B6F87C8465CE}">
      <dgm:prSet/>
      <dgm:spPr/>
      <dgm:t>
        <a:bodyPr/>
        <a:lstStyle/>
        <a:p>
          <a:endParaRPr lang="en-US"/>
        </a:p>
      </dgm:t>
    </dgm:pt>
    <dgm:pt modelId="{6ACD542B-8FCC-4454-AB13-11E43D3C170F}" type="sibTrans" cxnId="{4D13E887-00E2-4369-A4D8-B6F87C8465CE}">
      <dgm:prSet/>
      <dgm:spPr/>
      <dgm:t>
        <a:bodyPr/>
        <a:lstStyle/>
        <a:p>
          <a:endParaRPr lang="en-US"/>
        </a:p>
      </dgm:t>
    </dgm:pt>
    <dgm:pt modelId="{2262E5BA-5B98-481F-8B1E-2A62B06C363C}">
      <dgm:prSet/>
      <dgm:spPr/>
      <dgm:t>
        <a:bodyPr/>
        <a:lstStyle/>
        <a:p>
          <a:r>
            <a:rPr lang="el-GR" b="1"/>
            <a:t>Υπολογίζουμε τον Χρόνο Εξυπηρέτησης (Service Time):</a:t>
          </a:r>
          <a:endParaRPr lang="en-US"/>
        </a:p>
      </dgm:t>
    </dgm:pt>
    <dgm:pt modelId="{4951BBE4-C0F0-462B-99D7-A08AD5732EC9}" type="parTrans" cxnId="{31492FF1-2671-4DDC-A215-74F232CB5436}">
      <dgm:prSet/>
      <dgm:spPr/>
      <dgm:t>
        <a:bodyPr/>
        <a:lstStyle/>
        <a:p>
          <a:endParaRPr lang="en-US"/>
        </a:p>
      </dgm:t>
    </dgm:pt>
    <dgm:pt modelId="{033FCEDA-566C-424C-8AC8-E29B750A5443}" type="sibTrans" cxnId="{31492FF1-2671-4DDC-A215-74F232CB5436}">
      <dgm:prSet/>
      <dgm:spPr/>
      <dgm:t>
        <a:bodyPr/>
        <a:lstStyle/>
        <a:p>
          <a:endParaRPr lang="en-US"/>
        </a:p>
      </dgm:t>
    </dgm:pt>
    <dgm:pt modelId="{9B428F33-8957-442B-8C96-555D735E988F}">
      <dgm:prSet/>
      <dgm:spPr/>
      <dgm:t>
        <a:bodyPr/>
        <a:lstStyle/>
        <a:p>
          <a:r>
            <a:rPr lang="el-GR" dirty="0"/>
            <a:t>Transmission Delay = Packet Size / Bandwidth</a:t>
          </a:r>
          <a:endParaRPr lang="en-US" dirty="0"/>
        </a:p>
      </dgm:t>
    </dgm:pt>
    <dgm:pt modelId="{8184D41A-6472-4907-86A0-3D5C3438E5F9}" type="parTrans" cxnId="{C234A2B5-8BA4-47DF-AB4C-57BC67854599}">
      <dgm:prSet/>
      <dgm:spPr/>
      <dgm:t>
        <a:bodyPr/>
        <a:lstStyle/>
        <a:p>
          <a:endParaRPr lang="en-US"/>
        </a:p>
      </dgm:t>
    </dgm:pt>
    <dgm:pt modelId="{DED308C0-7E1F-4D24-9D9F-0DBBA498B975}" type="sibTrans" cxnId="{C234A2B5-8BA4-47DF-AB4C-57BC67854599}">
      <dgm:prSet/>
      <dgm:spPr/>
      <dgm:t>
        <a:bodyPr/>
        <a:lstStyle/>
        <a:p>
          <a:endParaRPr lang="en-US"/>
        </a:p>
      </dgm:t>
    </dgm:pt>
    <dgm:pt modelId="{A800B672-9907-46AA-9EF7-9D0F12B5F50A}">
      <dgm:prSet/>
      <dgm:spPr/>
      <dgm:t>
        <a:bodyPr/>
        <a:lstStyle/>
        <a:p>
          <a:r>
            <a:rPr lang="el-GR" dirty="0"/>
            <a:t>1000 Bytes / 125,000 Bytes/sec = 0.008 δευτερόλεπτα(8</a:t>
          </a:r>
          <a:r>
            <a:rPr lang="en-US" dirty="0" err="1"/>
            <a:t>ms</a:t>
          </a:r>
          <a:r>
            <a:rPr lang="en-US" dirty="0"/>
            <a:t>).</a:t>
          </a:r>
        </a:p>
      </dgm:t>
    </dgm:pt>
    <dgm:pt modelId="{83295F43-A544-4BC9-A15E-336ACD3705A5}" type="parTrans" cxnId="{5D183CC6-271F-427E-B731-2318A3D9CAA2}">
      <dgm:prSet/>
      <dgm:spPr/>
      <dgm:t>
        <a:bodyPr/>
        <a:lstStyle/>
        <a:p>
          <a:endParaRPr lang="en-US"/>
        </a:p>
      </dgm:t>
    </dgm:pt>
    <dgm:pt modelId="{CB07B613-652D-4B92-B488-2716AFAC6589}" type="sibTrans" cxnId="{5D183CC6-271F-427E-B731-2318A3D9CAA2}">
      <dgm:prSet/>
      <dgm:spPr/>
      <dgm:t>
        <a:bodyPr/>
        <a:lstStyle/>
        <a:p>
          <a:endParaRPr lang="en-US"/>
        </a:p>
      </dgm:t>
    </dgm:pt>
    <dgm:pt modelId="{D636800D-A21A-4EC9-ADC3-E159EA154386}">
      <dgm:prSet/>
      <dgm:spPr/>
      <dgm:t>
        <a:bodyPr/>
        <a:lstStyle/>
        <a:p>
          <a:r>
            <a:rPr lang="el-GR"/>
            <a:t>Αυτό σημαίνει ότι ο router χρειάζεται </a:t>
          </a:r>
          <a:r>
            <a:rPr lang="el-GR" b="1"/>
            <a:t>8ms</a:t>
          </a:r>
          <a:r>
            <a:rPr lang="el-GR"/>
            <a:t> για να σπρώξει ένα ολόκληρο πακέτο στη γραμμή.</a:t>
          </a:r>
          <a:endParaRPr lang="en-US"/>
        </a:p>
      </dgm:t>
    </dgm:pt>
    <dgm:pt modelId="{67791BFA-E425-416F-8F2A-60288AAB6D61}" type="parTrans" cxnId="{478CBD43-281D-4C79-A7E2-364AD76CFE93}">
      <dgm:prSet/>
      <dgm:spPr/>
      <dgm:t>
        <a:bodyPr/>
        <a:lstStyle/>
        <a:p>
          <a:endParaRPr lang="en-US"/>
        </a:p>
      </dgm:t>
    </dgm:pt>
    <dgm:pt modelId="{E89257FF-E7A4-4C6E-89D0-B83AFF8E1D3D}" type="sibTrans" cxnId="{478CBD43-281D-4C79-A7E2-364AD76CFE93}">
      <dgm:prSet/>
      <dgm:spPr/>
      <dgm:t>
        <a:bodyPr/>
        <a:lstStyle/>
        <a:p>
          <a:endParaRPr lang="en-US"/>
        </a:p>
      </dgm:t>
    </dgm:pt>
    <dgm:pt modelId="{E91D0413-D1BD-4220-A10D-694EAE9E0BD9}" type="pres">
      <dgm:prSet presAssocID="{85D69326-44DD-4742-86E4-66314258F05D}" presName="Name0" presStyleCnt="0">
        <dgm:presLayoutVars>
          <dgm:dir/>
          <dgm:animLvl val="lvl"/>
          <dgm:resizeHandles val="exact"/>
        </dgm:presLayoutVars>
      </dgm:prSet>
      <dgm:spPr/>
    </dgm:pt>
    <dgm:pt modelId="{1A15609F-D140-4203-B83C-1DAE7A473E64}" type="pres">
      <dgm:prSet presAssocID="{EDC39548-FF97-418A-A819-1D283F9A559A}" presName="linNode" presStyleCnt="0"/>
      <dgm:spPr/>
    </dgm:pt>
    <dgm:pt modelId="{1912DF6A-2585-4A61-90CF-3969A2906B4A}" type="pres">
      <dgm:prSet presAssocID="{EDC39548-FF97-418A-A819-1D283F9A559A}" presName="parentText" presStyleLbl="node1" presStyleIdx="0" presStyleCnt="3">
        <dgm:presLayoutVars>
          <dgm:chMax val="1"/>
          <dgm:bulletEnabled val="1"/>
        </dgm:presLayoutVars>
      </dgm:prSet>
      <dgm:spPr/>
    </dgm:pt>
    <dgm:pt modelId="{767B2262-6F76-471D-AB4A-160697494586}" type="pres">
      <dgm:prSet presAssocID="{EDC39548-FF97-418A-A819-1D283F9A559A}" presName="descendantText" presStyleLbl="alignAccFollowNode1" presStyleIdx="0" presStyleCnt="3">
        <dgm:presLayoutVars>
          <dgm:bulletEnabled val="1"/>
        </dgm:presLayoutVars>
      </dgm:prSet>
      <dgm:spPr/>
    </dgm:pt>
    <dgm:pt modelId="{24B66BC2-05B8-4BEF-B798-CAC365F743E1}" type="pres">
      <dgm:prSet presAssocID="{0B08AF6B-FE9F-4B4F-901D-29F082864BD9}" presName="sp" presStyleCnt="0"/>
      <dgm:spPr/>
    </dgm:pt>
    <dgm:pt modelId="{E23525B0-0D8B-4C7B-9A21-EEE8A7666B29}" type="pres">
      <dgm:prSet presAssocID="{BD9FE78B-0E14-4EC9-89F5-BF7D0F62163E}" presName="linNode" presStyleCnt="0"/>
      <dgm:spPr/>
    </dgm:pt>
    <dgm:pt modelId="{E8B91188-4BE9-49E8-839D-C577A75DD324}" type="pres">
      <dgm:prSet presAssocID="{BD9FE78B-0E14-4EC9-89F5-BF7D0F62163E}" presName="parentText" presStyleLbl="node1" presStyleIdx="1" presStyleCnt="3">
        <dgm:presLayoutVars>
          <dgm:chMax val="1"/>
          <dgm:bulletEnabled val="1"/>
        </dgm:presLayoutVars>
      </dgm:prSet>
      <dgm:spPr/>
    </dgm:pt>
    <dgm:pt modelId="{4941C0ED-29C4-434A-A426-25C2D387BD79}" type="pres">
      <dgm:prSet presAssocID="{BD9FE78B-0E14-4EC9-89F5-BF7D0F62163E}" presName="descendantText" presStyleLbl="alignAccFollowNode1" presStyleIdx="1" presStyleCnt="3">
        <dgm:presLayoutVars>
          <dgm:bulletEnabled val="1"/>
        </dgm:presLayoutVars>
      </dgm:prSet>
      <dgm:spPr/>
    </dgm:pt>
    <dgm:pt modelId="{2EC80A01-F1F9-4C1D-9C46-50F22AC640B4}" type="pres">
      <dgm:prSet presAssocID="{32EFDF6B-017D-4E2B-B3E2-FDFEBA04EDAA}" presName="sp" presStyleCnt="0"/>
      <dgm:spPr/>
    </dgm:pt>
    <dgm:pt modelId="{76472F46-1AA9-4CCE-80D9-C2CB5427628A}" type="pres">
      <dgm:prSet presAssocID="{2262E5BA-5B98-481F-8B1E-2A62B06C363C}" presName="linNode" presStyleCnt="0"/>
      <dgm:spPr/>
    </dgm:pt>
    <dgm:pt modelId="{DBB92D28-5C5A-451E-B08C-842B1CA6E3DB}" type="pres">
      <dgm:prSet presAssocID="{2262E5BA-5B98-481F-8B1E-2A62B06C363C}" presName="parentText" presStyleLbl="node1" presStyleIdx="2" presStyleCnt="3">
        <dgm:presLayoutVars>
          <dgm:chMax val="1"/>
          <dgm:bulletEnabled val="1"/>
        </dgm:presLayoutVars>
      </dgm:prSet>
      <dgm:spPr/>
    </dgm:pt>
    <dgm:pt modelId="{0B347050-530E-4D77-BD25-9718AF6A1990}" type="pres">
      <dgm:prSet presAssocID="{2262E5BA-5B98-481F-8B1E-2A62B06C363C}" presName="descendantText" presStyleLbl="alignAccFollowNode1" presStyleIdx="2" presStyleCnt="3">
        <dgm:presLayoutVars>
          <dgm:bulletEnabled val="1"/>
        </dgm:presLayoutVars>
      </dgm:prSet>
      <dgm:spPr/>
    </dgm:pt>
  </dgm:ptLst>
  <dgm:cxnLst>
    <dgm:cxn modelId="{96B1A013-5F9A-4BC9-A8F4-A25469DE6648}" type="presOf" srcId="{85D69326-44DD-4742-86E4-66314258F05D}" destId="{E91D0413-D1BD-4220-A10D-694EAE9E0BD9}" srcOrd="0" destOrd="0" presId="urn:microsoft.com/office/officeart/2005/8/layout/vList5"/>
    <dgm:cxn modelId="{4671FA20-BF1F-4992-86B9-86274DEF1D8C}" srcId="{85D69326-44DD-4742-86E4-66314258F05D}" destId="{BD9FE78B-0E14-4EC9-89F5-BF7D0F62163E}" srcOrd="1" destOrd="0" parTransId="{8B5CD102-5555-4F0C-974C-636639071A42}" sibTransId="{32EFDF6B-017D-4E2B-B3E2-FDFEBA04EDAA}"/>
    <dgm:cxn modelId="{1615CE3A-5541-488C-8AAE-91BBBE9305B5}" type="presOf" srcId="{2262E5BA-5B98-481F-8B1E-2A62B06C363C}" destId="{DBB92D28-5C5A-451E-B08C-842B1CA6E3DB}" srcOrd="0" destOrd="0" presId="urn:microsoft.com/office/officeart/2005/8/layout/vList5"/>
    <dgm:cxn modelId="{478CBD43-281D-4C79-A7E2-364AD76CFE93}" srcId="{2262E5BA-5B98-481F-8B1E-2A62B06C363C}" destId="{D636800D-A21A-4EC9-ADC3-E159EA154386}" srcOrd="2" destOrd="0" parTransId="{67791BFA-E425-416F-8F2A-60288AAB6D61}" sibTransId="{E89257FF-E7A4-4C6E-89D0-B83AFF8E1D3D}"/>
    <dgm:cxn modelId="{C397C277-00C1-446B-AF49-C03904F7CC66}" type="presOf" srcId="{A800B672-9907-46AA-9EF7-9D0F12B5F50A}" destId="{0B347050-530E-4D77-BD25-9718AF6A1990}" srcOrd="0" destOrd="1" presId="urn:microsoft.com/office/officeart/2005/8/layout/vList5"/>
    <dgm:cxn modelId="{AAFF7F7C-9D1D-48B4-B64D-23D95E0B3CB2}" srcId="{85D69326-44DD-4742-86E4-66314258F05D}" destId="{EDC39548-FF97-418A-A819-1D283F9A559A}" srcOrd="0" destOrd="0" parTransId="{9C8CEB9A-8D06-43EC-94F2-5AB3CC488B79}" sibTransId="{0B08AF6B-FE9F-4B4F-901D-29F082864BD9}"/>
    <dgm:cxn modelId="{4D13E887-00E2-4369-A4D8-B6F87C8465CE}" srcId="{BD9FE78B-0E14-4EC9-89F5-BF7D0F62163E}" destId="{A67EFF8A-3F6C-4B9F-B122-A4BAE7F02772}" srcOrd="0" destOrd="0" parTransId="{87B23B13-2B68-4809-9510-C7809510550C}" sibTransId="{6ACD542B-8FCC-4454-AB13-11E43D3C170F}"/>
    <dgm:cxn modelId="{615C478B-2C54-4273-9894-9D5F4D8FA317}" srcId="{EDC39548-FF97-418A-A819-1D283F9A559A}" destId="{88CCC424-F2DE-4B18-AACF-2A4B5EC11DE9}" srcOrd="0" destOrd="0" parTransId="{9D593CDC-1D83-4951-8577-4FA6A83B157F}" sibTransId="{BC190561-97FC-4AD1-B434-D20EA3452C4A}"/>
    <dgm:cxn modelId="{8A7F78B1-7522-4165-ABBD-D58B94724097}" type="presOf" srcId="{D636800D-A21A-4EC9-ADC3-E159EA154386}" destId="{0B347050-530E-4D77-BD25-9718AF6A1990}" srcOrd="0" destOrd="2" presId="urn:microsoft.com/office/officeart/2005/8/layout/vList5"/>
    <dgm:cxn modelId="{6E0927B3-1589-4D87-BFA5-672A126528C6}" type="presOf" srcId="{88CCC424-F2DE-4B18-AACF-2A4B5EC11DE9}" destId="{767B2262-6F76-471D-AB4A-160697494586}" srcOrd="0" destOrd="0" presId="urn:microsoft.com/office/officeart/2005/8/layout/vList5"/>
    <dgm:cxn modelId="{C234A2B5-8BA4-47DF-AB4C-57BC67854599}" srcId="{2262E5BA-5B98-481F-8B1E-2A62B06C363C}" destId="{9B428F33-8957-442B-8C96-555D735E988F}" srcOrd="0" destOrd="0" parTransId="{8184D41A-6472-4907-86A0-3D5C3438E5F9}" sibTransId="{DED308C0-7E1F-4D24-9D9F-0DBBA498B975}"/>
    <dgm:cxn modelId="{0DB5E3BB-980B-43B5-9771-E1E95B92FBC2}" type="presOf" srcId="{BD9FE78B-0E14-4EC9-89F5-BF7D0F62163E}" destId="{E8B91188-4BE9-49E8-839D-C577A75DD324}" srcOrd="0" destOrd="0" presId="urn:microsoft.com/office/officeart/2005/8/layout/vList5"/>
    <dgm:cxn modelId="{184CC6C4-7D5D-4541-B6B0-3A385BE010C8}" type="presOf" srcId="{A67EFF8A-3F6C-4B9F-B122-A4BAE7F02772}" destId="{4941C0ED-29C4-434A-A426-25C2D387BD79}" srcOrd="0" destOrd="0" presId="urn:microsoft.com/office/officeart/2005/8/layout/vList5"/>
    <dgm:cxn modelId="{5D183CC6-271F-427E-B731-2318A3D9CAA2}" srcId="{2262E5BA-5B98-481F-8B1E-2A62B06C363C}" destId="{A800B672-9907-46AA-9EF7-9D0F12B5F50A}" srcOrd="1" destOrd="0" parTransId="{83295F43-A544-4BC9-A15E-336ACD3705A5}" sibTransId="{CB07B613-652D-4B92-B488-2716AFAC6589}"/>
    <dgm:cxn modelId="{6F18BBCD-D2ED-4D73-8F46-5C2015481AE1}" type="presOf" srcId="{9B428F33-8957-442B-8C96-555D735E988F}" destId="{0B347050-530E-4D77-BD25-9718AF6A1990}" srcOrd="0" destOrd="0" presId="urn:microsoft.com/office/officeart/2005/8/layout/vList5"/>
    <dgm:cxn modelId="{481EF2D0-3699-4E2E-A516-E0B58DF46874}" type="presOf" srcId="{EDC39548-FF97-418A-A819-1D283F9A559A}" destId="{1912DF6A-2585-4A61-90CF-3969A2906B4A}" srcOrd="0" destOrd="0" presId="urn:microsoft.com/office/officeart/2005/8/layout/vList5"/>
    <dgm:cxn modelId="{31492FF1-2671-4DDC-A215-74F232CB5436}" srcId="{85D69326-44DD-4742-86E4-66314258F05D}" destId="{2262E5BA-5B98-481F-8B1E-2A62B06C363C}" srcOrd="2" destOrd="0" parTransId="{4951BBE4-C0F0-462B-99D7-A08AD5732EC9}" sibTransId="{033FCEDA-566C-424C-8AC8-E29B750A5443}"/>
    <dgm:cxn modelId="{354DF224-1027-4A71-BFAC-F2CD5130750B}" type="presParOf" srcId="{E91D0413-D1BD-4220-A10D-694EAE9E0BD9}" destId="{1A15609F-D140-4203-B83C-1DAE7A473E64}" srcOrd="0" destOrd="0" presId="urn:microsoft.com/office/officeart/2005/8/layout/vList5"/>
    <dgm:cxn modelId="{6340D1BE-AACF-4B47-9F57-89248D95C730}" type="presParOf" srcId="{1A15609F-D140-4203-B83C-1DAE7A473E64}" destId="{1912DF6A-2585-4A61-90CF-3969A2906B4A}" srcOrd="0" destOrd="0" presId="urn:microsoft.com/office/officeart/2005/8/layout/vList5"/>
    <dgm:cxn modelId="{0B3A2AE5-384D-4573-8764-D4F62139B798}" type="presParOf" srcId="{1A15609F-D140-4203-B83C-1DAE7A473E64}" destId="{767B2262-6F76-471D-AB4A-160697494586}" srcOrd="1" destOrd="0" presId="urn:microsoft.com/office/officeart/2005/8/layout/vList5"/>
    <dgm:cxn modelId="{1308ACC3-C616-4E14-8717-978D0B1F5124}" type="presParOf" srcId="{E91D0413-D1BD-4220-A10D-694EAE9E0BD9}" destId="{24B66BC2-05B8-4BEF-B798-CAC365F743E1}" srcOrd="1" destOrd="0" presId="urn:microsoft.com/office/officeart/2005/8/layout/vList5"/>
    <dgm:cxn modelId="{C3F96255-85F9-4F57-8066-FEE67A25CB6D}" type="presParOf" srcId="{E91D0413-D1BD-4220-A10D-694EAE9E0BD9}" destId="{E23525B0-0D8B-4C7B-9A21-EEE8A7666B29}" srcOrd="2" destOrd="0" presId="urn:microsoft.com/office/officeart/2005/8/layout/vList5"/>
    <dgm:cxn modelId="{169D01E7-785A-4C18-82D5-C78D02C72980}" type="presParOf" srcId="{E23525B0-0D8B-4C7B-9A21-EEE8A7666B29}" destId="{E8B91188-4BE9-49E8-839D-C577A75DD324}" srcOrd="0" destOrd="0" presId="urn:microsoft.com/office/officeart/2005/8/layout/vList5"/>
    <dgm:cxn modelId="{10EC6126-9899-47C9-A7B7-9485614186F3}" type="presParOf" srcId="{E23525B0-0D8B-4C7B-9A21-EEE8A7666B29}" destId="{4941C0ED-29C4-434A-A426-25C2D387BD79}" srcOrd="1" destOrd="0" presId="urn:microsoft.com/office/officeart/2005/8/layout/vList5"/>
    <dgm:cxn modelId="{13FBE788-26D5-4FC0-8823-B8FE7C1284B1}" type="presParOf" srcId="{E91D0413-D1BD-4220-A10D-694EAE9E0BD9}" destId="{2EC80A01-F1F9-4C1D-9C46-50F22AC640B4}" srcOrd="3" destOrd="0" presId="urn:microsoft.com/office/officeart/2005/8/layout/vList5"/>
    <dgm:cxn modelId="{17D0E2F7-08B2-4DB4-94A6-2993DD4F891B}" type="presParOf" srcId="{E91D0413-D1BD-4220-A10D-694EAE9E0BD9}" destId="{76472F46-1AA9-4CCE-80D9-C2CB5427628A}" srcOrd="4" destOrd="0" presId="urn:microsoft.com/office/officeart/2005/8/layout/vList5"/>
    <dgm:cxn modelId="{9C8FA31D-136D-4644-8A23-771D71639798}" type="presParOf" srcId="{76472F46-1AA9-4CCE-80D9-C2CB5427628A}" destId="{DBB92D28-5C5A-451E-B08C-842B1CA6E3DB}" srcOrd="0" destOrd="0" presId="urn:microsoft.com/office/officeart/2005/8/layout/vList5"/>
    <dgm:cxn modelId="{B5302517-2D68-472E-B1DF-BCC918268D5D}" type="presParOf" srcId="{76472F46-1AA9-4CCE-80D9-C2CB5427628A}" destId="{0B347050-530E-4D77-BD25-9718AF6A1990}"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72AFD5-EF56-4C0F-A5B1-2093072216E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F2590C97-947F-4B60-82B3-5E777E1F569B}">
      <dgm:prSet/>
      <dgm:spPr/>
      <dgm:t>
        <a:bodyPr/>
        <a:lstStyle/>
        <a:p>
          <a:r>
            <a:rPr lang="el-GR" b="1" dirty="0"/>
            <a:t>Δημιουργία Ουράς (Queue):</a:t>
          </a:r>
          <a:endParaRPr lang="en-US" dirty="0"/>
        </a:p>
      </dgm:t>
    </dgm:pt>
    <dgm:pt modelId="{AD0B5BF4-BCAE-4073-890D-CC54E83E93CD}" type="parTrans" cxnId="{923EA1D4-F338-4274-87C4-BB8E10751AF0}">
      <dgm:prSet/>
      <dgm:spPr/>
      <dgm:t>
        <a:bodyPr/>
        <a:lstStyle/>
        <a:p>
          <a:endParaRPr lang="en-US"/>
        </a:p>
      </dgm:t>
    </dgm:pt>
    <dgm:pt modelId="{D92E37B1-AB4B-4A38-82B4-62B5DD1C2617}" type="sibTrans" cxnId="{923EA1D4-F338-4274-87C4-BB8E10751AF0}">
      <dgm:prSet/>
      <dgm:spPr/>
      <dgm:t>
        <a:bodyPr/>
        <a:lstStyle/>
        <a:p>
          <a:endParaRPr lang="en-US"/>
        </a:p>
      </dgm:t>
    </dgm:pt>
    <dgm:pt modelId="{7C006DF7-BEB1-41E8-8D13-DFDD0C297AD3}">
      <dgm:prSet/>
      <dgm:spPr/>
      <dgm:t>
        <a:bodyPr/>
        <a:lstStyle/>
        <a:p>
          <a:r>
            <a:rPr lang="el-GR" dirty="0"/>
            <a:t>Χρησιμοποιήσαμε το simpy.Store για να μοντελοποιήσουμε την ουρά του router.</a:t>
          </a:r>
          <a:br>
            <a:rPr lang="en-US" dirty="0"/>
          </a:br>
          <a:endParaRPr lang="en-US" dirty="0"/>
        </a:p>
      </dgm:t>
    </dgm:pt>
    <dgm:pt modelId="{E64542C8-82BD-4844-B0C7-128D98E9AFDB}" type="parTrans" cxnId="{909DF0E0-EC78-42D7-B1A7-7BB7F5FC9854}">
      <dgm:prSet/>
      <dgm:spPr/>
      <dgm:t>
        <a:bodyPr/>
        <a:lstStyle/>
        <a:p>
          <a:endParaRPr lang="en-US"/>
        </a:p>
      </dgm:t>
    </dgm:pt>
    <dgm:pt modelId="{D3E05407-63B3-41F8-A5DD-EDA1F03210F8}" type="sibTrans" cxnId="{909DF0E0-EC78-42D7-B1A7-7BB7F5FC9854}">
      <dgm:prSet/>
      <dgm:spPr/>
      <dgm:t>
        <a:bodyPr/>
        <a:lstStyle/>
        <a:p>
          <a:endParaRPr lang="en-US"/>
        </a:p>
      </dgm:t>
    </dgm:pt>
    <dgm:pt modelId="{33DEACA2-0BDA-41B6-8932-DED6CC7B47E7}">
      <dgm:prSet/>
      <dgm:spPr/>
      <dgm:t>
        <a:bodyPr/>
        <a:lstStyle/>
        <a:p>
          <a:r>
            <a:rPr lang="el-GR"/>
            <a:t>Ορίσαμε </a:t>
          </a:r>
          <a:r>
            <a:rPr lang="el-GR" b="1"/>
            <a:t>περιορισμένο μέγεθος:</a:t>
          </a:r>
          <a:r>
            <a:rPr lang="el-GR"/>
            <a:t> QUEUE_SIZE = 10 πακέτα.</a:t>
          </a:r>
          <a:endParaRPr lang="en-US"/>
        </a:p>
      </dgm:t>
    </dgm:pt>
    <dgm:pt modelId="{D677F2F7-2479-4DC5-88BF-3A8F98B39081}" type="parTrans" cxnId="{5C85E432-15C2-426D-94C8-64533C72EA2B}">
      <dgm:prSet/>
      <dgm:spPr/>
      <dgm:t>
        <a:bodyPr/>
        <a:lstStyle/>
        <a:p>
          <a:endParaRPr lang="en-US"/>
        </a:p>
      </dgm:t>
    </dgm:pt>
    <dgm:pt modelId="{F6ADE3BA-EBF5-4A2C-8B09-13323FCDCD3E}" type="sibTrans" cxnId="{5C85E432-15C2-426D-94C8-64533C72EA2B}">
      <dgm:prSet/>
      <dgm:spPr/>
      <dgm:t>
        <a:bodyPr/>
        <a:lstStyle/>
        <a:p>
          <a:endParaRPr lang="en-US"/>
        </a:p>
      </dgm:t>
    </dgm:pt>
    <dgm:pt modelId="{7C23E5CA-9C61-4A59-ACE4-E5137FC17D1D}">
      <dgm:prSet/>
      <dgm:spPr/>
      <dgm:t>
        <a:bodyPr/>
        <a:lstStyle/>
        <a:p>
          <a:r>
            <a:rPr lang="el-GR" b="1"/>
            <a:t>Η Λογική του Router:</a:t>
          </a:r>
          <a:endParaRPr lang="en-US"/>
        </a:p>
      </dgm:t>
    </dgm:pt>
    <dgm:pt modelId="{B8FC6E0E-9C19-4ED6-829D-B649E1BE4F22}" type="parTrans" cxnId="{BA6C1DD2-8720-4388-B833-6C98AA9B8D43}">
      <dgm:prSet/>
      <dgm:spPr/>
      <dgm:t>
        <a:bodyPr/>
        <a:lstStyle/>
        <a:p>
          <a:endParaRPr lang="en-US"/>
        </a:p>
      </dgm:t>
    </dgm:pt>
    <dgm:pt modelId="{44ABC6FB-9855-4A0D-A938-FE02565D7F80}" type="sibTrans" cxnId="{BA6C1DD2-8720-4388-B833-6C98AA9B8D43}">
      <dgm:prSet/>
      <dgm:spPr/>
      <dgm:t>
        <a:bodyPr/>
        <a:lstStyle/>
        <a:p>
          <a:endParaRPr lang="en-US"/>
        </a:p>
      </dgm:t>
    </dgm:pt>
    <dgm:pt modelId="{99FDD68B-08F1-48F4-9062-0C93662E6F67}">
      <dgm:prSet/>
      <dgm:spPr/>
      <dgm:t>
        <a:bodyPr/>
        <a:lstStyle/>
        <a:p>
          <a:r>
            <a:rPr lang="el-GR" b="1"/>
            <a:t>Όταν ένα πακέτο φτάνει:</a:t>
          </a:r>
          <a:endParaRPr lang="en-US"/>
        </a:p>
      </dgm:t>
    </dgm:pt>
    <dgm:pt modelId="{D520DEA1-ECB5-4D37-BAD5-A0B7D8AAAA7F}" type="parTrans" cxnId="{BB943966-C938-4CB3-9FEA-891FD4422E1D}">
      <dgm:prSet/>
      <dgm:spPr/>
      <dgm:t>
        <a:bodyPr/>
        <a:lstStyle/>
        <a:p>
          <a:endParaRPr lang="en-US"/>
        </a:p>
      </dgm:t>
    </dgm:pt>
    <dgm:pt modelId="{6C12B00D-F9BF-4C8C-A732-8C378F8A8CE5}" type="sibTrans" cxnId="{BB943966-C938-4CB3-9FEA-891FD4422E1D}">
      <dgm:prSet/>
      <dgm:spPr/>
      <dgm:t>
        <a:bodyPr/>
        <a:lstStyle/>
        <a:p>
          <a:endParaRPr lang="en-US"/>
        </a:p>
      </dgm:t>
    </dgm:pt>
    <dgm:pt modelId="{757881B9-F05B-4ACE-8B21-506D02266ED9}">
      <dgm:prSet/>
      <dgm:spPr/>
      <dgm:t>
        <a:bodyPr/>
        <a:lstStyle/>
        <a:p>
          <a:r>
            <a:rPr lang="el-GR" b="1"/>
            <a:t>Ερώτηση:</a:t>
          </a:r>
          <a:r>
            <a:rPr lang="el-GR"/>
            <a:t> Υπάρχει χώρος στην ουρά;</a:t>
          </a:r>
          <a:endParaRPr lang="en-US"/>
        </a:p>
      </dgm:t>
    </dgm:pt>
    <dgm:pt modelId="{06AFCF25-A542-4BDF-A6E9-BDF4D06BB547}" type="parTrans" cxnId="{D9507DD8-5815-4683-9FBD-5044E0D3DF2C}">
      <dgm:prSet/>
      <dgm:spPr/>
      <dgm:t>
        <a:bodyPr/>
        <a:lstStyle/>
        <a:p>
          <a:endParaRPr lang="en-US"/>
        </a:p>
      </dgm:t>
    </dgm:pt>
    <dgm:pt modelId="{7818076D-D852-4FB8-B51E-F1A725D757AC}" type="sibTrans" cxnId="{D9507DD8-5815-4683-9FBD-5044E0D3DF2C}">
      <dgm:prSet/>
      <dgm:spPr/>
      <dgm:t>
        <a:bodyPr/>
        <a:lstStyle/>
        <a:p>
          <a:endParaRPr lang="en-US"/>
        </a:p>
      </dgm:t>
    </dgm:pt>
    <dgm:pt modelId="{55212FF2-B820-4AB3-91D2-58741659DB5B}">
      <dgm:prSet/>
      <dgm:spPr/>
      <dgm:t>
        <a:bodyPr/>
        <a:lstStyle/>
        <a:p>
          <a:r>
            <a:rPr lang="el-GR" b="1"/>
            <a:t>Αν ΝΑΙ:</a:t>
          </a:r>
          <a:r>
            <a:rPr lang="el-GR"/>
            <a:t> Το πακέτο μπαίνει στην ουρά για να περιμένει τη σειρά του.</a:t>
          </a:r>
          <a:endParaRPr lang="en-US"/>
        </a:p>
      </dgm:t>
    </dgm:pt>
    <dgm:pt modelId="{17E1CE9A-CDA3-4199-AAC9-DC6E711BF91C}" type="parTrans" cxnId="{1DA19D40-461B-41AB-9370-AACCF033B6D6}">
      <dgm:prSet/>
      <dgm:spPr/>
      <dgm:t>
        <a:bodyPr/>
        <a:lstStyle/>
        <a:p>
          <a:endParaRPr lang="en-US"/>
        </a:p>
      </dgm:t>
    </dgm:pt>
    <dgm:pt modelId="{70F6AA3A-BEDF-43C6-A8C0-28428276C80F}" type="sibTrans" cxnId="{1DA19D40-461B-41AB-9370-AACCF033B6D6}">
      <dgm:prSet/>
      <dgm:spPr/>
      <dgm:t>
        <a:bodyPr/>
        <a:lstStyle/>
        <a:p>
          <a:endParaRPr lang="en-US"/>
        </a:p>
      </dgm:t>
    </dgm:pt>
    <dgm:pt modelId="{72919782-0FF2-4D4B-BE56-C7AE3A3292A0}">
      <dgm:prSet/>
      <dgm:spPr/>
      <dgm:t>
        <a:bodyPr/>
        <a:lstStyle/>
        <a:p>
          <a:r>
            <a:rPr lang="el-GR" b="1"/>
            <a:t>Αν ΟΧΙ:</a:t>
          </a:r>
          <a:r>
            <a:rPr lang="el-GR"/>
            <a:t> Το πακέτο απορρίπτεται (</a:t>
          </a:r>
          <a:r>
            <a:rPr lang="el-GR" b="1"/>
            <a:t>Packet Drop</a:t>
          </a:r>
          <a:r>
            <a:rPr lang="el-GR"/>
            <a:t>) και καταγράφεται.</a:t>
          </a:r>
          <a:endParaRPr lang="en-US"/>
        </a:p>
      </dgm:t>
    </dgm:pt>
    <dgm:pt modelId="{B44CC34B-206B-4A7B-BD13-D2CA8682E836}" type="parTrans" cxnId="{968C6386-71F7-4259-8D2B-7A159DD033A2}">
      <dgm:prSet/>
      <dgm:spPr/>
      <dgm:t>
        <a:bodyPr/>
        <a:lstStyle/>
        <a:p>
          <a:endParaRPr lang="en-US"/>
        </a:p>
      </dgm:t>
    </dgm:pt>
    <dgm:pt modelId="{CA1E179C-F43D-4B34-9F5C-2BAADA60CF6F}" type="sibTrans" cxnId="{968C6386-71F7-4259-8D2B-7A159DD033A2}">
      <dgm:prSet/>
      <dgm:spPr/>
      <dgm:t>
        <a:bodyPr/>
        <a:lstStyle/>
        <a:p>
          <a:endParaRPr lang="en-US"/>
        </a:p>
      </dgm:t>
    </dgm:pt>
    <dgm:pt modelId="{0022F09D-9166-4429-A361-4A7EBB16B167}">
      <dgm:prSet/>
      <dgm:spPr/>
      <dgm:t>
        <a:bodyPr/>
        <a:lstStyle/>
        <a:p>
          <a:r>
            <a:rPr lang="el-GR" b="1"/>
            <a:t>Διαδικασία Αποστολής:</a:t>
          </a:r>
          <a:r>
            <a:rPr lang="el-GR"/>
            <a:t> Ο router αφαιρεί πακέτα από την ουρά (με σειρά First-In-First-Out) και τα στέλνει, προσομοιώνοντας την καθυστέρηση μετάδοσης.</a:t>
          </a:r>
          <a:endParaRPr lang="en-US"/>
        </a:p>
      </dgm:t>
    </dgm:pt>
    <dgm:pt modelId="{246CAAFC-BF6B-4CA2-9575-9247C66F8005}" type="parTrans" cxnId="{D7764C99-5AF8-4B3D-A733-2AB649359183}">
      <dgm:prSet/>
      <dgm:spPr/>
      <dgm:t>
        <a:bodyPr/>
        <a:lstStyle/>
        <a:p>
          <a:endParaRPr lang="en-US"/>
        </a:p>
      </dgm:t>
    </dgm:pt>
    <dgm:pt modelId="{54A7EF45-7CF7-479F-AF7E-AC1B86B6B1F9}" type="sibTrans" cxnId="{D7764C99-5AF8-4B3D-A733-2AB649359183}">
      <dgm:prSet/>
      <dgm:spPr/>
      <dgm:t>
        <a:bodyPr/>
        <a:lstStyle/>
        <a:p>
          <a:endParaRPr lang="en-US"/>
        </a:p>
      </dgm:t>
    </dgm:pt>
    <dgm:pt modelId="{7FFF1990-8505-43A6-9F60-D6A369F176A8}" type="pres">
      <dgm:prSet presAssocID="{9D72AFD5-EF56-4C0F-A5B1-2093072216EB}" presName="Name0" presStyleCnt="0">
        <dgm:presLayoutVars>
          <dgm:dir/>
          <dgm:animLvl val="lvl"/>
          <dgm:resizeHandles val="exact"/>
        </dgm:presLayoutVars>
      </dgm:prSet>
      <dgm:spPr/>
    </dgm:pt>
    <dgm:pt modelId="{98206988-C6A3-4202-9AD1-CD2E111DD9E5}" type="pres">
      <dgm:prSet presAssocID="{F2590C97-947F-4B60-82B3-5E777E1F569B}" presName="composite" presStyleCnt="0"/>
      <dgm:spPr/>
    </dgm:pt>
    <dgm:pt modelId="{B0753130-AE30-41EC-B394-F7DC1B4D36ED}" type="pres">
      <dgm:prSet presAssocID="{F2590C97-947F-4B60-82B3-5E777E1F569B}" presName="parTx" presStyleLbl="alignNode1" presStyleIdx="0" presStyleCnt="2">
        <dgm:presLayoutVars>
          <dgm:chMax val="0"/>
          <dgm:chPref val="0"/>
          <dgm:bulletEnabled val="1"/>
        </dgm:presLayoutVars>
      </dgm:prSet>
      <dgm:spPr/>
    </dgm:pt>
    <dgm:pt modelId="{1400ABC8-4834-4369-A823-93DBC3FB5483}" type="pres">
      <dgm:prSet presAssocID="{F2590C97-947F-4B60-82B3-5E777E1F569B}" presName="desTx" presStyleLbl="alignAccFollowNode1" presStyleIdx="0" presStyleCnt="2">
        <dgm:presLayoutVars>
          <dgm:bulletEnabled val="1"/>
        </dgm:presLayoutVars>
      </dgm:prSet>
      <dgm:spPr/>
    </dgm:pt>
    <dgm:pt modelId="{2A455D58-424D-41B0-AC85-998E5AE972BD}" type="pres">
      <dgm:prSet presAssocID="{D92E37B1-AB4B-4A38-82B4-62B5DD1C2617}" presName="space" presStyleCnt="0"/>
      <dgm:spPr/>
    </dgm:pt>
    <dgm:pt modelId="{DDC5917B-E412-49F2-81CF-D05A3BBA5558}" type="pres">
      <dgm:prSet presAssocID="{7C23E5CA-9C61-4A59-ACE4-E5137FC17D1D}" presName="composite" presStyleCnt="0"/>
      <dgm:spPr/>
    </dgm:pt>
    <dgm:pt modelId="{36ECB3A1-0C4A-4450-8DB7-EDDAD169D94D}" type="pres">
      <dgm:prSet presAssocID="{7C23E5CA-9C61-4A59-ACE4-E5137FC17D1D}" presName="parTx" presStyleLbl="alignNode1" presStyleIdx="1" presStyleCnt="2">
        <dgm:presLayoutVars>
          <dgm:chMax val="0"/>
          <dgm:chPref val="0"/>
          <dgm:bulletEnabled val="1"/>
        </dgm:presLayoutVars>
      </dgm:prSet>
      <dgm:spPr/>
    </dgm:pt>
    <dgm:pt modelId="{8F030C2D-433D-4872-B4E3-B88E6256E6B8}" type="pres">
      <dgm:prSet presAssocID="{7C23E5CA-9C61-4A59-ACE4-E5137FC17D1D}" presName="desTx" presStyleLbl="alignAccFollowNode1" presStyleIdx="1" presStyleCnt="2">
        <dgm:presLayoutVars>
          <dgm:bulletEnabled val="1"/>
        </dgm:presLayoutVars>
      </dgm:prSet>
      <dgm:spPr/>
    </dgm:pt>
  </dgm:ptLst>
  <dgm:cxnLst>
    <dgm:cxn modelId="{28A14D0B-D8D9-4A53-ACE5-D192A28C96C8}" type="presOf" srcId="{72919782-0FF2-4D4B-BE56-C7AE3A3292A0}" destId="{8F030C2D-433D-4872-B4E3-B88E6256E6B8}" srcOrd="0" destOrd="3" presId="urn:microsoft.com/office/officeart/2005/8/layout/hList1"/>
    <dgm:cxn modelId="{6F128E1A-C3D1-43D4-9B06-03096C941DD9}" type="presOf" srcId="{99FDD68B-08F1-48F4-9062-0C93662E6F67}" destId="{8F030C2D-433D-4872-B4E3-B88E6256E6B8}" srcOrd="0" destOrd="0" presId="urn:microsoft.com/office/officeart/2005/8/layout/hList1"/>
    <dgm:cxn modelId="{0CA65B1F-461F-4477-B63E-5CDC7D55708A}" type="presOf" srcId="{F2590C97-947F-4B60-82B3-5E777E1F569B}" destId="{B0753130-AE30-41EC-B394-F7DC1B4D36ED}" srcOrd="0" destOrd="0" presId="urn:microsoft.com/office/officeart/2005/8/layout/hList1"/>
    <dgm:cxn modelId="{5C85E432-15C2-426D-94C8-64533C72EA2B}" srcId="{F2590C97-947F-4B60-82B3-5E777E1F569B}" destId="{33DEACA2-0BDA-41B6-8932-DED6CC7B47E7}" srcOrd="1" destOrd="0" parTransId="{D677F2F7-2479-4DC5-88BF-3A8F98B39081}" sibTransId="{F6ADE3BA-EBF5-4A2C-8B09-13323FCDCD3E}"/>
    <dgm:cxn modelId="{1DA19D40-461B-41AB-9370-AACCF033B6D6}" srcId="{99FDD68B-08F1-48F4-9062-0C93662E6F67}" destId="{55212FF2-B820-4AB3-91D2-58741659DB5B}" srcOrd="1" destOrd="0" parTransId="{17E1CE9A-CDA3-4199-AAC9-DC6E711BF91C}" sibTransId="{70F6AA3A-BEDF-43C6-A8C0-28428276C80F}"/>
    <dgm:cxn modelId="{BB943966-C938-4CB3-9FEA-891FD4422E1D}" srcId="{7C23E5CA-9C61-4A59-ACE4-E5137FC17D1D}" destId="{99FDD68B-08F1-48F4-9062-0C93662E6F67}" srcOrd="0" destOrd="0" parTransId="{D520DEA1-ECB5-4D37-BAD5-A0B7D8AAAA7F}" sibTransId="{6C12B00D-F9BF-4C8C-A732-8C378F8A8CE5}"/>
    <dgm:cxn modelId="{9F6A3254-3BC3-42E9-B62F-7FD16A876779}" type="presOf" srcId="{0022F09D-9166-4429-A361-4A7EBB16B167}" destId="{8F030C2D-433D-4872-B4E3-B88E6256E6B8}" srcOrd="0" destOrd="4" presId="urn:microsoft.com/office/officeart/2005/8/layout/hList1"/>
    <dgm:cxn modelId="{76ECA97F-46D0-4B8D-93E3-8B2A179AFA0D}" type="presOf" srcId="{33DEACA2-0BDA-41B6-8932-DED6CC7B47E7}" destId="{1400ABC8-4834-4369-A823-93DBC3FB5483}" srcOrd="0" destOrd="1" presId="urn:microsoft.com/office/officeart/2005/8/layout/hList1"/>
    <dgm:cxn modelId="{76363D86-0B1F-443A-AAB5-BB5806BCC02D}" type="presOf" srcId="{9D72AFD5-EF56-4C0F-A5B1-2093072216EB}" destId="{7FFF1990-8505-43A6-9F60-D6A369F176A8}" srcOrd="0" destOrd="0" presId="urn:microsoft.com/office/officeart/2005/8/layout/hList1"/>
    <dgm:cxn modelId="{968C6386-71F7-4259-8D2B-7A159DD033A2}" srcId="{99FDD68B-08F1-48F4-9062-0C93662E6F67}" destId="{72919782-0FF2-4D4B-BE56-C7AE3A3292A0}" srcOrd="2" destOrd="0" parTransId="{B44CC34B-206B-4A7B-BD13-D2CA8682E836}" sibTransId="{CA1E179C-F43D-4B34-9F5C-2BAADA60CF6F}"/>
    <dgm:cxn modelId="{46EE278A-A314-4A95-AD2D-71D601472F1A}" type="presOf" srcId="{757881B9-F05B-4ACE-8B21-506D02266ED9}" destId="{8F030C2D-433D-4872-B4E3-B88E6256E6B8}" srcOrd="0" destOrd="1" presId="urn:microsoft.com/office/officeart/2005/8/layout/hList1"/>
    <dgm:cxn modelId="{F24BF593-10C5-474A-B1E0-645F8103D675}" type="presOf" srcId="{7C23E5CA-9C61-4A59-ACE4-E5137FC17D1D}" destId="{36ECB3A1-0C4A-4450-8DB7-EDDAD169D94D}" srcOrd="0" destOrd="0" presId="urn:microsoft.com/office/officeart/2005/8/layout/hList1"/>
    <dgm:cxn modelId="{D7764C99-5AF8-4B3D-A733-2AB649359183}" srcId="{7C23E5CA-9C61-4A59-ACE4-E5137FC17D1D}" destId="{0022F09D-9166-4429-A361-4A7EBB16B167}" srcOrd="1" destOrd="0" parTransId="{246CAAFC-BF6B-4CA2-9575-9247C66F8005}" sibTransId="{54A7EF45-7CF7-479F-AF7E-AC1B86B6B1F9}"/>
    <dgm:cxn modelId="{DE0DFAAC-AAF5-4198-BCC1-7DDE48273CFF}" type="presOf" srcId="{7C006DF7-BEB1-41E8-8D13-DFDD0C297AD3}" destId="{1400ABC8-4834-4369-A823-93DBC3FB5483}" srcOrd="0" destOrd="0" presId="urn:microsoft.com/office/officeart/2005/8/layout/hList1"/>
    <dgm:cxn modelId="{0E93DBB9-3C47-4673-A607-7ABFEB7BBF08}" type="presOf" srcId="{55212FF2-B820-4AB3-91D2-58741659DB5B}" destId="{8F030C2D-433D-4872-B4E3-B88E6256E6B8}" srcOrd="0" destOrd="2" presId="urn:microsoft.com/office/officeart/2005/8/layout/hList1"/>
    <dgm:cxn modelId="{BA6C1DD2-8720-4388-B833-6C98AA9B8D43}" srcId="{9D72AFD5-EF56-4C0F-A5B1-2093072216EB}" destId="{7C23E5CA-9C61-4A59-ACE4-E5137FC17D1D}" srcOrd="1" destOrd="0" parTransId="{B8FC6E0E-9C19-4ED6-829D-B649E1BE4F22}" sibTransId="{44ABC6FB-9855-4A0D-A938-FE02565D7F80}"/>
    <dgm:cxn modelId="{923EA1D4-F338-4274-87C4-BB8E10751AF0}" srcId="{9D72AFD5-EF56-4C0F-A5B1-2093072216EB}" destId="{F2590C97-947F-4B60-82B3-5E777E1F569B}" srcOrd="0" destOrd="0" parTransId="{AD0B5BF4-BCAE-4073-890D-CC54E83E93CD}" sibTransId="{D92E37B1-AB4B-4A38-82B4-62B5DD1C2617}"/>
    <dgm:cxn modelId="{D9507DD8-5815-4683-9FBD-5044E0D3DF2C}" srcId="{99FDD68B-08F1-48F4-9062-0C93662E6F67}" destId="{757881B9-F05B-4ACE-8B21-506D02266ED9}" srcOrd="0" destOrd="0" parTransId="{06AFCF25-A542-4BDF-A6E9-BDF4D06BB547}" sibTransId="{7818076D-D852-4FB8-B51E-F1A725D757AC}"/>
    <dgm:cxn modelId="{909DF0E0-EC78-42D7-B1A7-7BB7F5FC9854}" srcId="{F2590C97-947F-4B60-82B3-5E777E1F569B}" destId="{7C006DF7-BEB1-41E8-8D13-DFDD0C297AD3}" srcOrd="0" destOrd="0" parTransId="{E64542C8-82BD-4844-B0C7-128D98E9AFDB}" sibTransId="{D3E05407-63B3-41F8-A5DD-EDA1F03210F8}"/>
    <dgm:cxn modelId="{3642BE47-6166-44C8-9450-CAE4D4089884}" type="presParOf" srcId="{7FFF1990-8505-43A6-9F60-D6A369F176A8}" destId="{98206988-C6A3-4202-9AD1-CD2E111DD9E5}" srcOrd="0" destOrd="0" presId="urn:microsoft.com/office/officeart/2005/8/layout/hList1"/>
    <dgm:cxn modelId="{C7E15A06-60E1-4424-BCF4-93764EEB0082}" type="presParOf" srcId="{98206988-C6A3-4202-9AD1-CD2E111DD9E5}" destId="{B0753130-AE30-41EC-B394-F7DC1B4D36ED}" srcOrd="0" destOrd="0" presId="urn:microsoft.com/office/officeart/2005/8/layout/hList1"/>
    <dgm:cxn modelId="{61AF21A6-0022-4FA3-BF0B-0D26269C7A93}" type="presParOf" srcId="{98206988-C6A3-4202-9AD1-CD2E111DD9E5}" destId="{1400ABC8-4834-4369-A823-93DBC3FB5483}" srcOrd="1" destOrd="0" presId="urn:microsoft.com/office/officeart/2005/8/layout/hList1"/>
    <dgm:cxn modelId="{F6A65858-314D-475E-B264-C6F37E2F6825}" type="presParOf" srcId="{7FFF1990-8505-43A6-9F60-D6A369F176A8}" destId="{2A455D58-424D-41B0-AC85-998E5AE972BD}" srcOrd="1" destOrd="0" presId="urn:microsoft.com/office/officeart/2005/8/layout/hList1"/>
    <dgm:cxn modelId="{6B66B944-9003-41D2-B066-DECFCA2F8AA2}" type="presParOf" srcId="{7FFF1990-8505-43A6-9F60-D6A369F176A8}" destId="{DDC5917B-E412-49F2-81CF-D05A3BBA5558}" srcOrd="2" destOrd="0" presId="urn:microsoft.com/office/officeart/2005/8/layout/hList1"/>
    <dgm:cxn modelId="{64A4861E-6F03-4CE7-8C62-F196FD4B5EB2}" type="presParOf" srcId="{DDC5917B-E412-49F2-81CF-D05A3BBA5558}" destId="{36ECB3A1-0C4A-4450-8DB7-EDDAD169D94D}" srcOrd="0" destOrd="0" presId="urn:microsoft.com/office/officeart/2005/8/layout/hList1"/>
    <dgm:cxn modelId="{7CE4DAFB-F5B0-4B86-A90B-A40C28D70FAC}" type="presParOf" srcId="{DDC5917B-E412-49F2-81CF-D05A3BBA5558}" destId="{8F030C2D-433D-4872-B4E3-B88E6256E6B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A26740D-2544-40D0-ABED-19C2720FCE5E}"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5AB31219-B9EE-4366-BC24-CAE6A3E02D71}">
      <dgm:prSet/>
      <dgm:spPr/>
      <dgm:t>
        <a:bodyPr/>
        <a:lstStyle/>
        <a:p>
          <a:r>
            <a:rPr lang="el-GR" b="1" dirty="0"/>
            <a:t>Μέτρηση της  Απόδοσης του Δικτύου</a:t>
          </a:r>
          <a:endParaRPr lang="en-US" dirty="0"/>
        </a:p>
      </dgm:t>
    </dgm:pt>
    <dgm:pt modelId="{E9F16FA5-0D68-48B8-B500-4B486754046C}" type="parTrans" cxnId="{75C59965-B403-4297-9CB0-1209FB8943D4}">
      <dgm:prSet/>
      <dgm:spPr/>
      <dgm:t>
        <a:bodyPr/>
        <a:lstStyle/>
        <a:p>
          <a:endParaRPr lang="en-US"/>
        </a:p>
      </dgm:t>
    </dgm:pt>
    <dgm:pt modelId="{1B22B3B4-3A40-4BF2-AA99-880802CBF342}" type="sibTrans" cxnId="{75C59965-B403-4297-9CB0-1209FB8943D4}">
      <dgm:prSet/>
      <dgm:spPr/>
      <dgm:t>
        <a:bodyPr/>
        <a:lstStyle/>
        <a:p>
          <a:endParaRPr lang="en-US"/>
        </a:p>
      </dgm:t>
    </dgm:pt>
    <dgm:pt modelId="{38F378A5-D38A-4084-BA11-955ECECD8710}" type="pres">
      <dgm:prSet presAssocID="{EA26740D-2544-40D0-ABED-19C2720FCE5E}" presName="Name0" presStyleCnt="0">
        <dgm:presLayoutVars>
          <dgm:dir/>
          <dgm:animLvl val="lvl"/>
          <dgm:resizeHandles val="exact"/>
        </dgm:presLayoutVars>
      </dgm:prSet>
      <dgm:spPr/>
    </dgm:pt>
    <dgm:pt modelId="{9783A18F-6F15-4B79-81B8-E52B67A53B38}" type="pres">
      <dgm:prSet presAssocID="{5AB31219-B9EE-4366-BC24-CAE6A3E02D71}" presName="linNode" presStyleCnt="0"/>
      <dgm:spPr/>
    </dgm:pt>
    <dgm:pt modelId="{A1A5AB4B-4F92-4C5B-A2B6-662ED39B0F75}" type="pres">
      <dgm:prSet presAssocID="{5AB31219-B9EE-4366-BC24-CAE6A3E02D71}" presName="parentText" presStyleLbl="node1" presStyleIdx="0" presStyleCnt="1" custScaleX="277778">
        <dgm:presLayoutVars>
          <dgm:chMax val="1"/>
          <dgm:bulletEnabled val="1"/>
        </dgm:presLayoutVars>
      </dgm:prSet>
      <dgm:spPr/>
    </dgm:pt>
  </dgm:ptLst>
  <dgm:cxnLst>
    <dgm:cxn modelId="{75C59965-B403-4297-9CB0-1209FB8943D4}" srcId="{EA26740D-2544-40D0-ABED-19C2720FCE5E}" destId="{5AB31219-B9EE-4366-BC24-CAE6A3E02D71}" srcOrd="0" destOrd="0" parTransId="{E9F16FA5-0D68-48B8-B500-4B486754046C}" sibTransId="{1B22B3B4-3A40-4BF2-AA99-880802CBF342}"/>
    <dgm:cxn modelId="{42F6A656-4769-479A-92A6-0F5398704B7A}" type="presOf" srcId="{5AB31219-B9EE-4366-BC24-CAE6A3E02D71}" destId="{A1A5AB4B-4F92-4C5B-A2B6-662ED39B0F75}" srcOrd="0" destOrd="0" presId="urn:microsoft.com/office/officeart/2005/8/layout/vList5"/>
    <dgm:cxn modelId="{AE14D284-382C-4270-8762-2673E2419ED6}" type="presOf" srcId="{EA26740D-2544-40D0-ABED-19C2720FCE5E}" destId="{38F378A5-D38A-4084-BA11-955ECECD8710}" srcOrd="0" destOrd="0" presId="urn:microsoft.com/office/officeart/2005/8/layout/vList5"/>
    <dgm:cxn modelId="{FBF7C1F1-323F-4F40-A55B-13CC74202F83}" type="presParOf" srcId="{38F378A5-D38A-4084-BA11-955ECECD8710}" destId="{9783A18F-6F15-4B79-81B8-E52B67A53B38}" srcOrd="0" destOrd="0" presId="urn:microsoft.com/office/officeart/2005/8/layout/vList5"/>
    <dgm:cxn modelId="{E139CC7E-4CBD-4F89-A1A6-A3A8E8FBCE30}" type="presParOf" srcId="{9783A18F-6F15-4B79-81B8-E52B67A53B38}" destId="{A1A5AB4B-4F92-4C5B-A2B6-662ED39B0F75}"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02CCF4-EFCF-495C-B3C9-86F9230FE651}" type="doc">
      <dgm:prSet loTypeId="urn:microsoft.com/office/officeart/2005/8/layout/list1" loCatId="list" qsTypeId="urn:microsoft.com/office/officeart/2005/8/quickstyle/simple4" qsCatId="simple" csTypeId="urn:microsoft.com/office/officeart/2005/8/colors/accent1_2" csCatId="accent1"/>
      <dgm:spPr/>
      <dgm:t>
        <a:bodyPr/>
        <a:lstStyle/>
        <a:p>
          <a:endParaRPr lang="en-US"/>
        </a:p>
      </dgm:t>
    </dgm:pt>
    <dgm:pt modelId="{2454B5D5-BE46-405E-9845-977D91C129AB}">
      <dgm:prSet/>
      <dgm:spPr/>
      <dgm:t>
        <a:bodyPr/>
        <a:lstStyle/>
        <a:p>
          <a:r>
            <a:rPr lang="el-GR" b="1"/>
            <a:t>End-to-End Delay (ανά πακέτο):</a:t>
          </a:r>
          <a:endParaRPr lang="en-US"/>
        </a:p>
      </dgm:t>
    </dgm:pt>
    <dgm:pt modelId="{DC547843-B268-40CF-9D40-753A0AED2ECC}" type="parTrans" cxnId="{7FCF3812-5501-4F81-B146-6047366E75D4}">
      <dgm:prSet/>
      <dgm:spPr/>
      <dgm:t>
        <a:bodyPr/>
        <a:lstStyle/>
        <a:p>
          <a:endParaRPr lang="en-US"/>
        </a:p>
      </dgm:t>
    </dgm:pt>
    <dgm:pt modelId="{C8D95E2B-6013-4E01-9541-043314D0593C}" type="sibTrans" cxnId="{7FCF3812-5501-4F81-B146-6047366E75D4}">
      <dgm:prSet/>
      <dgm:spPr/>
      <dgm:t>
        <a:bodyPr/>
        <a:lstStyle/>
        <a:p>
          <a:endParaRPr lang="en-US"/>
        </a:p>
      </dgm:t>
    </dgm:pt>
    <dgm:pt modelId="{FF3A2559-3407-4C74-A912-B802B7CF0DED}">
      <dgm:prSet/>
      <dgm:spPr/>
      <dgm:t>
        <a:bodyPr/>
        <a:lstStyle/>
        <a:p>
          <a:r>
            <a:rPr lang="el-GR"/>
            <a:t>Πόσο χρόνο χρειάστηκε κάθε πακέτο για να φτάσει.</a:t>
          </a:r>
          <a:endParaRPr lang="en-US"/>
        </a:p>
      </dgm:t>
    </dgm:pt>
    <dgm:pt modelId="{3B8883AD-3E04-42A7-8D4B-BFA6BABBDF29}" type="parTrans" cxnId="{B9378698-BA27-4F56-B9C5-8BDDD277A31A}">
      <dgm:prSet/>
      <dgm:spPr/>
      <dgm:t>
        <a:bodyPr/>
        <a:lstStyle/>
        <a:p>
          <a:endParaRPr lang="en-US"/>
        </a:p>
      </dgm:t>
    </dgm:pt>
    <dgm:pt modelId="{31584119-9E61-4DEF-BF61-057C41AD464D}" type="sibTrans" cxnId="{B9378698-BA27-4F56-B9C5-8BDDD277A31A}">
      <dgm:prSet/>
      <dgm:spPr/>
      <dgm:t>
        <a:bodyPr/>
        <a:lstStyle/>
        <a:p>
          <a:endParaRPr lang="en-US"/>
        </a:p>
      </dgm:t>
    </dgm:pt>
    <dgm:pt modelId="{86B1BF04-A361-4E74-A0B6-2639ECBBF6DE}">
      <dgm:prSet/>
      <dgm:spPr/>
      <dgm:t>
        <a:bodyPr/>
        <a:lstStyle/>
        <a:p>
          <a:r>
            <a:rPr lang="el-GR" b="1"/>
            <a:t>Queue Size (με την πάροδο του χρόνου):</a:t>
          </a:r>
          <a:endParaRPr lang="en-US"/>
        </a:p>
      </dgm:t>
    </dgm:pt>
    <dgm:pt modelId="{54B9EAF5-96C2-45E4-91F5-CABB1F73E0C3}" type="parTrans" cxnId="{DB0F798A-A3F1-4437-A1E1-0BB6CB619FE2}">
      <dgm:prSet/>
      <dgm:spPr/>
      <dgm:t>
        <a:bodyPr/>
        <a:lstStyle/>
        <a:p>
          <a:endParaRPr lang="en-US"/>
        </a:p>
      </dgm:t>
    </dgm:pt>
    <dgm:pt modelId="{C9C7A55B-4DCE-4209-906E-5AC2A7B7C54F}" type="sibTrans" cxnId="{DB0F798A-A3F1-4437-A1E1-0BB6CB619FE2}">
      <dgm:prSet/>
      <dgm:spPr/>
      <dgm:t>
        <a:bodyPr/>
        <a:lstStyle/>
        <a:p>
          <a:endParaRPr lang="en-US"/>
        </a:p>
      </dgm:t>
    </dgm:pt>
    <dgm:pt modelId="{BD935539-CBD2-4C37-ADDC-4816E2490F90}">
      <dgm:prSet/>
      <dgm:spPr/>
      <dgm:t>
        <a:bodyPr/>
        <a:lstStyle/>
        <a:p>
          <a:r>
            <a:rPr lang="el-GR"/>
            <a:t>Πόσα πακέτα βρίσκονται στην ουρά του router σε κάθε χρονική στιγμή.</a:t>
          </a:r>
          <a:endParaRPr lang="en-US"/>
        </a:p>
      </dgm:t>
    </dgm:pt>
    <dgm:pt modelId="{EC07A4CF-86B3-417C-9F30-4E496FA01742}" type="parTrans" cxnId="{F56790C3-951B-4E5B-802E-E32D7888FC14}">
      <dgm:prSet/>
      <dgm:spPr/>
      <dgm:t>
        <a:bodyPr/>
        <a:lstStyle/>
        <a:p>
          <a:endParaRPr lang="en-US"/>
        </a:p>
      </dgm:t>
    </dgm:pt>
    <dgm:pt modelId="{29F81C5D-2AAF-462E-92A8-B5AA68CB0A8C}" type="sibTrans" cxnId="{F56790C3-951B-4E5B-802E-E32D7888FC14}">
      <dgm:prSet/>
      <dgm:spPr/>
      <dgm:t>
        <a:bodyPr/>
        <a:lstStyle/>
        <a:p>
          <a:endParaRPr lang="en-US"/>
        </a:p>
      </dgm:t>
    </dgm:pt>
    <dgm:pt modelId="{B4134408-6D0D-4A5B-9508-42F26FAEE802}">
      <dgm:prSet/>
      <dgm:spPr/>
      <dgm:t>
        <a:bodyPr/>
        <a:lstStyle/>
        <a:p>
          <a:r>
            <a:rPr lang="el-GR"/>
            <a:t>Χρησιμοποιήσαμε μια ξεχωριστή διαδικασία monitor_queue_size για τη δειγματοληψία.</a:t>
          </a:r>
          <a:endParaRPr lang="en-US"/>
        </a:p>
      </dgm:t>
    </dgm:pt>
    <dgm:pt modelId="{9791094B-B19F-4F55-B34A-A85655BDF7D7}" type="parTrans" cxnId="{77EE1F7E-3EBF-473F-8211-F9375DF3C5F5}">
      <dgm:prSet/>
      <dgm:spPr/>
      <dgm:t>
        <a:bodyPr/>
        <a:lstStyle/>
        <a:p>
          <a:endParaRPr lang="en-US"/>
        </a:p>
      </dgm:t>
    </dgm:pt>
    <dgm:pt modelId="{2844CC24-9CCF-4134-9BAC-B1C469801959}" type="sibTrans" cxnId="{77EE1F7E-3EBF-473F-8211-F9375DF3C5F5}">
      <dgm:prSet/>
      <dgm:spPr/>
      <dgm:t>
        <a:bodyPr/>
        <a:lstStyle/>
        <a:p>
          <a:endParaRPr lang="en-US"/>
        </a:p>
      </dgm:t>
    </dgm:pt>
    <dgm:pt modelId="{3FD529E1-CABF-4CE4-8F03-7682AA3D1E4B}">
      <dgm:prSet/>
      <dgm:spPr/>
      <dgm:t>
        <a:bodyPr/>
        <a:lstStyle/>
        <a:p>
          <a:r>
            <a:rPr lang="el-GR" b="1"/>
            <a:t>Packet Loss Rate (%):</a:t>
          </a:r>
          <a:endParaRPr lang="en-US"/>
        </a:p>
      </dgm:t>
    </dgm:pt>
    <dgm:pt modelId="{A54E0973-5573-42FD-9EAA-3360B7930F18}" type="parTrans" cxnId="{EB7F2085-1B47-41BB-99C6-29F8C5D2383C}">
      <dgm:prSet/>
      <dgm:spPr/>
      <dgm:t>
        <a:bodyPr/>
        <a:lstStyle/>
        <a:p>
          <a:endParaRPr lang="en-US"/>
        </a:p>
      </dgm:t>
    </dgm:pt>
    <dgm:pt modelId="{C645FE89-D920-40E3-B3C6-CB2EFBAE9263}" type="sibTrans" cxnId="{EB7F2085-1B47-41BB-99C6-29F8C5D2383C}">
      <dgm:prSet/>
      <dgm:spPr/>
      <dgm:t>
        <a:bodyPr/>
        <a:lstStyle/>
        <a:p>
          <a:endParaRPr lang="en-US"/>
        </a:p>
      </dgm:t>
    </dgm:pt>
    <dgm:pt modelId="{6ABD30F9-685A-4C90-AD1D-E41B6FDB0FDF}">
      <dgm:prSet/>
      <dgm:spPr/>
      <dgm:t>
        <a:bodyPr/>
        <a:lstStyle/>
        <a:p>
          <a:r>
            <a:rPr lang="el-GR"/>
            <a:t>Το ποσοστό των πακέτων που απορρίφθηκαν επειδή η ουρά ήταν γεμάτη.</a:t>
          </a:r>
          <a:endParaRPr lang="en-US"/>
        </a:p>
      </dgm:t>
    </dgm:pt>
    <dgm:pt modelId="{833EF755-3290-49B2-A0AE-52229C26A26F}" type="parTrans" cxnId="{6925BCEC-316A-45C4-B2B8-AFD4D0EE7935}">
      <dgm:prSet/>
      <dgm:spPr/>
      <dgm:t>
        <a:bodyPr/>
        <a:lstStyle/>
        <a:p>
          <a:endParaRPr lang="en-US"/>
        </a:p>
      </dgm:t>
    </dgm:pt>
    <dgm:pt modelId="{6D5996D0-327C-4CA8-BBDB-0C79179ACA34}" type="sibTrans" cxnId="{6925BCEC-316A-45C4-B2B8-AFD4D0EE7935}">
      <dgm:prSet/>
      <dgm:spPr/>
      <dgm:t>
        <a:bodyPr/>
        <a:lstStyle/>
        <a:p>
          <a:endParaRPr lang="en-US"/>
        </a:p>
      </dgm:t>
    </dgm:pt>
    <dgm:pt modelId="{4FE76C2D-F104-4132-A26D-2B7C26D5B4FB}">
      <dgm:prSet/>
      <dgm:spPr/>
      <dgm:t>
        <a:bodyPr/>
        <a:lstStyle/>
        <a:p>
          <a:r>
            <a:rPr lang="el-GR" b="1"/>
            <a:t>Τύπος:</a:t>
          </a:r>
          <a:r>
            <a:rPr lang="el-GR"/>
            <a:t> (Σύνολο Απορρίψεων / Σύνολο Αποστολών) * 100</a:t>
          </a:r>
          <a:endParaRPr lang="en-US"/>
        </a:p>
      </dgm:t>
    </dgm:pt>
    <dgm:pt modelId="{B6E9154A-81D7-4347-A0B0-C7B237881452}" type="parTrans" cxnId="{D523E5C1-3B09-4EDE-AC22-285B219A9F46}">
      <dgm:prSet/>
      <dgm:spPr/>
      <dgm:t>
        <a:bodyPr/>
        <a:lstStyle/>
        <a:p>
          <a:endParaRPr lang="en-US"/>
        </a:p>
      </dgm:t>
    </dgm:pt>
    <dgm:pt modelId="{2D3E861F-3783-4DD3-BD2A-0F8E0A2B008D}" type="sibTrans" cxnId="{D523E5C1-3B09-4EDE-AC22-285B219A9F46}">
      <dgm:prSet/>
      <dgm:spPr/>
      <dgm:t>
        <a:bodyPr/>
        <a:lstStyle/>
        <a:p>
          <a:endParaRPr lang="en-US"/>
        </a:p>
      </dgm:t>
    </dgm:pt>
    <dgm:pt modelId="{EB5BA30F-138B-48E1-8011-06737FD91955}">
      <dgm:prSet/>
      <dgm:spPr/>
      <dgm:t>
        <a:bodyPr/>
        <a:lstStyle/>
        <a:p>
          <a:r>
            <a:rPr lang="el-GR" b="1" dirty="0"/>
            <a:t>Throughput (Mbps):</a:t>
          </a:r>
          <a:endParaRPr lang="en-US" dirty="0"/>
        </a:p>
      </dgm:t>
    </dgm:pt>
    <dgm:pt modelId="{27454FBA-38D8-4A6D-9920-1E39102F7EAB}" type="parTrans" cxnId="{80F284A9-0C78-406B-8D18-9C37487C6899}">
      <dgm:prSet/>
      <dgm:spPr/>
      <dgm:t>
        <a:bodyPr/>
        <a:lstStyle/>
        <a:p>
          <a:endParaRPr lang="en-US"/>
        </a:p>
      </dgm:t>
    </dgm:pt>
    <dgm:pt modelId="{4B7A0A58-9A40-4C8D-8EFF-AE631C62E572}" type="sibTrans" cxnId="{80F284A9-0C78-406B-8D18-9C37487C6899}">
      <dgm:prSet/>
      <dgm:spPr/>
      <dgm:t>
        <a:bodyPr/>
        <a:lstStyle/>
        <a:p>
          <a:endParaRPr lang="en-US"/>
        </a:p>
      </dgm:t>
    </dgm:pt>
    <dgm:pt modelId="{26C75332-6A35-4201-BC9F-5DF54DA1457A}">
      <dgm:prSet/>
      <dgm:spPr/>
      <dgm:t>
        <a:bodyPr/>
        <a:lstStyle/>
        <a:p>
          <a:r>
            <a:rPr lang="el-GR"/>
            <a:t>Ο </a:t>
          </a:r>
          <a:r>
            <a:rPr lang="el-GR" b="1"/>
            <a:t>πραγματικός</a:t>
          </a:r>
          <a:r>
            <a:rPr lang="el-GR"/>
            <a:t> ρυθμός δεδομένων που έφτασαν επιτυχώς στον προορισμό.</a:t>
          </a:r>
          <a:endParaRPr lang="en-US"/>
        </a:p>
      </dgm:t>
    </dgm:pt>
    <dgm:pt modelId="{1FED56C9-9CCC-444D-9173-87275B8D6B33}" type="parTrans" cxnId="{0991BD7B-35B4-47B6-9C18-98715746AAC8}">
      <dgm:prSet/>
      <dgm:spPr/>
      <dgm:t>
        <a:bodyPr/>
        <a:lstStyle/>
        <a:p>
          <a:endParaRPr lang="en-US"/>
        </a:p>
      </dgm:t>
    </dgm:pt>
    <dgm:pt modelId="{AA82F7BE-A1ED-47D6-A28A-111E1840BF57}" type="sibTrans" cxnId="{0991BD7B-35B4-47B6-9C18-98715746AAC8}">
      <dgm:prSet/>
      <dgm:spPr/>
      <dgm:t>
        <a:bodyPr/>
        <a:lstStyle/>
        <a:p>
          <a:endParaRPr lang="en-US"/>
        </a:p>
      </dgm:t>
    </dgm:pt>
    <dgm:pt modelId="{07F48DBB-40AF-4312-9E03-5D6B38A2DC03}">
      <dgm:prSet/>
      <dgm:spPr/>
      <dgm:t>
        <a:bodyPr/>
        <a:lstStyle/>
        <a:p>
          <a:r>
            <a:rPr lang="el-GR" b="1"/>
            <a:t>Τύπος:</a:t>
          </a:r>
          <a:r>
            <a:rPr lang="el-GR"/>
            <a:t> (Συνολικά Bits που λήφθηκαν) / (Συνολικός Χρόνος)</a:t>
          </a:r>
          <a:endParaRPr lang="en-US"/>
        </a:p>
      </dgm:t>
    </dgm:pt>
    <dgm:pt modelId="{32C93098-49F8-4945-A9E9-245D4D944FE5}" type="parTrans" cxnId="{91EFADCB-499C-4B9D-981B-7F90689C4E41}">
      <dgm:prSet/>
      <dgm:spPr/>
      <dgm:t>
        <a:bodyPr/>
        <a:lstStyle/>
        <a:p>
          <a:endParaRPr lang="en-US"/>
        </a:p>
      </dgm:t>
    </dgm:pt>
    <dgm:pt modelId="{292C7798-DCD0-40E3-B1A1-09D36CFACA1D}" type="sibTrans" cxnId="{91EFADCB-499C-4B9D-981B-7F90689C4E41}">
      <dgm:prSet/>
      <dgm:spPr/>
      <dgm:t>
        <a:bodyPr/>
        <a:lstStyle/>
        <a:p>
          <a:endParaRPr lang="en-US"/>
        </a:p>
      </dgm:t>
    </dgm:pt>
    <dgm:pt modelId="{407F9D87-3A61-4AAA-9078-E212FB8482A6}" type="pres">
      <dgm:prSet presAssocID="{C702CCF4-EFCF-495C-B3C9-86F9230FE651}" presName="linear" presStyleCnt="0">
        <dgm:presLayoutVars>
          <dgm:dir/>
          <dgm:animLvl val="lvl"/>
          <dgm:resizeHandles val="exact"/>
        </dgm:presLayoutVars>
      </dgm:prSet>
      <dgm:spPr/>
    </dgm:pt>
    <dgm:pt modelId="{2988E714-2BF9-47CE-97D6-626DBACBFD52}" type="pres">
      <dgm:prSet presAssocID="{2454B5D5-BE46-405E-9845-977D91C129AB}" presName="parentLin" presStyleCnt="0"/>
      <dgm:spPr/>
    </dgm:pt>
    <dgm:pt modelId="{A510B4F4-B2C7-43B1-9A42-AF556FFF090E}" type="pres">
      <dgm:prSet presAssocID="{2454B5D5-BE46-405E-9845-977D91C129AB}" presName="parentLeftMargin" presStyleLbl="node1" presStyleIdx="0" presStyleCnt="4"/>
      <dgm:spPr/>
    </dgm:pt>
    <dgm:pt modelId="{98076C02-92D9-4869-89E9-8EB6B5493D57}" type="pres">
      <dgm:prSet presAssocID="{2454B5D5-BE46-405E-9845-977D91C129AB}" presName="parentText" presStyleLbl="node1" presStyleIdx="0" presStyleCnt="4">
        <dgm:presLayoutVars>
          <dgm:chMax val="0"/>
          <dgm:bulletEnabled val="1"/>
        </dgm:presLayoutVars>
      </dgm:prSet>
      <dgm:spPr/>
    </dgm:pt>
    <dgm:pt modelId="{7FE9D441-098E-4837-8424-65DB9F087441}" type="pres">
      <dgm:prSet presAssocID="{2454B5D5-BE46-405E-9845-977D91C129AB}" presName="negativeSpace" presStyleCnt="0"/>
      <dgm:spPr/>
    </dgm:pt>
    <dgm:pt modelId="{4CC805D7-36B9-4420-B035-C010A0B45C51}" type="pres">
      <dgm:prSet presAssocID="{2454B5D5-BE46-405E-9845-977D91C129AB}" presName="childText" presStyleLbl="conFgAcc1" presStyleIdx="0" presStyleCnt="4">
        <dgm:presLayoutVars>
          <dgm:bulletEnabled val="1"/>
        </dgm:presLayoutVars>
      </dgm:prSet>
      <dgm:spPr/>
    </dgm:pt>
    <dgm:pt modelId="{D72D4FE5-EA8C-4E7F-83E8-1AA9903EC6C4}" type="pres">
      <dgm:prSet presAssocID="{C8D95E2B-6013-4E01-9541-043314D0593C}" presName="spaceBetweenRectangles" presStyleCnt="0"/>
      <dgm:spPr/>
    </dgm:pt>
    <dgm:pt modelId="{AA2ECA6C-0F28-4F4C-8D95-ABC30EAC42B3}" type="pres">
      <dgm:prSet presAssocID="{86B1BF04-A361-4E74-A0B6-2639ECBBF6DE}" presName="parentLin" presStyleCnt="0"/>
      <dgm:spPr/>
    </dgm:pt>
    <dgm:pt modelId="{62E60284-5306-4AF3-8A16-FCBE2C4A48A8}" type="pres">
      <dgm:prSet presAssocID="{86B1BF04-A361-4E74-A0B6-2639ECBBF6DE}" presName="parentLeftMargin" presStyleLbl="node1" presStyleIdx="0" presStyleCnt="4"/>
      <dgm:spPr/>
    </dgm:pt>
    <dgm:pt modelId="{A290E6E5-C88A-4986-9E7A-23584EEA9F68}" type="pres">
      <dgm:prSet presAssocID="{86B1BF04-A361-4E74-A0B6-2639ECBBF6DE}" presName="parentText" presStyleLbl="node1" presStyleIdx="1" presStyleCnt="4">
        <dgm:presLayoutVars>
          <dgm:chMax val="0"/>
          <dgm:bulletEnabled val="1"/>
        </dgm:presLayoutVars>
      </dgm:prSet>
      <dgm:spPr/>
    </dgm:pt>
    <dgm:pt modelId="{E3378719-2F75-4513-9F0A-086761D9D6EF}" type="pres">
      <dgm:prSet presAssocID="{86B1BF04-A361-4E74-A0B6-2639ECBBF6DE}" presName="negativeSpace" presStyleCnt="0"/>
      <dgm:spPr/>
    </dgm:pt>
    <dgm:pt modelId="{C4A55BBD-202E-4016-912C-11F1A128AFA6}" type="pres">
      <dgm:prSet presAssocID="{86B1BF04-A361-4E74-A0B6-2639ECBBF6DE}" presName="childText" presStyleLbl="conFgAcc1" presStyleIdx="1" presStyleCnt="4">
        <dgm:presLayoutVars>
          <dgm:bulletEnabled val="1"/>
        </dgm:presLayoutVars>
      </dgm:prSet>
      <dgm:spPr/>
    </dgm:pt>
    <dgm:pt modelId="{138B4453-7F24-4749-90C6-8A80AE2397A1}" type="pres">
      <dgm:prSet presAssocID="{C9C7A55B-4DCE-4209-906E-5AC2A7B7C54F}" presName="spaceBetweenRectangles" presStyleCnt="0"/>
      <dgm:spPr/>
    </dgm:pt>
    <dgm:pt modelId="{F2B16896-FD8B-40E1-BB29-1804A1B63871}" type="pres">
      <dgm:prSet presAssocID="{3FD529E1-CABF-4CE4-8F03-7682AA3D1E4B}" presName="parentLin" presStyleCnt="0"/>
      <dgm:spPr/>
    </dgm:pt>
    <dgm:pt modelId="{DBA11ADC-1348-44D4-8400-DEF90013B480}" type="pres">
      <dgm:prSet presAssocID="{3FD529E1-CABF-4CE4-8F03-7682AA3D1E4B}" presName="parentLeftMargin" presStyleLbl="node1" presStyleIdx="1" presStyleCnt="4"/>
      <dgm:spPr/>
    </dgm:pt>
    <dgm:pt modelId="{D0D30DD5-655B-426A-B62F-E1D3182EED69}" type="pres">
      <dgm:prSet presAssocID="{3FD529E1-CABF-4CE4-8F03-7682AA3D1E4B}" presName="parentText" presStyleLbl="node1" presStyleIdx="2" presStyleCnt="4">
        <dgm:presLayoutVars>
          <dgm:chMax val="0"/>
          <dgm:bulletEnabled val="1"/>
        </dgm:presLayoutVars>
      </dgm:prSet>
      <dgm:spPr/>
    </dgm:pt>
    <dgm:pt modelId="{1FE02478-097C-4F8B-8CED-9DD631E784B5}" type="pres">
      <dgm:prSet presAssocID="{3FD529E1-CABF-4CE4-8F03-7682AA3D1E4B}" presName="negativeSpace" presStyleCnt="0"/>
      <dgm:spPr/>
    </dgm:pt>
    <dgm:pt modelId="{7B57F37D-A974-47D3-9B50-579A1C12729B}" type="pres">
      <dgm:prSet presAssocID="{3FD529E1-CABF-4CE4-8F03-7682AA3D1E4B}" presName="childText" presStyleLbl="conFgAcc1" presStyleIdx="2" presStyleCnt="4">
        <dgm:presLayoutVars>
          <dgm:bulletEnabled val="1"/>
        </dgm:presLayoutVars>
      </dgm:prSet>
      <dgm:spPr/>
    </dgm:pt>
    <dgm:pt modelId="{E6847318-8856-4917-8FF2-1153D9D73CC8}" type="pres">
      <dgm:prSet presAssocID="{C645FE89-D920-40E3-B3C6-CB2EFBAE9263}" presName="spaceBetweenRectangles" presStyleCnt="0"/>
      <dgm:spPr/>
    </dgm:pt>
    <dgm:pt modelId="{54EC9DB9-707C-45D3-8FE4-6FFB1A0C3ED6}" type="pres">
      <dgm:prSet presAssocID="{EB5BA30F-138B-48E1-8011-06737FD91955}" presName="parentLin" presStyleCnt="0"/>
      <dgm:spPr/>
    </dgm:pt>
    <dgm:pt modelId="{4426B029-8404-4A08-AEE7-30E2CDFB0106}" type="pres">
      <dgm:prSet presAssocID="{EB5BA30F-138B-48E1-8011-06737FD91955}" presName="parentLeftMargin" presStyleLbl="node1" presStyleIdx="2" presStyleCnt="4"/>
      <dgm:spPr/>
    </dgm:pt>
    <dgm:pt modelId="{F1EB2861-F0AC-4A7F-B732-D4F9C9A4D1D2}" type="pres">
      <dgm:prSet presAssocID="{EB5BA30F-138B-48E1-8011-06737FD91955}" presName="parentText" presStyleLbl="node1" presStyleIdx="3" presStyleCnt="4">
        <dgm:presLayoutVars>
          <dgm:chMax val="0"/>
          <dgm:bulletEnabled val="1"/>
        </dgm:presLayoutVars>
      </dgm:prSet>
      <dgm:spPr/>
    </dgm:pt>
    <dgm:pt modelId="{CB37EC17-338D-4EE8-8EA9-094EC7CCF178}" type="pres">
      <dgm:prSet presAssocID="{EB5BA30F-138B-48E1-8011-06737FD91955}" presName="negativeSpace" presStyleCnt="0"/>
      <dgm:spPr/>
    </dgm:pt>
    <dgm:pt modelId="{BD4E4C64-7F6E-4910-83D7-7E9D8D90A9D4}" type="pres">
      <dgm:prSet presAssocID="{EB5BA30F-138B-48E1-8011-06737FD91955}" presName="childText" presStyleLbl="conFgAcc1" presStyleIdx="3" presStyleCnt="4">
        <dgm:presLayoutVars>
          <dgm:bulletEnabled val="1"/>
        </dgm:presLayoutVars>
      </dgm:prSet>
      <dgm:spPr/>
    </dgm:pt>
  </dgm:ptLst>
  <dgm:cxnLst>
    <dgm:cxn modelId="{14C27F02-E0DB-42DE-B072-FDCAF76C967B}" type="presOf" srcId="{6ABD30F9-685A-4C90-AD1D-E41B6FDB0FDF}" destId="{7B57F37D-A974-47D3-9B50-579A1C12729B}" srcOrd="0" destOrd="0" presId="urn:microsoft.com/office/officeart/2005/8/layout/list1"/>
    <dgm:cxn modelId="{7FCF3812-5501-4F81-B146-6047366E75D4}" srcId="{C702CCF4-EFCF-495C-B3C9-86F9230FE651}" destId="{2454B5D5-BE46-405E-9845-977D91C129AB}" srcOrd="0" destOrd="0" parTransId="{DC547843-B268-40CF-9D40-753A0AED2ECC}" sibTransId="{C8D95E2B-6013-4E01-9541-043314D0593C}"/>
    <dgm:cxn modelId="{6F95B116-A059-49FF-920D-0769818E82F8}" type="presOf" srcId="{EB5BA30F-138B-48E1-8011-06737FD91955}" destId="{F1EB2861-F0AC-4A7F-B732-D4F9C9A4D1D2}" srcOrd="1" destOrd="0" presId="urn:microsoft.com/office/officeart/2005/8/layout/list1"/>
    <dgm:cxn modelId="{19533F24-0E68-48E1-9227-C6720F9E2A17}" type="presOf" srcId="{2454B5D5-BE46-405E-9845-977D91C129AB}" destId="{98076C02-92D9-4869-89E9-8EB6B5493D57}" srcOrd="1" destOrd="0" presId="urn:microsoft.com/office/officeart/2005/8/layout/list1"/>
    <dgm:cxn modelId="{982D4D27-827C-488B-AD84-CD79330F50A8}" type="presOf" srcId="{C702CCF4-EFCF-495C-B3C9-86F9230FE651}" destId="{407F9D87-3A61-4AAA-9078-E212FB8482A6}" srcOrd="0" destOrd="0" presId="urn:microsoft.com/office/officeart/2005/8/layout/list1"/>
    <dgm:cxn modelId="{62D55240-0619-4E3C-8D65-76C46FE4EFF6}" type="presOf" srcId="{3FD529E1-CABF-4CE4-8F03-7682AA3D1E4B}" destId="{DBA11ADC-1348-44D4-8400-DEF90013B480}" srcOrd="0" destOrd="0" presId="urn:microsoft.com/office/officeart/2005/8/layout/list1"/>
    <dgm:cxn modelId="{7FD03D64-AA5A-41E0-9506-4E50938575BF}" type="presOf" srcId="{86B1BF04-A361-4E74-A0B6-2639ECBBF6DE}" destId="{A290E6E5-C88A-4986-9E7A-23584EEA9F68}" srcOrd="1" destOrd="0" presId="urn:microsoft.com/office/officeart/2005/8/layout/list1"/>
    <dgm:cxn modelId="{D9406C50-05A8-4C46-A8A9-6D6E8F1C78AF}" type="presOf" srcId="{BD935539-CBD2-4C37-ADDC-4816E2490F90}" destId="{C4A55BBD-202E-4016-912C-11F1A128AFA6}" srcOrd="0" destOrd="0" presId="urn:microsoft.com/office/officeart/2005/8/layout/list1"/>
    <dgm:cxn modelId="{9DE1C951-1544-43DF-821B-7D7DC2ED0259}" type="presOf" srcId="{86B1BF04-A361-4E74-A0B6-2639ECBBF6DE}" destId="{62E60284-5306-4AF3-8A16-FCBE2C4A48A8}" srcOrd="0" destOrd="0" presId="urn:microsoft.com/office/officeart/2005/8/layout/list1"/>
    <dgm:cxn modelId="{43C22B72-C4D6-4797-BAEC-CBB0E7C3CFCF}" type="presOf" srcId="{07F48DBB-40AF-4312-9E03-5D6B38A2DC03}" destId="{BD4E4C64-7F6E-4910-83D7-7E9D8D90A9D4}" srcOrd="0" destOrd="1" presId="urn:microsoft.com/office/officeart/2005/8/layout/list1"/>
    <dgm:cxn modelId="{73A81D7A-08C9-4A39-B5CB-816F51583A01}" type="presOf" srcId="{26C75332-6A35-4201-BC9F-5DF54DA1457A}" destId="{BD4E4C64-7F6E-4910-83D7-7E9D8D90A9D4}" srcOrd="0" destOrd="0" presId="urn:microsoft.com/office/officeart/2005/8/layout/list1"/>
    <dgm:cxn modelId="{D587205A-E1EC-4B49-9A2C-C9B7D1B6DEDA}" type="presOf" srcId="{EB5BA30F-138B-48E1-8011-06737FD91955}" destId="{4426B029-8404-4A08-AEE7-30E2CDFB0106}" srcOrd="0" destOrd="0" presId="urn:microsoft.com/office/officeart/2005/8/layout/list1"/>
    <dgm:cxn modelId="{0991BD7B-35B4-47B6-9C18-98715746AAC8}" srcId="{EB5BA30F-138B-48E1-8011-06737FD91955}" destId="{26C75332-6A35-4201-BC9F-5DF54DA1457A}" srcOrd="0" destOrd="0" parTransId="{1FED56C9-9CCC-444D-9173-87275B8D6B33}" sibTransId="{AA82F7BE-A1ED-47D6-A28A-111E1840BF57}"/>
    <dgm:cxn modelId="{77EE1F7E-3EBF-473F-8211-F9375DF3C5F5}" srcId="{86B1BF04-A361-4E74-A0B6-2639ECBBF6DE}" destId="{B4134408-6D0D-4A5B-9508-42F26FAEE802}" srcOrd="1" destOrd="0" parTransId="{9791094B-B19F-4F55-B34A-A85655BDF7D7}" sibTransId="{2844CC24-9CCF-4134-9BAC-B1C469801959}"/>
    <dgm:cxn modelId="{0174F67F-4D4C-4785-8B69-6EC6C05E2C54}" type="presOf" srcId="{B4134408-6D0D-4A5B-9508-42F26FAEE802}" destId="{C4A55BBD-202E-4016-912C-11F1A128AFA6}" srcOrd="0" destOrd="1" presId="urn:microsoft.com/office/officeart/2005/8/layout/list1"/>
    <dgm:cxn modelId="{EB7F2085-1B47-41BB-99C6-29F8C5D2383C}" srcId="{C702CCF4-EFCF-495C-B3C9-86F9230FE651}" destId="{3FD529E1-CABF-4CE4-8F03-7682AA3D1E4B}" srcOrd="2" destOrd="0" parTransId="{A54E0973-5573-42FD-9EAA-3360B7930F18}" sibTransId="{C645FE89-D920-40E3-B3C6-CB2EFBAE9263}"/>
    <dgm:cxn modelId="{DB0F798A-A3F1-4437-A1E1-0BB6CB619FE2}" srcId="{C702CCF4-EFCF-495C-B3C9-86F9230FE651}" destId="{86B1BF04-A361-4E74-A0B6-2639ECBBF6DE}" srcOrd="1" destOrd="0" parTransId="{54B9EAF5-96C2-45E4-91F5-CABB1F73E0C3}" sibTransId="{C9C7A55B-4DCE-4209-906E-5AC2A7B7C54F}"/>
    <dgm:cxn modelId="{B9378698-BA27-4F56-B9C5-8BDDD277A31A}" srcId="{2454B5D5-BE46-405E-9845-977D91C129AB}" destId="{FF3A2559-3407-4C74-A912-B802B7CF0DED}" srcOrd="0" destOrd="0" parTransId="{3B8883AD-3E04-42A7-8D4B-BFA6BABBDF29}" sibTransId="{31584119-9E61-4DEF-BF61-057C41AD464D}"/>
    <dgm:cxn modelId="{80F284A9-0C78-406B-8D18-9C37487C6899}" srcId="{C702CCF4-EFCF-495C-B3C9-86F9230FE651}" destId="{EB5BA30F-138B-48E1-8011-06737FD91955}" srcOrd="3" destOrd="0" parTransId="{27454FBA-38D8-4A6D-9920-1E39102F7EAB}" sibTransId="{4B7A0A58-9A40-4C8D-8EFF-AE631C62E572}"/>
    <dgm:cxn modelId="{CB410BB3-E044-47CE-A4C3-B1E51DA11C01}" type="presOf" srcId="{3FD529E1-CABF-4CE4-8F03-7682AA3D1E4B}" destId="{D0D30DD5-655B-426A-B62F-E1D3182EED69}" srcOrd="1" destOrd="0" presId="urn:microsoft.com/office/officeart/2005/8/layout/list1"/>
    <dgm:cxn modelId="{C9D9B7BF-9819-4862-AA5E-1651BF843AAB}" type="presOf" srcId="{2454B5D5-BE46-405E-9845-977D91C129AB}" destId="{A510B4F4-B2C7-43B1-9A42-AF556FFF090E}" srcOrd="0" destOrd="0" presId="urn:microsoft.com/office/officeart/2005/8/layout/list1"/>
    <dgm:cxn modelId="{D523E5C1-3B09-4EDE-AC22-285B219A9F46}" srcId="{3FD529E1-CABF-4CE4-8F03-7682AA3D1E4B}" destId="{4FE76C2D-F104-4132-A26D-2B7C26D5B4FB}" srcOrd="1" destOrd="0" parTransId="{B6E9154A-81D7-4347-A0B0-C7B237881452}" sibTransId="{2D3E861F-3783-4DD3-BD2A-0F8E0A2B008D}"/>
    <dgm:cxn modelId="{F56790C3-951B-4E5B-802E-E32D7888FC14}" srcId="{86B1BF04-A361-4E74-A0B6-2639ECBBF6DE}" destId="{BD935539-CBD2-4C37-ADDC-4816E2490F90}" srcOrd="0" destOrd="0" parTransId="{EC07A4CF-86B3-417C-9F30-4E496FA01742}" sibTransId="{29F81C5D-2AAF-462E-92A8-B5AA68CB0A8C}"/>
    <dgm:cxn modelId="{91EFADCB-499C-4B9D-981B-7F90689C4E41}" srcId="{EB5BA30F-138B-48E1-8011-06737FD91955}" destId="{07F48DBB-40AF-4312-9E03-5D6B38A2DC03}" srcOrd="1" destOrd="0" parTransId="{32C93098-49F8-4945-A9E9-245D4D944FE5}" sibTransId="{292C7798-DCD0-40E3-B1A1-09D36CFACA1D}"/>
    <dgm:cxn modelId="{45584BDA-DB9A-4213-B4EB-6D834C4670C9}" type="presOf" srcId="{FF3A2559-3407-4C74-A912-B802B7CF0DED}" destId="{4CC805D7-36B9-4420-B035-C010A0B45C51}" srcOrd="0" destOrd="0" presId="urn:microsoft.com/office/officeart/2005/8/layout/list1"/>
    <dgm:cxn modelId="{68330FE6-71F8-47C6-BCC7-580DB36219B4}" type="presOf" srcId="{4FE76C2D-F104-4132-A26D-2B7C26D5B4FB}" destId="{7B57F37D-A974-47D3-9B50-579A1C12729B}" srcOrd="0" destOrd="1" presId="urn:microsoft.com/office/officeart/2005/8/layout/list1"/>
    <dgm:cxn modelId="{6925BCEC-316A-45C4-B2B8-AFD4D0EE7935}" srcId="{3FD529E1-CABF-4CE4-8F03-7682AA3D1E4B}" destId="{6ABD30F9-685A-4C90-AD1D-E41B6FDB0FDF}" srcOrd="0" destOrd="0" parTransId="{833EF755-3290-49B2-A0AE-52229C26A26F}" sibTransId="{6D5996D0-327C-4CA8-BBDB-0C79179ACA34}"/>
    <dgm:cxn modelId="{7450B53E-B8E9-4D01-A8A4-4FE15D5459F1}" type="presParOf" srcId="{407F9D87-3A61-4AAA-9078-E212FB8482A6}" destId="{2988E714-2BF9-47CE-97D6-626DBACBFD52}" srcOrd="0" destOrd="0" presId="urn:microsoft.com/office/officeart/2005/8/layout/list1"/>
    <dgm:cxn modelId="{97102755-362F-4F70-A6DF-D0B3B62F9A1E}" type="presParOf" srcId="{2988E714-2BF9-47CE-97D6-626DBACBFD52}" destId="{A510B4F4-B2C7-43B1-9A42-AF556FFF090E}" srcOrd="0" destOrd="0" presId="urn:microsoft.com/office/officeart/2005/8/layout/list1"/>
    <dgm:cxn modelId="{4A5727D2-08EE-41B1-9E6B-C600B20CC9E4}" type="presParOf" srcId="{2988E714-2BF9-47CE-97D6-626DBACBFD52}" destId="{98076C02-92D9-4869-89E9-8EB6B5493D57}" srcOrd="1" destOrd="0" presId="urn:microsoft.com/office/officeart/2005/8/layout/list1"/>
    <dgm:cxn modelId="{BA7E8EF5-3DFC-494D-817F-4C082DA14FAD}" type="presParOf" srcId="{407F9D87-3A61-4AAA-9078-E212FB8482A6}" destId="{7FE9D441-098E-4837-8424-65DB9F087441}" srcOrd="1" destOrd="0" presId="urn:microsoft.com/office/officeart/2005/8/layout/list1"/>
    <dgm:cxn modelId="{730F243B-354D-460B-90DA-ADA4E77A88A0}" type="presParOf" srcId="{407F9D87-3A61-4AAA-9078-E212FB8482A6}" destId="{4CC805D7-36B9-4420-B035-C010A0B45C51}" srcOrd="2" destOrd="0" presId="urn:microsoft.com/office/officeart/2005/8/layout/list1"/>
    <dgm:cxn modelId="{2B26356A-7898-46D3-B8DF-7A74D4942698}" type="presParOf" srcId="{407F9D87-3A61-4AAA-9078-E212FB8482A6}" destId="{D72D4FE5-EA8C-4E7F-83E8-1AA9903EC6C4}" srcOrd="3" destOrd="0" presId="urn:microsoft.com/office/officeart/2005/8/layout/list1"/>
    <dgm:cxn modelId="{16A908E3-7639-4DD6-91BB-2A0600DA3087}" type="presParOf" srcId="{407F9D87-3A61-4AAA-9078-E212FB8482A6}" destId="{AA2ECA6C-0F28-4F4C-8D95-ABC30EAC42B3}" srcOrd="4" destOrd="0" presId="urn:microsoft.com/office/officeart/2005/8/layout/list1"/>
    <dgm:cxn modelId="{3C1E1994-CF12-4043-8B16-3EBF002AE46A}" type="presParOf" srcId="{AA2ECA6C-0F28-4F4C-8D95-ABC30EAC42B3}" destId="{62E60284-5306-4AF3-8A16-FCBE2C4A48A8}" srcOrd="0" destOrd="0" presId="urn:microsoft.com/office/officeart/2005/8/layout/list1"/>
    <dgm:cxn modelId="{74831F01-7C45-4A94-A8EC-BF43F86F9977}" type="presParOf" srcId="{AA2ECA6C-0F28-4F4C-8D95-ABC30EAC42B3}" destId="{A290E6E5-C88A-4986-9E7A-23584EEA9F68}" srcOrd="1" destOrd="0" presId="urn:microsoft.com/office/officeart/2005/8/layout/list1"/>
    <dgm:cxn modelId="{C04D369B-9FF2-4C24-B643-143B9C8C2237}" type="presParOf" srcId="{407F9D87-3A61-4AAA-9078-E212FB8482A6}" destId="{E3378719-2F75-4513-9F0A-086761D9D6EF}" srcOrd="5" destOrd="0" presId="urn:microsoft.com/office/officeart/2005/8/layout/list1"/>
    <dgm:cxn modelId="{F0F28AC8-A880-4F83-B35C-3FA5ED8F3133}" type="presParOf" srcId="{407F9D87-3A61-4AAA-9078-E212FB8482A6}" destId="{C4A55BBD-202E-4016-912C-11F1A128AFA6}" srcOrd="6" destOrd="0" presId="urn:microsoft.com/office/officeart/2005/8/layout/list1"/>
    <dgm:cxn modelId="{E06FD599-04F0-4488-9CE6-A5DCBA390FBC}" type="presParOf" srcId="{407F9D87-3A61-4AAA-9078-E212FB8482A6}" destId="{138B4453-7F24-4749-90C6-8A80AE2397A1}" srcOrd="7" destOrd="0" presId="urn:microsoft.com/office/officeart/2005/8/layout/list1"/>
    <dgm:cxn modelId="{241EECBE-F831-45B6-A620-99DDA37F26D1}" type="presParOf" srcId="{407F9D87-3A61-4AAA-9078-E212FB8482A6}" destId="{F2B16896-FD8B-40E1-BB29-1804A1B63871}" srcOrd="8" destOrd="0" presId="urn:microsoft.com/office/officeart/2005/8/layout/list1"/>
    <dgm:cxn modelId="{8CF67D90-57CB-4CFB-8C42-534751FC5938}" type="presParOf" srcId="{F2B16896-FD8B-40E1-BB29-1804A1B63871}" destId="{DBA11ADC-1348-44D4-8400-DEF90013B480}" srcOrd="0" destOrd="0" presId="urn:microsoft.com/office/officeart/2005/8/layout/list1"/>
    <dgm:cxn modelId="{130CC389-9E11-4DF8-9FC7-98068CED3576}" type="presParOf" srcId="{F2B16896-FD8B-40E1-BB29-1804A1B63871}" destId="{D0D30DD5-655B-426A-B62F-E1D3182EED69}" srcOrd="1" destOrd="0" presId="urn:microsoft.com/office/officeart/2005/8/layout/list1"/>
    <dgm:cxn modelId="{E9B8E6BF-6C91-4DDF-8C97-EEAE9A3C8F92}" type="presParOf" srcId="{407F9D87-3A61-4AAA-9078-E212FB8482A6}" destId="{1FE02478-097C-4F8B-8CED-9DD631E784B5}" srcOrd="9" destOrd="0" presId="urn:microsoft.com/office/officeart/2005/8/layout/list1"/>
    <dgm:cxn modelId="{4E55A8F7-0D4F-4715-8177-E660183A210B}" type="presParOf" srcId="{407F9D87-3A61-4AAA-9078-E212FB8482A6}" destId="{7B57F37D-A974-47D3-9B50-579A1C12729B}" srcOrd="10" destOrd="0" presId="urn:microsoft.com/office/officeart/2005/8/layout/list1"/>
    <dgm:cxn modelId="{266570D9-15D8-406D-999A-32A92E531D93}" type="presParOf" srcId="{407F9D87-3A61-4AAA-9078-E212FB8482A6}" destId="{E6847318-8856-4917-8FF2-1153D9D73CC8}" srcOrd="11" destOrd="0" presId="urn:microsoft.com/office/officeart/2005/8/layout/list1"/>
    <dgm:cxn modelId="{0DA2FB2F-F3C7-4DE8-AC28-D2D48FB16D94}" type="presParOf" srcId="{407F9D87-3A61-4AAA-9078-E212FB8482A6}" destId="{54EC9DB9-707C-45D3-8FE4-6FFB1A0C3ED6}" srcOrd="12" destOrd="0" presId="urn:microsoft.com/office/officeart/2005/8/layout/list1"/>
    <dgm:cxn modelId="{847F42D6-368D-42CA-985F-6FD81C35CEBA}" type="presParOf" srcId="{54EC9DB9-707C-45D3-8FE4-6FFB1A0C3ED6}" destId="{4426B029-8404-4A08-AEE7-30E2CDFB0106}" srcOrd="0" destOrd="0" presId="urn:microsoft.com/office/officeart/2005/8/layout/list1"/>
    <dgm:cxn modelId="{88BD405C-C93C-4ED4-8CDA-E80BA0D4C959}" type="presParOf" srcId="{54EC9DB9-707C-45D3-8FE4-6FFB1A0C3ED6}" destId="{F1EB2861-F0AC-4A7F-B732-D4F9C9A4D1D2}" srcOrd="1" destOrd="0" presId="urn:microsoft.com/office/officeart/2005/8/layout/list1"/>
    <dgm:cxn modelId="{A8F38696-48E0-4D9F-9E8A-D01658F0D911}" type="presParOf" srcId="{407F9D87-3A61-4AAA-9078-E212FB8482A6}" destId="{CB37EC17-338D-4EE8-8EA9-094EC7CCF178}" srcOrd="13" destOrd="0" presId="urn:microsoft.com/office/officeart/2005/8/layout/list1"/>
    <dgm:cxn modelId="{2652B930-AE8B-4C1D-A33E-5805D851F7EF}" type="presParOf" srcId="{407F9D87-3A61-4AAA-9078-E212FB8482A6}" destId="{BD4E4C64-7F6E-4910-83D7-7E9D8D90A9D4}" srcOrd="14"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7B2262-6F76-471D-AB4A-160697494586}">
      <dsp:nvSpPr>
        <dsp:cNvPr id="0" name=""/>
        <dsp:cNvSpPr/>
      </dsp:nvSpPr>
      <dsp:spPr>
        <a:xfrm rot="5400000">
          <a:off x="6589693" y="-26617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Bandwidth:</a:t>
          </a:r>
          <a:r>
            <a:rPr lang="el-GR" sz="1400" kern="1200" dirty="0"/>
            <a:t> 1 Mbps</a:t>
          </a:r>
          <a:r>
            <a:rPr lang="en-US" sz="1400" kern="1200" dirty="0"/>
            <a:t>.</a:t>
          </a:r>
          <a:r>
            <a:rPr lang="el-GR" sz="1400" kern="1200" dirty="0"/>
            <a:t>Το εύρος ζώνης είναι ο μέγιστος ρυθμός μεταφοράς δεδομένων.</a:t>
          </a:r>
          <a:br>
            <a:rPr lang="el-GR" sz="1400" kern="1200" dirty="0"/>
          </a:br>
          <a:r>
            <a:rPr lang="en-US" sz="1400" b="1" kern="1200" dirty="0"/>
            <a:t>Bandwidth </a:t>
          </a:r>
          <a:r>
            <a:rPr lang="el-GR" sz="1400" b="1" kern="1200" dirty="0"/>
            <a:t>σε </a:t>
          </a:r>
          <a:r>
            <a:rPr lang="en-US" sz="1400" b="1" kern="1200" dirty="0"/>
            <a:t>Bytes: </a:t>
          </a:r>
          <a:r>
            <a:rPr lang="en-US" sz="1400" kern="1200" dirty="0"/>
            <a:t>Bandwidth/8=125.000</a:t>
          </a:r>
          <a:br>
            <a:rPr lang="el-GR" sz="1400" kern="1200" dirty="0"/>
          </a:br>
          <a:r>
            <a:rPr lang="el-GR" sz="1400" b="1" kern="1200" dirty="0"/>
            <a:t>Propagation Delay:</a:t>
          </a:r>
          <a:r>
            <a:rPr lang="el-GR" sz="1400" kern="1200" dirty="0"/>
            <a:t> 50 ms. Καθυστέρηση διάδοσης είναι η χρονική διάρκεια που απαιτείται για να φτάσει ένα σήμα στον προορισμό του</a:t>
          </a:r>
          <a:r>
            <a:rPr lang="en-US" sz="1400" kern="1200" dirty="0"/>
            <a:t>.</a:t>
          </a:r>
          <a:r>
            <a:rPr lang="el-GR" sz="1400" kern="1200" dirty="0"/>
            <a:t>  </a:t>
          </a:r>
          <a:endParaRPr lang="en-US" sz="1400" kern="1200" dirty="0"/>
        </a:p>
      </dsp:txBody>
      <dsp:txXfrm rot="-5400000">
        <a:off x="3785616" y="197117"/>
        <a:ext cx="6675221" cy="1012303"/>
      </dsp:txXfrm>
    </dsp:sp>
    <dsp:sp modelId="{1912DF6A-2585-4A61-90CF-3969A2906B4A}">
      <dsp:nvSpPr>
        <dsp:cNvPr id="0" name=""/>
        <dsp:cNvSpPr/>
      </dsp:nvSpPr>
      <dsp:spPr>
        <a:xfrm>
          <a:off x="0" y="2124"/>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dirty="0"/>
            <a:t>Ιδιότητες Σύνδεσης (Link Properties):</a:t>
          </a:r>
          <a:endParaRPr lang="en-US" sz="2700" kern="1200" dirty="0"/>
        </a:p>
      </dsp:txBody>
      <dsp:txXfrm>
        <a:off x="68454" y="70578"/>
        <a:ext cx="3648708" cy="1265378"/>
      </dsp:txXfrm>
    </dsp:sp>
    <dsp:sp modelId="{4941C0ED-29C4-434A-A426-25C2D387BD79}">
      <dsp:nvSpPr>
        <dsp:cNvPr id="0" name=""/>
        <dsp:cNvSpPr/>
      </dsp:nvSpPr>
      <dsp:spPr>
        <a:xfrm rot="5400000">
          <a:off x="6589693" y="-11893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Packet Size:</a:t>
          </a:r>
          <a:r>
            <a:rPr lang="el-GR" sz="1400" kern="1200" dirty="0"/>
            <a:t> 1000 Bytes. Το μέγεθος κάθε πακέτου. Η πηγή παράγει 1 πακέτο κάθε 5 ms (200 πακέτα/sec).</a:t>
          </a:r>
          <a:endParaRPr lang="en-US" sz="1400" kern="1200" dirty="0"/>
        </a:p>
      </dsp:txBody>
      <dsp:txXfrm rot="-5400000">
        <a:off x="3785616" y="1669517"/>
        <a:ext cx="6675221" cy="1012303"/>
      </dsp:txXfrm>
    </dsp:sp>
    <dsp:sp modelId="{E8B91188-4BE9-49E8-839D-C577A75DD324}">
      <dsp:nvSpPr>
        <dsp:cNvPr id="0" name=""/>
        <dsp:cNvSpPr/>
      </dsp:nvSpPr>
      <dsp:spPr>
        <a:xfrm>
          <a:off x="0" y="1474525"/>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Ιδιότητες Κίνησης (Traffic Properties):</a:t>
          </a:r>
          <a:endParaRPr lang="en-US" sz="2700" kern="1200"/>
        </a:p>
      </dsp:txBody>
      <dsp:txXfrm>
        <a:off x="68454" y="1542979"/>
        <a:ext cx="3648708" cy="1265378"/>
      </dsp:txXfrm>
    </dsp:sp>
    <dsp:sp modelId="{0B347050-530E-4D77-BD25-9718AF6A1990}">
      <dsp:nvSpPr>
        <dsp:cNvPr id="0" name=""/>
        <dsp:cNvSpPr/>
      </dsp:nvSpPr>
      <dsp:spPr>
        <a:xfrm rot="5400000">
          <a:off x="6589693" y="283077"/>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kern="1200" dirty="0"/>
            <a:t>Transmission Delay = Packet Size / Bandwidth</a:t>
          </a:r>
          <a:endParaRPr lang="en-US" sz="1400" kern="1200" dirty="0"/>
        </a:p>
        <a:p>
          <a:pPr marL="114300" lvl="1" indent="-114300" algn="l" defTabSz="622300">
            <a:lnSpc>
              <a:spcPct val="90000"/>
            </a:lnSpc>
            <a:spcBef>
              <a:spcPct val="0"/>
            </a:spcBef>
            <a:spcAft>
              <a:spcPct val="15000"/>
            </a:spcAft>
            <a:buChar char="•"/>
          </a:pPr>
          <a:r>
            <a:rPr lang="el-GR" sz="1400" kern="1200" dirty="0"/>
            <a:t>1000 Bytes / 125,000 Bytes/sec = 0.008 δευτερόλεπτα(8</a:t>
          </a:r>
          <a:r>
            <a:rPr lang="en-US" sz="1400" kern="1200" dirty="0" err="1"/>
            <a:t>ms</a:t>
          </a:r>
          <a:r>
            <a:rPr lang="en-US" sz="1400" kern="1200" dirty="0"/>
            <a:t>).</a:t>
          </a:r>
        </a:p>
        <a:p>
          <a:pPr marL="114300" lvl="1" indent="-114300" algn="l" defTabSz="622300">
            <a:lnSpc>
              <a:spcPct val="90000"/>
            </a:lnSpc>
            <a:spcBef>
              <a:spcPct val="0"/>
            </a:spcBef>
            <a:spcAft>
              <a:spcPct val="15000"/>
            </a:spcAft>
            <a:buChar char="•"/>
          </a:pPr>
          <a:r>
            <a:rPr lang="el-GR" sz="1400" kern="1200"/>
            <a:t>Αυτό σημαίνει ότι ο router χρειάζεται </a:t>
          </a:r>
          <a:r>
            <a:rPr lang="el-GR" sz="1400" b="1" kern="1200"/>
            <a:t>8ms</a:t>
          </a:r>
          <a:r>
            <a:rPr lang="el-GR" sz="1400" kern="1200"/>
            <a:t> για να σπρώξει ένα ολόκληρο πακέτο στη γραμμή.</a:t>
          </a:r>
          <a:endParaRPr lang="en-US" sz="1400" kern="1200"/>
        </a:p>
      </dsp:txBody>
      <dsp:txXfrm rot="-5400000">
        <a:off x="3785616" y="3141918"/>
        <a:ext cx="6675221" cy="1012303"/>
      </dsp:txXfrm>
    </dsp:sp>
    <dsp:sp modelId="{DBB92D28-5C5A-451E-B08C-842B1CA6E3DB}">
      <dsp:nvSpPr>
        <dsp:cNvPr id="0" name=""/>
        <dsp:cNvSpPr/>
      </dsp:nvSpPr>
      <dsp:spPr>
        <a:xfrm>
          <a:off x="0" y="2946926"/>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Υπολογίζουμε τον Χρόνο Εξυπηρέτησης (Service Time):</a:t>
          </a:r>
          <a:endParaRPr lang="en-US" sz="2700" kern="1200"/>
        </a:p>
      </dsp:txBody>
      <dsp:txXfrm>
        <a:off x="68454" y="3015380"/>
        <a:ext cx="3648708" cy="12653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753130-AE30-41EC-B394-F7DC1B4D36ED}">
      <dsp:nvSpPr>
        <dsp:cNvPr id="0" name=""/>
        <dsp:cNvSpPr/>
      </dsp:nvSpPr>
      <dsp:spPr>
        <a:xfrm>
          <a:off x="32"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dirty="0"/>
            <a:t>Δημιουργία Ουράς (Queue):</a:t>
          </a:r>
          <a:endParaRPr lang="en-US" sz="1800" kern="1200" dirty="0"/>
        </a:p>
      </dsp:txBody>
      <dsp:txXfrm>
        <a:off x="32" y="342995"/>
        <a:ext cx="3063216" cy="650941"/>
      </dsp:txXfrm>
    </dsp:sp>
    <dsp:sp modelId="{1400ABC8-4834-4369-A823-93DBC3FB5483}">
      <dsp:nvSpPr>
        <dsp:cNvPr id="0" name=""/>
        <dsp:cNvSpPr/>
      </dsp:nvSpPr>
      <dsp:spPr>
        <a:xfrm>
          <a:off x="32"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kern="1200" dirty="0"/>
            <a:t>Χρησιμοποιήσαμε το simpy.Store για να μοντελοποιήσουμε την ουρά του router.</a:t>
          </a:r>
          <a:br>
            <a:rPr lang="en-US" sz="1800" kern="1200" dirty="0"/>
          </a:br>
          <a:endParaRPr lang="en-US" sz="1800" kern="1200" dirty="0"/>
        </a:p>
        <a:p>
          <a:pPr marL="171450" lvl="1" indent="-171450" algn="l" defTabSz="800100">
            <a:lnSpc>
              <a:spcPct val="90000"/>
            </a:lnSpc>
            <a:spcBef>
              <a:spcPct val="0"/>
            </a:spcBef>
            <a:spcAft>
              <a:spcPct val="15000"/>
            </a:spcAft>
            <a:buChar char="•"/>
          </a:pPr>
          <a:r>
            <a:rPr lang="el-GR" sz="1800" kern="1200"/>
            <a:t>Ορίσαμε </a:t>
          </a:r>
          <a:r>
            <a:rPr lang="el-GR" sz="1800" b="1" kern="1200"/>
            <a:t>περιορισμένο μέγεθος:</a:t>
          </a:r>
          <a:r>
            <a:rPr lang="el-GR" sz="1800" kern="1200"/>
            <a:t> QUEUE_SIZE = 10 πακέτα.</a:t>
          </a:r>
          <a:endParaRPr lang="en-US" sz="1800" kern="1200"/>
        </a:p>
      </dsp:txBody>
      <dsp:txXfrm>
        <a:off x="32" y="993936"/>
        <a:ext cx="3063216" cy="4209114"/>
      </dsp:txXfrm>
    </dsp:sp>
    <dsp:sp modelId="{36ECB3A1-0C4A-4450-8DB7-EDDAD169D94D}">
      <dsp:nvSpPr>
        <dsp:cNvPr id="0" name=""/>
        <dsp:cNvSpPr/>
      </dsp:nvSpPr>
      <dsp:spPr>
        <a:xfrm>
          <a:off x="3492098"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a:t>Η Λογική του Router:</a:t>
          </a:r>
          <a:endParaRPr lang="en-US" sz="1800" kern="1200"/>
        </a:p>
      </dsp:txBody>
      <dsp:txXfrm>
        <a:off x="3492098" y="342995"/>
        <a:ext cx="3063216" cy="650941"/>
      </dsp:txXfrm>
    </dsp:sp>
    <dsp:sp modelId="{8F030C2D-433D-4872-B4E3-B88E6256E6B8}">
      <dsp:nvSpPr>
        <dsp:cNvPr id="0" name=""/>
        <dsp:cNvSpPr/>
      </dsp:nvSpPr>
      <dsp:spPr>
        <a:xfrm>
          <a:off x="3492098"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b="1" kern="1200"/>
            <a:t>Όταν ένα πακέτο φτάνει:</a:t>
          </a:r>
          <a:endParaRPr lang="en-US" sz="1800" kern="1200"/>
        </a:p>
        <a:p>
          <a:pPr marL="342900" lvl="2" indent="-171450" algn="l" defTabSz="800100">
            <a:lnSpc>
              <a:spcPct val="90000"/>
            </a:lnSpc>
            <a:spcBef>
              <a:spcPct val="0"/>
            </a:spcBef>
            <a:spcAft>
              <a:spcPct val="15000"/>
            </a:spcAft>
            <a:buChar char="•"/>
          </a:pPr>
          <a:r>
            <a:rPr lang="el-GR" sz="1800" b="1" kern="1200"/>
            <a:t>Ερώτηση:</a:t>
          </a:r>
          <a:r>
            <a:rPr lang="el-GR" sz="1800" kern="1200"/>
            <a:t> Υπάρχει χώρος στην ουρά;</a:t>
          </a:r>
          <a:endParaRPr lang="en-US" sz="1800" kern="1200"/>
        </a:p>
        <a:p>
          <a:pPr marL="342900" lvl="2" indent="-171450" algn="l" defTabSz="800100">
            <a:lnSpc>
              <a:spcPct val="90000"/>
            </a:lnSpc>
            <a:spcBef>
              <a:spcPct val="0"/>
            </a:spcBef>
            <a:spcAft>
              <a:spcPct val="15000"/>
            </a:spcAft>
            <a:buChar char="•"/>
          </a:pPr>
          <a:r>
            <a:rPr lang="el-GR" sz="1800" b="1" kern="1200"/>
            <a:t>Αν ΝΑΙ:</a:t>
          </a:r>
          <a:r>
            <a:rPr lang="el-GR" sz="1800" kern="1200"/>
            <a:t> Το πακέτο μπαίνει στην ουρά για να περιμένει τη σειρά του.</a:t>
          </a:r>
          <a:endParaRPr lang="en-US" sz="1800" kern="1200"/>
        </a:p>
        <a:p>
          <a:pPr marL="342900" lvl="2" indent="-171450" algn="l" defTabSz="800100">
            <a:lnSpc>
              <a:spcPct val="90000"/>
            </a:lnSpc>
            <a:spcBef>
              <a:spcPct val="0"/>
            </a:spcBef>
            <a:spcAft>
              <a:spcPct val="15000"/>
            </a:spcAft>
            <a:buChar char="•"/>
          </a:pPr>
          <a:r>
            <a:rPr lang="el-GR" sz="1800" b="1" kern="1200"/>
            <a:t>Αν ΟΧΙ:</a:t>
          </a:r>
          <a:r>
            <a:rPr lang="el-GR" sz="1800" kern="1200"/>
            <a:t> Το πακέτο απορρίπτεται (</a:t>
          </a:r>
          <a:r>
            <a:rPr lang="el-GR" sz="1800" b="1" kern="1200"/>
            <a:t>Packet Drop</a:t>
          </a:r>
          <a:r>
            <a:rPr lang="el-GR" sz="1800" kern="1200"/>
            <a:t>) και καταγράφεται.</a:t>
          </a:r>
          <a:endParaRPr lang="en-US" sz="1800" kern="1200"/>
        </a:p>
        <a:p>
          <a:pPr marL="171450" lvl="1" indent="-171450" algn="l" defTabSz="800100">
            <a:lnSpc>
              <a:spcPct val="90000"/>
            </a:lnSpc>
            <a:spcBef>
              <a:spcPct val="0"/>
            </a:spcBef>
            <a:spcAft>
              <a:spcPct val="15000"/>
            </a:spcAft>
            <a:buChar char="•"/>
          </a:pPr>
          <a:r>
            <a:rPr lang="el-GR" sz="1800" b="1" kern="1200"/>
            <a:t>Διαδικασία Αποστολής:</a:t>
          </a:r>
          <a:r>
            <a:rPr lang="el-GR" sz="1800" kern="1200"/>
            <a:t> Ο router αφαιρεί πακέτα από την ουρά (με σειρά First-In-First-Out) και τα στέλνει, προσομοιώνοντας την καθυστέρηση μετάδοσης.</a:t>
          </a:r>
          <a:endParaRPr lang="en-US" sz="1800" kern="1200"/>
        </a:p>
      </dsp:txBody>
      <dsp:txXfrm>
        <a:off x="3492098" y="993936"/>
        <a:ext cx="3063216" cy="42091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A5AB4B-4F92-4C5B-A2B6-662ED39B0F75}">
      <dsp:nvSpPr>
        <dsp:cNvPr id="0" name=""/>
        <dsp:cNvSpPr/>
      </dsp:nvSpPr>
      <dsp:spPr>
        <a:xfrm>
          <a:off x="5130" y="0"/>
          <a:ext cx="10505339" cy="132556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9070" tIns="89535" rIns="179070" bIns="89535" numCol="1" spcCol="1270" anchor="ctr" anchorCtr="0">
          <a:noAutofit/>
        </a:bodyPr>
        <a:lstStyle/>
        <a:p>
          <a:pPr marL="0" lvl="0" indent="0" algn="ctr" defTabSz="2089150">
            <a:lnSpc>
              <a:spcPct val="90000"/>
            </a:lnSpc>
            <a:spcBef>
              <a:spcPct val="0"/>
            </a:spcBef>
            <a:spcAft>
              <a:spcPct val="35000"/>
            </a:spcAft>
            <a:buNone/>
          </a:pPr>
          <a:r>
            <a:rPr lang="el-GR" sz="4700" b="1" kern="1200" dirty="0"/>
            <a:t>Μέτρηση της  Απόδοσης του Δικτύου</a:t>
          </a:r>
          <a:endParaRPr lang="en-US" sz="4700" kern="1200" dirty="0"/>
        </a:p>
      </dsp:txBody>
      <dsp:txXfrm>
        <a:off x="69839" y="64709"/>
        <a:ext cx="10375921" cy="11961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C805D7-36B9-4420-B035-C010A0B45C51}">
      <dsp:nvSpPr>
        <dsp:cNvPr id="0" name=""/>
        <dsp:cNvSpPr/>
      </dsp:nvSpPr>
      <dsp:spPr>
        <a:xfrm>
          <a:off x="0" y="252803"/>
          <a:ext cx="10515600" cy="595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Πόσο χρόνο χρειάστηκε κάθε πακέτο για να φτάσει.</a:t>
          </a:r>
          <a:endParaRPr lang="en-US" sz="1400" kern="1200"/>
        </a:p>
      </dsp:txBody>
      <dsp:txXfrm>
        <a:off x="0" y="252803"/>
        <a:ext cx="10515600" cy="595350"/>
      </dsp:txXfrm>
    </dsp:sp>
    <dsp:sp modelId="{98076C02-92D9-4869-89E9-8EB6B5493D57}">
      <dsp:nvSpPr>
        <dsp:cNvPr id="0" name=""/>
        <dsp:cNvSpPr/>
      </dsp:nvSpPr>
      <dsp:spPr>
        <a:xfrm>
          <a:off x="525780" y="4616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End-to-End Delay (ανά πακέτο):</a:t>
          </a:r>
          <a:endParaRPr lang="en-US" sz="1400" kern="1200"/>
        </a:p>
      </dsp:txBody>
      <dsp:txXfrm>
        <a:off x="545955" y="66338"/>
        <a:ext cx="7320570" cy="372930"/>
      </dsp:txXfrm>
    </dsp:sp>
    <dsp:sp modelId="{C4A55BBD-202E-4016-912C-11F1A128AFA6}">
      <dsp:nvSpPr>
        <dsp:cNvPr id="0" name=""/>
        <dsp:cNvSpPr/>
      </dsp:nvSpPr>
      <dsp:spPr>
        <a:xfrm>
          <a:off x="0" y="113039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Πόσα πακέτα βρίσκονται στην ουρά του router σε κάθε χρονική στιγμή.</a:t>
          </a:r>
          <a:endParaRPr lang="en-US" sz="1400" kern="1200"/>
        </a:p>
        <a:p>
          <a:pPr marL="114300" lvl="1" indent="-114300" algn="l" defTabSz="622300">
            <a:lnSpc>
              <a:spcPct val="90000"/>
            </a:lnSpc>
            <a:spcBef>
              <a:spcPct val="0"/>
            </a:spcBef>
            <a:spcAft>
              <a:spcPct val="15000"/>
            </a:spcAft>
            <a:buChar char="•"/>
          </a:pPr>
          <a:r>
            <a:rPr lang="el-GR" sz="1400" kern="1200"/>
            <a:t>Χρησιμοποιήσαμε μια ξεχωριστή διαδικασία monitor_queue_size για τη δειγματοληψία.</a:t>
          </a:r>
          <a:endParaRPr lang="en-US" sz="1400" kern="1200"/>
        </a:p>
      </dsp:txBody>
      <dsp:txXfrm>
        <a:off x="0" y="1130393"/>
        <a:ext cx="10515600" cy="815850"/>
      </dsp:txXfrm>
    </dsp:sp>
    <dsp:sp modelId="{A290E6E5-C88A-4986-9E7A-23584EEA9F68}">
      <dsp:nvSpPr>
        <dsp:cNvPr id="0" name=""/>
        <dsp:cNvSpPr/>
      </dsp:nvSpPr>
      <dsp:spPr>
        <a:xfrm>
          <a:off x="525780" y="92375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Queue Size (με την πάροδο του χρόνου):</a:t>
          </a:r>
          <a:endParaRPr lang="en-US" sz="1400" kern="1200"/>
        </a:p>
      </dsp:txBody>
      <dsp:txXfrm>
        <a:off x="545955" y="943928"/>
        <a:ext cx="7320570" cy="372930"/>
      </dsp:txXfrm>
    </dsp:sp>
    <dsp:sp modelId="{7B57F37D-A974-47D3-9B50-579A1C12729B}">
      <dsp:nvSpPr>
        <dsp:cNvPr id="0" name=""/>
        <dsp:cNvSpPr/>
      </dsp:nvSpPr>
      <dsp:spPr>
        <a:xfrm>
          <a:off x="0" y="222848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Το ποσοστό των πακέτων που απορρίφθηκαν επειδή η ουρά ήταν γεμάτη.</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(Σύνολο Απορρίψεων / Σύνολο Αποστολών) * 100</a:t>
          </a:r>
          <a:endParaRPr lang="en-US" sz="1400" kern="1200"/>
        </a:p>
      </dsp:txBody>
      <dsp:txXfrm>
        <a:off x="0" y="2228483"/>
        <a:ext cx="10515600" cy="815850"/>
      </dsp:txXfrm>
    </dsp:sp>
    <dsp:sp modelId="{D0D30DD5-655B-426A-B62F-E1D3182EED69}">
      <dsp:nvSpPr>
        <dsp:cNvPr id="0" name=""/>
        <dsp:cNvSpPr/>
      </dsp:nvSpPr>
      <dsp:spPr>
        <a:xfrm>
          <a:off x="525780" y="202184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Packet Loss Rate (%):</a:t>
          </a:r>
          <a:endParaRPr lang="en-US" sz="1400" kern="1200"/>
        </a:p>
      </dsp:txBody>
      <dsp:txXfrm>
        <a:off x="545955" y="2042018"/>
        <a:ext cx="7320570" cy="372930"/>
      </dsp:txXfrm>
    </dsp:sp>
    <dsp:sp modelId="{BD4E4C64-7F6E-4910-83D7-7E9D8D90A9D4}">
      <dsp:nvSpPr>
        <dsp:cNvPr id="0" name=""/>
        <dsp:cNvSpPr/>
      </dsp:nvSpPr>
      <dsp:spPr>
        <a:xfrm>
          <a:off x="0" y="332657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Ο </a:t>
          </a:r>
          <a:r>
            <a:rPr lang="el-GR" sz="1400" b="1" kern="1200"/>
            <a:t>πραγματικός</a:t>
          </a:r>
          <a:r>
            <a:rPr lang="el-GR" sz="1400" kern="1200"/>
            <a:t> ρυθμός δεδομένων που έφτασαν επιτυχώς στον προορισμό.</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(Συνολικά Bits που λήφθηκαν) / (Συνολικός Χρόνος)</a:t>
          </a:r>
          <a:endParaRPr lang="en-US" sz="1400" kern="1200"/>
        </a:p>
      </dsp:txBody>
      <dsp:txXfrm>
        <a:off x="0" y="3326573"/>
        <a:ext cx="10515600" cy="815850"/>
      </dsp:txXfrm>
    </dsp:sp>
    <dsp:sp modelId="{F1EB2861-F0AC-4A7F-B732-D4F9C9A4D1D2}">
      <dsp:nvSpPr>
        <dsp:cNvPr id="0" name=""/>
        <dsp:cNvSpPr/>
      </dsp:nvSpPr>
      <dsp:spPr>
        <a:xfrm>
          <a:off x="525780" y="311993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dirty="0"/>
            <a:t>Throughput (Mbps):</a:t>
          </a:r>
          <a:endParaRPr lang="en-US" sz="1400" kern="1200" dirty="0"/>
        </a:p>
      </dsp:txBody>
      <dsp:txXfrm>
        <a:off x="545955" y="3140108"/>
        <a:ext cx="7320570" cy="37293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2137C-021D-4A9D-A859-D245201B58F6}" type="datetimeFigureOut">
              <a:rPr lang="en-US" smtClean="0"/>
              <a:t>11/22/2025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D9DC48-A198-457F-ABAC-AE902410F194}" type="slidenum">
              <a:rPr lang="en-US" smtClean="0"/>
              <a:t>‹#›</a:t>
            </a:fld>
            <a:endParaRPr lang="en-US"/>
          </a:p>
        </p:txBody>
      </p:sp>
    </p:spTree>
    <p:extLst>
      <p:ext uri="{BB962C8B-B14F-4D97-AF65-F5344CB8AC3E}">
        <p14:creationId xmlns:p14="http://schemas.microsoft.com/office/powerpoint/2010/main" val="1442506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9930-D240-3F76-6ACB-D73CB5270F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3F263B-4DCB-E1F8-EEB5-25EC77A736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610E4B-E913-153A-C91D-14ED4FA53CEB}"/>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EAF27815-7C5C-D483-D7F8-ADE937A3E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462BEF-87B2-4388-60EE-420B02F559E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433598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DC640-2D88-C12A-9E19-2A84991D2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187C6-EC13-8020-DBFC-009DAE13C3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1E6F57-DBE6-3B08-0DF2-010D23F809BE}"/>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9C85A890-BC91-A478-40E2-AB3A78A2E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00B7F0-B1AD-0C62-E73C-951A3CD1D26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78666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E5AFD-874D-EF9A-CA23-8880346C45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285E73-29A4-0D36-FA10-ECAAC89FBC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4CBB0D-FEA0-4394-A84B-68034D7EF5B1}"/>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78D100FD-5905-A8F0-EDA3-6D56AA14B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6D7D24-8706-FB4C-CFA0-4C105A5CBFEB}"/>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32668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38DC-AEEB-FD0C-7685-A70811333D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953713-8873-518A-0B1C-23D343C469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86D314-5323-2DBE-4B8A-A8F8C3896E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F56853-66B2-AF62-430D-74A3546B5179}"/>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6" name="Footer Placeholder 5">
            <a:extLst>
              <a:ext uri="{FF2B5EF4-FFF2-40B4-BE49-F238E27FC236}">
                <a16:creationId xmlns:a16="http://schemas.microsoft.com/office/drawing/2014/main" id="{1E09B670-A49E-9042-8A9D-58E282B3E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D07C2-8F8C-FA5F-B3C8-1A12BD6EED6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7713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86F3E-6FCB-0798-FEDA-0D93AA7DEC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374DE7-0890-137D-1BCB-4AE4227CD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4F7D20-D347-11E8-325A-832A39941F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423A04-7075-F641-2524-4ABFDA8F8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8E0A21-1A33-79CD-985B-1E31600148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49218C-CDE7-3445-3C66-AFE4B09C3922}"/>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8" name="Footer Placeholder 7">
            <a:extLst>
              <a:ext uri="{FF2B5EF4-FFF2-40B4-BE49-F238E27FC236}">
                <a16:creationId xmlns:a16="http://schemas.microsoft.com/office/drawing/2014/main" id="{611518F0-6269-CAAA-85B9-1E482AD274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EF6AD2-2A08-A408-61BD-4ADBEBA4FBC7}"/>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941301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3DC-6334-9B25-228A-159CAEDFA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2BAD17-88EB-459A-6FFF-1D475511EC80}"/>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4" name="Footer Placeholder 3">
            <a:extLst>
              <a:ext uri="{FF2B5EF4-FFF2-40B4-BE49-F238E27FC236}">
                <a16:creationId xmlns:a16="http://schemas.microsoft.com/office/drawing/2014/main" id="{7B659942-92C1-69B6-AAF4-862E4DE037F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443B21-002A-539B-7694-259099759609}"/>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756607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0A816D-9227-E44A-65B2-0E3BD301ABF9}"/>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3" name="Footer Placeholder 2">
            <a:extLst>
              <a:ext uri="{FF2B5EF4-FFF2-40B4-BE49-F238E27FC236}">
                <a16:creationId xmlns:a16="http://schemas.microsoft.com/office/drawing/2014/main" id="{93232C6C-BEAD-5F49-798F-D9A2E853C2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4BF8FF-FB8A-64CC-E0DA-14F68F9045C2}"/>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0390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79E3C-CCC5-D7CE-BDEC-6E8EEF07A1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AEB43D-A860-893C-9131-25E7972AE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B55402-C38E-484A-2E21-567B06A5A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B179A-E402-39F3-D7C0-2CDE97831D26}"/>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6" name="Footer Placeholder 5">
            <a:extLst>
              <a:ext uri="{FF2B5EF4-FFF2-40B4-BE49-F238E27FC236}">
                <a16:creationId xmlns:a16="http://schemas.microsoft.com/office/drawing/2014/main" id="{F25193D0-C768-A35E-DEC9-D7F7FC1ABF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7553C-949C-0FC5-73E9-5E20A9B25E0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593906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55AB2-CF2A-5C33-71A5-C771568DA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52690A-80E9-9728-B739-A89966373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8FCC7C-99C2-0061-1609-329313390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D2D138-993A-6CAC-E95D-6BE2689A77D4}"/>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6" name="Footer Placeholder 5">
            <a:extLst>
              <a:ext uri="{FF2B5EF4-FFF2-40B4-BE49-F238E27FC236}">
                <a16:creationId xmlns:a16="http://schemas.microsoft.com/office/drawing/2014/main" id="{FB94B8B7-11D1-A137-4EA2-59FB7E172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9CA397-BABE-AC6A-1D82-64E97D622A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71748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AC6DF-446C-672F-CDA0-EF9904B4AE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D6C6D5-3398-A327-BB13-413A74C43C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DB8AB-9186-B9B9-2989-132E0A8CC237}"/>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145195D0-6E9F-D27A-B619-C8F68F0F3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CD565-A1DD-FCDB-2905-CB89E11FD1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6645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962030-CBD3-CDBC-4469-445262FB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7B23D1-5BF1-E6C5-601B-B3CA878F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9A5A9-D1AB-24FF-3ED6-892EB1B71CEF}"/>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DE5C6032-E4D1-AC09-A06A-1046301ECE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3D3C99-A5AF-2C23-AFF6-A04CD162683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7032177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AB1E1B-BBD1-BB6F-50BE-70551847B6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48D423-CB82-4401-0C1C-D111C86854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8A0F0-B336-7487-49C9-44C168B50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CFBE1030-CA92-5CB9-9500-868B74B4E4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C77F3-6DED-B9F8-3C85-E77B5B56B8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FDFA16-D16A-4331-9C77-BB24E985857E}" type="slidenum">
              <a:rPr lang="en-US" smtClean="0"/>
              <a:t>‹#›</a:t>
            </a:fld>
            <a:endParaRPr lang="en-US"/>
          </a:p>
        </p:txBody>
      </p:sp>
    </p:spTree>
    <p:extLst>
      <p:ext uri="{BB962C8B-B14F-4D97-AF65-F5344CB8AC3E}">
        <p14:creationId xmlns:p14="http://schemas.microsoft.com/office/powerpoint/2010/main" val="1167097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2A40346-F9F3-06C2-E617-FD9EEA083FE1}"/>
              </a:ext>
            </a:extLst>
          </p:cNvPr>
          <p:cNvSpPr>
            <a:spLocks noGrp="1"/>
          </p:cNvSpPr>
          <p:nvPr>
            <p:ph type="ctrTitle"/>
          </p:nvPr>
        </p:nvSpPr>
        <p:spPr>
          <a:xfrm>
            <a:off x="1314824" y="735106"/>
            <a:ext cx="10053763" cy="2928470"/>
          </a:xfrm>
        </p:spPr>
        <p:txBody>
          <a:bodyPr anchor="b">
            <a:normAutofit/>
          </a:bodyPr>
          <a:lstStyle/>
          <a:p>
            <a:r>
              <a:rPr lang="el-GR" sz="4800" b="1" dirty="0">
                <a:solidFill>
                  <a:srgbClr val="FFFFFF"/>
                </a:solidFill>
              </a:rPr>
              <a:t>Εργασία 13:</a:t>
            </a:r>
            <a:br>
              <a:rPr lang="el-GR" sz="4800" b="1" dirty="0">
                <a:solidFill>
                  <a:srgbClr val="FFFFFF"/>
                </a:solidFill>
              </a:rPr>
            </a:br>
            <a:r>
              <a:rPr lang="el-GR" sz="4800" b="1" dirty="0">
                <a:solidFill>
                  <a:srgbClr val="FFFFFF"/>
                </a:solidFill>
              </a:rPr>
              <a:t>Προσομοίωση &amp; Ανάλυση Απόδοσης Δικτύου με Python &amp; SimPy</a:t>
            </a:r>
            <a:endParaRPr lang="en-US" sz="4800" dirty="0">
              <a:solidFill>
                <a:srgbClr val="FFFFFF"/>
              </a:solidFill>
            </a:endParaRPr>
          </a:p>
        </p:txBody>
      </p:sp>
      <p:sp>
        <p:nvSpPr>
          <p:cNvPr id="3" name="Subtitle 2">
            <a:extLst>
              <a:ext uri="{FF2B5EF4-FFF2-40B4-BE49-F238E27FC236}">
                <a16:creationId xmlns:a16="http://schemas.microsoft.com/office/drawing/2014/main" id="{21038950-29F4-D7C7-295E-E48B37ED82DC}"/>
              </a:ext>
            </a:extLst>
          </p:cNvPr>
          <p:cNvSpPr>
            <a:spLocks noGrp="1"/>
          </p:cNvSpPr>
          <p:nvPr>
            <p:ph type="subTitle" idx="1"/>
          </p:nvPr>
        </p:nvSpPr>
        <p:spPr>
          <a:xfrm>
            <a:off x="1350682" y="4870824"/>
            <a:ext cx="10005951" cy="1458258"/>
          </a:xfrm>
        </p:spPr>
        <p:txBody>
          <a:bodyPr anchor="ctr">
            <a:noAutofit/>
          </a:bodyPr>
          <a:lstStyle/>
          <a:p>
            <a:pPr algn="l"/>
            <a:br>
              <a:rPr lang="en-US" sz="2800" b="1" dirty="0"/>
            </a:br>
            <a:br>
              <a:rPr lang="en-US" sz="2800" b="1" dirty="0"/>
            </a:br>
            <a:r>
              <a:rPr lang="el-GR" sz="2800" b="1" dirty="0"/>
              <a:t>Συνεργάτες:</a:t>
            </a:r>
            <a:br>
              <a:rPr lang="el-GR" sz="2800" b="1" dirty="0"/>
            </a:br>
            <a:r>
              <a:rPr lang="el-GR" sz="2800" b="1" dirty="0"/>
              <a:t>Αλέξανδρος Χαλαμπάκης</a:t>
            </a:r>
            <a:br>
              <a:rPr lang="el-GR" sz="2800" b="1" dirty="0"/>
            </a:br>
            <a:r>
              <a:rPr lang="el-GR" sz="2800" b="1" dirty="0"/>
              <a:t>Παναγιώτης Παπανικολάου</a:t>
            </a:r>
            <a:endParaRPr lang="en-US" sz="2800" b="1" dirty="0"/>
          </a:p>
        </p:txBody>
      </p:sp>
      <p:sp>
        <p:nvSpPr>
          <p:cNvPr id="4" name="TextBox 3">
            <a:extLst>
              <a:ext uri="{FF2B5EF4-FFF2-40B4-BE49-F238E27FC236}">
                <a16:creationId xmlns:a16="http://schemas.microsoft.com/office/drawing/2014/main" id="{D86C1786-7919-A128-1834-B7E337DEB099}"/>
              </a:ext>
            </a:extLst>
          </p:cNvPr>
          <p:cNvSpPr txBox="1"/>
          <p:nvPr/>
        </p:nvSpPr>
        <p:spPr>
          <a:xfrm>
            <a:off x="3060189" y="4443979"/>
            <a:ext cx="6071616" cy="83099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l-GR" sz="2400" b="1" dirty="0"/>
              <a:t>Μελέτη Συμφόρησης, Καθυστερήσεων και Επίδρασης Bandwidth</a:t>
            </a:r>
            <a:endParaRPr lang="en-US" sz="2400" b="1" dirty="0"/>
          </a:p>
        </p:txBody>
      </p:sp>
    </p:spTree>
    <p:extLst>
      <p:ext uri="{BB962C8B-B14F-4D97-AF65-F5344CB8AC3E}">
        <p14:creationId xmlns:p14="http://schemas.microsoft.com/office/powerpoint/2010/main" val="1184222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BD2EEC-E24F-9F2F-0A20-F0677DFD0555}"/>
              </a:ext>
            </a:extLst>
          </p:cNvPr>
          <p:cNvSpPr>
            <a:spLocks noGrp="1"/>
          </p:cNvSpPr>
          <p:nvPr>
            <p:ph type="title"/>
          </p:nvPr>
        </p:nvSpPr>
        <p:spPr>
          <a:xfrm>
            <a:off x="826396" y="586855"/>
            <a:ext cx="4230100" cy="3387497"/>
          </a:xfrm>
        </p:spPr>
        <p:txBody>
          <a:bodyPr anchor="b">
            <a:normAutofit/>
          </a:bodyPr>
          <a:lstStyle/>
          <a:p>
            <a:pPr algn="ctr"/>
            <a:r>
              <a:rPr lang="el-GR" sz="4000" b="1" dirty="0">
                <a:solidFill>
                  <a:srgbClr val="FFFFFF"/>
                </a:solidFill>
              </a:rPr>
              <a:t>Το Πρόβλημα και τα Εργαλεία μας</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7C110CAD-5DE6-311F-D869-3CD41D5F63D6}"/>
              </a:ext>
            </a:extLst>
          </p:cNvPr>
          <p:cNvSpPr>
            <a:spLocks noGrp="1"/>
          </p:cNvSpPr>
          <p:nvPr>
            <p:ph idx="1"/>
          </p:nvPr>
        </p:nvSpPr>
        <p:spPr>
          <a:xfrm>
            <a:off x="6503158" y="649480"/>
            <a:ext cx="4862447" cy="5546047"/>
          </a:xfrm>
        </p:spPr>
        <p:txBody>
          <a:bodyPr anchor="ctr">
            <a:normAutofit/>
          </a:bodyPr>
          <a:lstStyle/>
          <a:p>
            <a:r>
              <a:rPr lang="el-GR" sz="1400" b="1" dirty="0"/>
              <a:t>Γιατί κάνουμε αυτή την Προσομοίωση;</a:t>
            </a:r>
            <a:endParaRPr lang="el-GR" sz="1400" dirty="0"/>
          </a:p>
          <a:p>
            <a:r>
              <a:rPr lang="el-GR" sz="1400" dirty="0"/>
              <a:t>Για να μελετήσουμε τη συμπεριφορά ενός δικτύου κάτω από συνθήκες  συμφόρησης σε ένα ελεγχόμενο, εικονικό περιβάλλον, χωρίς να επηρεάζουμε ένα πραγματικό δίκτυο.</a:t>
            </a:r>
          </a:p>
          <a:p>
            <a:r>
              <a:rPr lang="el-GR" sz="1400" b="1" dirty="0"/>
              <a:t>Το Εργαλείο μας: SimPy</a:t>
            </a:r>
            <a:endParaRPr lang="el-GR" sz="1400" dirty="0"/>
          </a:p>
          <a:p>
            <a:r>
              <a:rPr lang="el-GR" sz="1400" dirty="0"/>
              <a:t>Δεν είναι μια απλή βιβλιοθήκη, αλλά ένα framework για </a:t>
            </a:r>
            <a:r>
              <a:rPr lang="el-GR" sz="1400" b="1" dirty="0"/>
              <a:t>προσομοίωση διακριτών γεγονότων </a:t>
            </a:r>
            <a:r>
              <a:rPr lang="el-GR" sz="1400" dirty="0"/>
              <a:t>.</a:t>
            </a:r>
          </a:p>
          <a:p>
            <a:r>
              <a:rPr lang="el-GR" sz="1400" dirty="0"/>
              <a:t>Αυτό σημαίνει ότι ο χρόνος δεν κυλά συνεχόμενα, αλλά "πηδάει" από το ένα σημαντικό γεγονός στο επόμενο (π.χ., από τη δημιουργία ενός πακέτου στην άφιξή του στον router). Αυτό κάνει την προσομοίωση εξαιρετικά γρήγορη και αποδοτική.</a:t>
            </a:r>
          </a:p>
          <a:p>
            <a:r>
              <a:rPr lang="el-GR" sz="1400" b="1" dirty="0"/>
              <a:t>Η Τοπολογία του Δικτύου μας:</a:t>
            </a:r>
            <a:endParaRPr lang="el-GR" sz="1400" dirty="0"/>
          </a:p>
          <a:p>
            <a:r>
              <a:rPr lang="el-GR" sz="1400" b="1" dirty="0"/>
              <a:t>Source Host (Ο Αποστολέας):</a:t>
            </a:r>
            <a:r>
              <a:rPr lang="el-GR" sz="1400" dirty="0"/>
              <a:t> Δημιουργεί και στέλνει δεδομένα.</a:t>
            </a:r>
          </a:p>
          <a:p>
            <a:r>
              <a:rPr lang="el-GR" sz="1400" b="1" dirty="0"/>
              <a:t>Router</a:t>
            </a:r>
            <a:r>
              <a:rPr lang="en-US" sz="1400" b="1" dirty="0"/>
              <a:t>: </a:t>
            </a:r>
            <a:r>
              <a:rPr lang="el-GR" sz="1400" dirty="0"/>
              <a:t>Λαμβάνει πακέτα, τα βάζει σε μια ουρά και τα προωθεί προς τον προορισμό. Είναι το κεντρικό σημείο ελέγχου και το πιθανό σημείο συμφόρησης.</a:t>
            </a:r>
          </a:p>
          <a:p>
            <a:r>
              <a:rPr lang="el-GR" sz="1400" b="1" dirty="0"/>
              <a:t>Destination Host (Ο Παραλήπτης):</a:t>
            </a:r>
            <a:r>
              <a:rPr lang="el-GR" sz="1400" dirty="0"/>
              <a:t> Λαμβάνει τα δεδομένα.</a:t>
            </a:r>
          </a:p>
          <a:p>
            <a:pPr marL="0" indent="0">
              <a:buNone/>
            </a:pPr>
            <a:endParaRPr lang="en-US" sz="1400" dirty="0"/>
          </a:p>
        </p:txBody>
      </p:sp>
    </p:spTree>
    <p:extLst>
      <p:ext uri="{BB962C8B-B14F-4D97-AF65-F5344CB8AC3E}">
        <p14:creationId xmlns:p14="http://schemas.microsoft.com/office/powerpoint/2010/main" val="2109553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A3E1-6CEC-0B57-9022-68D06F490168}"/>
              </a:ext>
            </a:extLst>
          </p:cNvPr>
          <p:cNvSpPr>
            <a:spLocks noGrp="1"/>
          </p:cNvSpPr>
          <p:nvPr>
            <p:ph type="title"/>
          </p:nvPr>
        </p:nvSpPr>
        <p:spPr/>
        <p:txBody>
          <a:bodyPr/>
          <a:lstStyle/>
          <a:p>
            <a:r>
              <a:rPr lang="el-GR" b="1" dirty="0"/>
              <a:t>Οι Ιδιότητες του Δικτύου &amp; της Κίνησης</a:t>
            </a:r>
            <a:endParaRPr lang="en-US" dirty="0"/>
          </a:p>
        </p:txBody>
      </p:sp>
      <p:graphicFrame>
        <p:nvGraphicFramePr>
          <p:cNvPr id="5" name="Content Placeholder 2">
            <a:extLst>
              <a:ext uri="{FF2B5EF4-FFF2-40B4-BE49-F238E27FC236}">
                <a16:creationId xmlns:a16="http://schemas.microsoft.com/office/drawing/2014/main" id="{E06E0085-64CE-D8F3-2585-FBC149C9D2F7}"/>
              </a:ext>
            </a:extLst>
          </p:cNvPr>
          <p:cNvGraphicFramePr>
            <a:graphicFrameLocks noGrp="1"/>
          </p:cNvGraphicFramePr>
          <p:nvPr>
            <p:ph idx="1"/>
            <p:extLst>
              <p:ext uri="{D42A27DB-BD31-4B8C-83A1-F6EECF244321}">
                <p14:modId xmlns:p14="http://schemas.microsoft.com/office/powerpoint/2010/main" val="17046550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2162E5BD-25FB-FCAE-DE35-5255E989595B}"/>
              </a:ext>
            </a:extLst>
          </p:cNvPr>
          <p:cNvSpPr txBox="1"/>
          <p:nvPr/>
        </p:nvSpPr>
        <p:spPr>
          <a:xfrm>
            <a:off x="204216" y="6163438"/>
            <a:ext cx="11987784" cy="646331"/>
          </a:xfrm>
          <a:prstGeom prst="rect">
            <a:avLst/>
          </a:prstGeom>
          <a:noFill/>
        </p:spPr>
        <p:txBody>
          <a:bodyPr wrap="square" rtlCol="0">
            <a:spAutoFit/>
          </a:bodyPr>
          <a:lstStyle/>
          <a:p>
            <a:r>
              <a:rPr lang="el-GR" b="1" dirty="0"/>
              <a:t>Η Σύγκρουση:</a:t>
            </a:r>
            <a:r>
              <a:rPr lang="el-GR" dirty="0"/>
              <a:t> Η πηγή στέλνει ένα νέο πακέτο κάθε </a:t>
            </a:r>
            <a:r>
              <a:rPr lang="el-GR" b="1" dirty="0"/>
              <a:t>5ms</a:t>
            </a:r>
            <a:r>
              <a:rPr lang="el-GR" dirty="0"/>
              <a:t>. Ο router όμως χρειάζεται </a:t>
            </a:r>
            <a:r>
              <a:rPr lang="el-GR" b="1" dirty="0"/>
              <a:t>8ms</a:t>
            </a:r>
            <a:r>
              <a:rPr lang="el-GR" dirty="0"/>
              <a:t> για να ολοκληρώσει την αποστολή ενός πακέτου (8ms μετάδοση).</a:t>
            </a:r>
            <a:endParaRPr lang="en-US" dirty="0"/>
          </a:p>
        </p:txBody>
      </p:sp>
    </p:spTree>
    <p:extLst>
      <p:ext uri="{BB962C8B-B14F-4D97-AF65-F5344CB8AC3E}">
        <p14:creationId xmlns:p14="http://schemas.microsoft.com/office/powerpoint/2010/main" val="874597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09724C-B369-10C7-57B4-E5CF06E0F17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3700" b="1" kern="1200" dirty="0" err="1">
                <a:solidFill>
                  <a:srgbClr val="FFFFFF"/>
                </a:solidFill>
                <a:latin typeface="+mj-lt"/>
                <a:ea typeface="+mj-ea"/>
                <a:cs typeface="+mj-cs"/>
              </a:rPr>
              <a:t>Αν</a:t>
            </a:r>
            <a:r>
              <a:rPr lang="en-US" sz="3700" b="1" kern="1200" dirty="0">
                <a:solidFill>
                  <a:srgbClr val="FFFFFF"/>
                </a:solidFill>
                <a:latin typeface="+mj-lt"/>
                <a:ea typeface="+mj-ea"/>
                <a:cs typeface="+mj-cs"/>
              </a:rPr>
              <a:t>ατομία της Συνολικής Καθυστέρησης (End-to-End Delay)</a:t>
            </a:r>
            <a:endParaRPr lang="en-US" sz="3700" kern="1200" dirty="0">
              <a:solidFill>
                <a:srgbClr val="FFFFFF"/>
              </a:solidFill>
              <a:latin typeface="+mj-lt"/>
              <a:ea typeface="+mj-ea"/>
              <a:cs typeface="+mj-cs"/>
            </a:endParaRPr>
          </a:p>
        </p:txBody>
      </p:sp>
      <p:sp>
        <p:nvSpPr>
          <p:cNvPr id="3" name="Subtitle 2">
            <a:extLst>
              <a:ext uri="{FF2B5EF4-FFF2-40B4-BE49-F238E27FC236}">
                <a16:creationId xmlns:a16="http://schemas.microsoft.com/office/drawing/2014/main" id="{7DFCEAC8-DF5E-B8C6-7598-602B648D45BE}"/>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1800" dirty="0"/>
              <a:t>Η </a:t>
            </a:r>
            <a:r>
              <a:rPr lang="en-US" sz="1800" dirty="0" err="1"/>
              <a:t>συνολική</a:t>
            </a:r>
            <a:r>
              <a:rPr lang="en-US" sz="1800" dirty="0"/>
              <a:t> κα</a:t>
            </a:r>
            <a:r>
              <a:rPr lang="en-US" sz="1800" dirty="0" err="1"/>
              <a:t>θυστέρηση</a:t>
            </a:r>
            <a:r>
              <a:rPr lang="en-US" sz="1800" dirty="0"/>
              <a:t> απ</a:t>
            </a:r>
            <a:r>
              <a:rPr lang="en-US" sz="1800" dirty="0" err="1"/>
              <a:t>οτελείτ</a:t>
            </a:r>
            <a:r>
              <a:rPr lang="en-US" sz="1800" dirty="0"/>
              <a:t>αι από πολλά κομμάτια:</a:t>
            </a:r>
          </a:p>
          <a:p>
            <a:pPr indent="-228600" algn="l">
              <a:buFont typeface="Arial" panose="020B0604020202020204" pitchFamily="34" charset="0"/>
              <a:buChar char="•"/>
            </a:pPr>
            <a:r>
              <a:rPr lang="en-US" sz="1800" b="1" dirty="0"/>
              <a:t>Propagation Delay (Source → Router):</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router.</a:t>
            </a:r>
          </a:p>
          <a:p>
            <a:pPr indent="-228600" algn="l">
              <a:buFont typeface="Arial" panose="020B0604020202020204" pitchFamily="34" charset="0"/>
              <a:buChar char="•"/>
            </a:pPr>
            <a:r>
              <a:rPr lang="en-US" sz="1800" b="1" dirty="0"/>
              <a:t>Queuing Delay (Router):</a:t>
            </a:r>
            <a:r>
              <a:rPr lang="en-US" sz="1800" dirty="0"/>
              <a:t> </a:t>
            </a:r>
            <a:r>
              <a:rPr lang="en-US" sz="1800" b="1" dirty="0"/>
              <a:t>Ο ΜΕΤΑΒΛΗΤΟΣ ΠΑΡΑΓΟΝΤΑΣ!</a:t>
            </a:r>
            <a:r>
              <a:rPr lang="en-US" sz="1800" dirty="0"/>
              <a:t> Ο </a:t>
            </a:r>
            <a:r>
              <a:rPr lang="en-US" sz="1800" dirty="0" err="1"/>
              <a:t>χρόνος</a:t>
            </a:r>
            <a:r>
              <a:rPr lang="en-US" sz="1800" dirty="0"/>
              <a:t> π</a:t>
            </a:r>
            <a:r>
              <a:rPr lang="en-US" sz="1800" dirty="0" err="1"/>
              <a:t>ου</a:t>
            </a:r>
            <a:r>
              <a:rPr lang="en-US" sz="1800" dirty="0"/>
              <a:t> </a:t>
            </a:r>
            <a:r>
              <a:rPr lang="en-US" sz="1800" dirty="0" err="1"/>
              <a:t>το</a:t>
            </a:r>
            <a:r>
              <a:rPr lang="en-US" sz="1800" dirty="0"/>
              <a:t> πα</a:t>
            </a:r>
            <a:r>
              <a:rPr lang="en-US" sz="1800" dirty="0" err="1"/>
              <a:t>κέτο</a:t>
            </a:r>
            <a:r>
              <a:rPr lang="en-US" sz="1800" dirty="0"/>
              <a:t> π</a:t>
            </a:r>
            <a:r>
              <a:rPr lang="en-US" sz="1800" dirty="0" err="1"/>
              <a:t>εριμένει</a:t>
            </a:r>
            <a:r>
              <a:rPr lang="en-US" sz="1800" dirty="0"/>
              <a:t> </a:t>
            </a:r>
            <a:r>
              <a:rPr lang="en-US" sz="1800" dirty="0" err="1"/>
              <a:t>στην</a:t>
            </a:r>
            <a:r>
              <a:rPr lang="en-US" sz="1800" dirty="0"/>
              <a:t> </a:t>
            </a:r>
            <a:r>
              <a:rPr lang="en-US" sz="1800" dirty="0" err="1"/>
              <a:t>ουρά</a:t>
            </a:r>
            <a:r>
              <a:rPr lang="en-US" sz="1800" dirty="0"/>
              <a:t>. Μπ</a:t>
            </a:r>
            <a:r>
              <a:rPr lang="en-US" sz="1800" dirty="0" err="1"/>
              <a:t>ορεί</a:t>
            </a:r>
            <a:r>
              <a:rPr lang="en-US" sz="1800" dirty="0"/>
              <a:t> να </a:t>
            </a:r>
            <a:r>
              <a:rPr lang="en-US" sz="1800" dirty="0" err="1"/>
              <a:t>είν</a:t>
            </a:r>
            <a:r>
              <a:rPr lang="en-US" sz="1800" dirty="0"/>
              <a:t>αι από μηδέν μέχρι πολύ μεγάλος.</a:t>
            </a:r>
          </a:p>
          <a:p>
            <a:pPr indent="-228600" algn="l">
              <a:buFont typeface="Arial" panose="020B0604020202020204" pitchFamily="34" charset="0"/>
              <a:buChar char="•"/>
            </a:pPr>
            <a:r>
              <a:rPr lang="en-US" sz="1800" b="1" dirty="0"/>
              <a:t>Transmission Delay (Router):</a:t>
            </a:r>
            <a:r>
              <a:rPr lang="en-US" sz="1800" dirty="0"/>
              <a:t> Ο </a:t>
            </a:r>
            <a:r>
              <a:rPr lang="en-US" sz="1800" dirty="0" err="1"/>
              <a:t>χρόνος</a:t>
            </a:r>
            <a:r>
              <a:rPr lang="en-US" sz="1800" dirty="0"/>
              <a:t> π</a:t>
            </a:r>
            <a:r>
              <a:rPr lang="en-US" sz="1800" dirty="0" err="1"/>
              <a:t>ου</a:t>
            </a:r>
            <a:r>
              <a:rPr lang="en-US" sz="1800" dirty="0"/>
              <a:t> ο router "</a:t>
            </a:r>
            <a:r>
              <a:rPr lang="en-US" sz="1800" dirty="0" err="1"/>
              <a:t>γράφει</a:t>
            </a:r>
            <a:r>
              <a:rPr lang="en-US" sz="1800" dirty="0"/>
              <a:t>" </a:t>
            </a:r>
            <a:r>
              <a:rPr lang="en-US" sz="1800" dirty="0" err="1"/>
              <a:t>το</a:t>
            </a:r>
            <a:r>
              <a:rPr lang="en-US" sz="1800" dirty="0"/>
              <a:t> πα</a:t>
            </a:r>
            <a:r>
              <a:rPr lang="en-US" sz="1800" dirty="0" err="1"/>
              <a:t>κέτο</a:t>
            </a:r>
            <a:r>
              <a:rPr lang="en-US" sz="1800" dirty="0"/>
              <a:t> </a:t>
            </a:r>
            <a:r>
              <a:rPr lang="en-US" sz="1800" dirty="0" err="1"/>
              <a:t>στην</a:t>
            </a:r>
            <a:r>
              <a:rPr lang="en-US" sz="1800" dirty="0"/>
              <a:t> </a:t>
            </a:r>
            <a:r>
              <a:rPr lang="en-US" sz="1800" dirty="0" err="1"/>
              <a:t>εξερχόμενη</a:t>
            </a:r>
            <a:r>
              <a:rPr lang="en-US" sz="1800" dirty="0"/>
              <a:t> </a:t>
            </a:r>
            <a:r>
              <a:rPr lang="en-US" sz="1800" dirty="0" err="1"/>
              <a:t>γρ</a:t>
            </a:r>
            <a:r>
              <a:rPr lang="en-US" sz="1800" dirty="0"/>
              <a:t>αμμή.</a:t>
            </a:r>
          </a:p>
          <a:p>
            <a:pPr indent="-228600" algn="l">
              <a:buFont typeface="Arial" panose="020B0604020202020204" pitchFamily="34" charset="0"/>
              <a:buChar char="•"/>
            </a:pPr>
            <a:r>
              <a:rPr lang="en-US" sz="1800" b="1" dirty="0"/>
              <a:t>Propagation Delay (Router → Destination):</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π</a:t>
            </a:r>
            <a:r>
              <a:rPr lang="en-US" sz="1800" dirty="0" err="1"/>
              <a:t>ροορισμό</a:t>
            </a:r>
            <a:r>
              <a:rPr lang="en-US" sz="1800" dirty="0"/>
              <a:t>.</a:t>
            </a:r>
          </a:p>
          <a:p>
            <a:pPr algn="l"/>
            <a:endParaRPr lang="en-US" sz="1800" dirty="0"/>
          </a:p>
        </p:txBody>
      </p:sp>
    </p:spTree>
    <p:extLst>
      <p:ext uri="{BB962C8B-B14F-4D97-AF65-F5344CB8AC3E}">
        <p14:creationId xmlns:p14="http://schemas.microsoft.com/office/powerpoint/2010/main" val="313270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Shape 5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7" name="Rectangle 5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690270-BD5A-0889-FE6A-8129D123B369}"/>
              </a:ext>
            </a:extLst>
          </p:cNvPr>
          <p:cNvSpPr>
            <a:spLocks noGrp="1"/>
          </p:cNvSpPr>
          <p:nvPr>
            <p:ph type="title"/>
          </p:nvPr>
        </p:nvSpPr>
        <p:spPr>
          <a:xfrm>
            <a:off x="466722" y="586855"/>
            <a:ext cx="3201366" cy="3387497"/>
          </a:xfrm>
        </p:spPr>
        <p:txBody>
          <a:bodyPr anchor="b">
            <a:normAutofit/>
          </a:bodyPr>
          <a:lstStyle/>
          <a:p>
            <a:pPr algn="ctr"/>
            <a:r>
              <a:rPr lang="el-GR" sz="4000" b="1" dirty="0">
                <a:solidFill>
                  <a:srgbClr val="FFFFFF"/>
                </a:solidFill>
              </a:rPr>
              <a:t>Διαχείριση της Συμφόρησης</a:t>
            </a:r>
            <a:endParaRPr lang="en-US" sz="4000" dirty="0">
              <a:solidFill>
                <a:srgbClr val="FFFFFF"/>
              </a:solidFill>
            </a:endParaRPr>
          </a:p>
        </p:txBody>
      </p:sp>
      <p:graphicFrame>
        <p:nvGraphicFramePr>
          <p:cNvPr id="5" name="Content Placeholder 4">
            <a:extLst>
              <a:ext uri="{FF2B5EF4-FFF2-40B4-BE49-F238E27FC236}">
                <a16:creationId xmlns:a16="http://schemas.microsoft.com/office/drawing/2014/main" id="{6EE28F5D-2F80-B998-B911-3C29916887DF}"/>
              </a:ext>
            </a:extLst>
          </p:cNvPr>
          <p:cNvGraphicFramePr>
            <a:graphicFrameLocks noGrp="1"/>
          </p:cNvGraphicFramePr>
          <p:nvPr>
            <p:ph idx="1"/>
            <p:extLst>
              <p:ext uri="{D42A27DB-BD31-4B8C-83A1-F6EECF244321}">
                <p14:modId xmlns:p14="http://schemas.microsoft.com/office/powerpoint/2010/main" val="2727721538"/>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90990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4396E4-C4E5-EAFF-0B9F-7BB5AF8DC05C}"/>
              </a:ext>
            </a:extLst>
          </p:cNvPr>
          <p:cNvPicPr>
            <a:picLocks noChangeAspect="1"/>
          </p:cNvPicPr>
          <p:nvPr/>
        </p:nvPicPr>
        <p:blipFill>
          <a:blip r:embed="rId2">
            <a:duotone>
              <a:schemeClr val="bg2">
                <a:shade val="45000"/>
                <a:satMod val="135000"/>
              </a:schemeClr>
              <a:prstClr val="white"/>
            </a:duotone>
          </a:blip>
          <a:srcRect t="25325" b="9457"/>
          <a:stretch>
            <a:fill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Diagram 3">
            <a:extLst>
              <a:ext uri="{FF2B5EF4-FFF2-40B4-BE49-F238E27FC236}">
                <a16:creationId xmlns:a16="http://schemas.microsoft.com/office/drawing/2014/main" id="{7C515674-5814-A146-471D-49C5999FC2A6}"/>
              </a:ext>
            </a:extLst>
          </p:cNvPr>
          <p:cNvGraphicFramePr/>
          <p:nvPr>
            <p:extLst>
              <p:ext uri="{D42A27DB-BD31-4B8C-83A1-F6EECF244321}">
                <p14:modId xmlns:p14="http://schemas.microsoft.com/office/powerpoint/2010/main" val="3227629140"/>
              </p:ext>
            </p:extLst>
          </p:nvPr>
        </p:nvGraphicFramePr>
        <p:xfrm>
          <a:off x="838200" y="365125"/>
          <a:ext cx="10515600"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2">
            <a:extLst>
              <a:ext uri="{FF2B5EF4-FFF2-40B4-BE49-F238E27FC236}">
                <a16:creationId xmlns:a16="http://schemas.microsoft.com/office/drawing/2014/main" id="{9DF44E60-03CB-C21E-1052-04C0334B4C6A}"/>
              </a:ext>
            </a:extLst>
          </p:cNvPr>
          <p:cNvGraphicFramePr>
            <a:graphicFrameLocks noGrp="1"/>
          </p:cNvGraphicFramePr>
          <p:nvPr>
            <p:ph idx="1"/>
            <p:extLst>
              <p:ext uri="{D42A27DB-BD31-4B8C-83A1-F6EECF244321}">
                <p14:modId xmlns:p14="http://schemas.microsoft.com/office/powerpoint/2010/main" val="3927519561"/>
              </p:ext>
            </p:extLst>
          </p:nvPr>
        </p:nvGraphicFramePr>
        <p:xfrm>
          <a:off x="838200" y="2304287"/>
          <a:ext cx="10515600" cy="41885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TextBox 6">
            <a:extLst>
              <a:ext uri="{FF2B5EF4-FFF2-40B4-BE49-F238E27FC236}">
                <a16:creationId xmlns:a16="http://schemas.microsoft.com/office/drawing/2014/main" id="{6AF6A19E-59CC-24E5-FE3F-75C8ABC52D6B}"/>
              </a:ext>
            </a:extLst>
          </p:cNvPr>
          <p:cNvSpPr txBox="1"/>
          <p:nvPr/>
        </p:nvSpPr>
        <p:spPr>
          <a:xfrm>
            <a:off x="838200" y="1812821"/>
            <a:ext cx="7772400" cy="369332"/>
          </a:xfrm>
          <a:prstGeom prst="rect">
            <a:avLst/>
          </a:prstGeom>
          <a:noFill/>
        </p:spPr>
        <p:txBody>
          <a:bodyPr wrap="square" rtlCol="0">
            <a:spAutoFit/>
          </a:bodyPr>
          <a:lstStyle/>
          <a:p>
            <a:pPr lvl="0"/>
            <a:r>
              <a:rPr lang="el-GR" b="1" dirty="0"/>
              <a:t>Για να αξιολογήσουμε την απόδοση, συλλέξαμε 4 βασικές μετρικές:</a:t>
            </a:r>
            <a:endParaRPr lang="en-US" b="1" dirty="0"/>
          </a:p>
        </p:txBody>
      </p:sp>
    </p:spTree>
    <p:extLst>
      <p:ext uri="{BB962C8B-B14F-4D97-AF65-F5344CB8AC3E}">
        <p14:creationId xmlns:p14="http://schemas.microsoft.com/office/powerpoint/2010/main" val="3734183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9C8495-E3B2-9A61-57C1-80E4364B0A3B}"/>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Ανάλυση Συμφόρησης (1 Mbps)</a:t>
            </a:r>
          </a:p>
        </p:txBody>
      </p:sp>
      <p:sp>
        <p:nvSpPr>
          <p:cNvPr id="3" name="Subtitle 2">
            <a:extLst>
              <a:ext uri="{FF2B5EF4-FFF2-40B4-BE49-F238E27FC236}">
                <a16:creationId xmlns:a16="http://schemas.microsoft.com/office/drawing/2014/main" id="{DF362391-C794-2225-C6B3-117B23D1A279}"/>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algn="l"/>
            <a:r>
              <a:rPr lang="en-US" sz="1900" b="1" dirty="0"/>
              <a:t>Queue Size </a:t>
            </a:r>
            <a:r>
              <a:rPr lang="en-US" sz="1900" dirty="0"/>
              <a:t>(</a:t>
            </a:r>
            <a:r>
              <a:rPr lang="en-US" sz="1900" dirty="0" err="1"/>
              <a:t>Μέγεθος</a:t>
            </a:r>
            <a:r>
              <a:rPr lang="en-US" sz="1900" dirty="0"/>
              <a:t> </a:t>
            </a:r>
            <a:r>
              <a:rPr lang="en-US" sz="1900" dirty="0" err="1"/>
              <a:t>Ουράς</a:t>
            </a:r>
            <a:r>
              <a:rPr lang="en-US" sz="1900" dirty="0"/>
              <a:t>):  Η </a:t>
            </a:r>
            <a:r>
              <a:rPr lang="en-US" sz="1900" dirty="0" err="1"/>
              <a:t>γρ</a:t>
            </a:r>
            <a:r>
              <a:rPr lang="en-US" sz="1900" dirty="0"/>
              <a:t>αμμή ανεβαίνει αμέσως και "καρφώνεται" στο 10 (Μέγιστο).  </a:t>
            </a:r>
            <a:r>
              <a:rPr lang="en-US" sz="1900" dirty="0" err="1"/>
              <a:t>Αιτί</a:t>
            </a:r>
            <a:r>
              <a:rPr lang="en-US" sz="1900" dirty="0"/>
              <a:t>α: Ο ρυθμός άφιξης (200 pkts/s) είναι μεγαλύτερος από τον ρυθμό που ο Router μπορεί να διώξει τα πακέτα (125 pkts/s). Η </a:t>
            </a:r>
            <a:r>
              <a:rPr lang="en-US" sz="1900" dirty="0" err="1"/>
              <a:t>ουρά</a:t>
            </a:r>
            <a:r>
              <a:rPr lang="en-US" sz="1900" dirty="0"/>
              <a:t> </a:t>
            </a:r>
            <a:r>
              <a:rPr lang="en-US" sz="1900" dirty="0" err="1"/>
              <a:t>γεμίζει</a:t>
            </a:r>
            <a:r>
              <a:rPr lang="en-US" sz="1900" dirty="0"/>
              <a:t> και </a:t>
            </a:r>
            <a:r>
              <a:rPr lang="en-US" sz="1900" dirty="0" err="1"/>
              <a:t>δεν</a:t>
            </a:r>
            <a:r>
              <a:rPr lang="en-US" sz="1900" dirty="0"/>
              <a:t> α</a:t>
            </a:r>
            <a:r>
              <a:rPr lang="en-US" sz="1900" dirty="0" err="1"/>
              <a:t>δειάζει</a:t>
            </a:r>
            <a:r>
              <a:rPr lang="en-US" sz="1900" dirty="0"/>
              <a:t> π</a:t>
            </a:r>
            <a:r>
              <a:rPr lang="en-US" sz="1900" dirty="0" err="1"/>
              <a:t>οτέ</a:t>
            </a:r>
            <a:r>
              <a:rPr lang="en-US" sz="1900" dirty="0"/>
              <a:t>.  </a:t>
            </a:r>
            <a:br>
              <a:rPr lang="en-US" sz="1900" dirty="0"/>
            </a:br>
            <a:br>
              <a:rPr lang="en-US" sz="1900" dirty="0"/>
            </a:br>
            <a:r>
              <a:rPr lang="en-US" sz="1900" b="1" dirty="0"/>
              <a:t>End-to-End Delay </a:t>
            </a:r>
            <a:r>
              <a:rPr lang="en-US" sz="1900" dirty="0"/>
              <a:t>(Κα</a:t>
            </a:r>
            <a:r>
              <a:rPr lang="en-US" sz="1900" dirty="0" err="1"/>
              <a:t>θυστέρηση</a:t>
            </a:r>
            <a:r>
              <a:rPr lang="en-US" sz="1900" dirty="0"/>
              <a:t>):  </a:t>
            </a:r>
            <a:r>
              <a:rPr lang="en-US" sz="1900" dirty="0" err="1"/>
              <a:t>Στ</a:t>
            </a:r>
            <a:r>
              <a:rPr lang="en-US" sz="1900" dirty="0"/>
              <a:t>αθεροποιείται στα 0.188s.  Μα</a:t>
            </a:r>
            <a:r>
              <a:rPr lang="en-US" sz="1900" dirty="0" err="1"/>
              <a:t>θημ</a:t>
            </a:r>
            <a:r>
              <a:rPr lang="en-US" sz="1900" dirty="0"/>
              <a:t>ατική Εξήγηση: Είναι το άθροισμα της ελάχιστης καθυστέρησης (0.108s) συν τον χρόνο αναμονής στην ουρά για 10 πακέτα (10×0.008s=0.08s).  </a:t>
            </a:r>
            <a:br>
              <a:rPr lang="en-US" sz="1900" dirty="0"/>
            </a:br>
            <a:br>
              <a:rPr lang="en-US" sz="1900" dirty="0"/>
            </a:br>
            <a:r>
              <a:rPr lang="en-US" sz="1900" b="1" dirty="0"/>
              <a:t>Packet Loss </a:t>
            </a:r>
            <a:r>
              <a:rPr lang="en-US" sz="1900" dirty="0"/>
              <a:t>(Απ</a:t>
            </a:r>
            <a:r>
              <a:rPr lang="en-US" sz="1900" dirty="0" err="1"/>
              <a:t>ώλειες</a:t>
            </a:r>
            <a:r>
              <a:rPr lang="en-US" sz="1900" dirty="0"/>
              <a:t>):  </a:t>
            </a:r>
            <a:r>
              <a:rPr lang="en-US" sz="1900" dirty="0" err="1"/>
              <a:t>Το</a:t>
            </a:r>
            <a:r>
              <a:rPr lang="en-US" sz="1900" dirty="0"/>
              <a:t> π</a:t>
            </a:r>
            <a:r>
              <a:rPr lang="en-US" sz="1900" dirty="0" err="1"/>
              <a:t>οσοστό</a:t>
            </a:r>
            <a:r>
              <a:rPr lang="en-US" sz="1900" dirty="0"/>
              <a:t> </a:t>
            </a:r>
            <a:r>
              <a:rPr lang="en-US" sz="1900" dirty="0" err="1"/>
              <a:t>είν</a:t>
            </a:r>
            <a:r>
              <a:rPr lang="en-US" sz="1900" dirty="0"/>
              <a:t>αι ~37.5%,γιατί ο Router απορρίπτει αναγκαστικά τα 75 από τα 200 πακέτα που έρχονται κάθε δευτερόλεπτο, καθώς δεν χωράνε στην ουρά.  </a:t>
            </a:r>
            <a:br>
              <a:rPr lang="en-US" sz="1900" dirty="0"/>
            </a:br>
            <a:br>
              <a:rPr lang="en-US" sz="1900" dirty="0"/>
            </a:br>
            <a:r>
              <a:rPr lang="en-US" sz="1900" b="1" dirty="0"/>
              <a:t>Throughput</a:t>
            </a:r>
            <a:r>
              <a:rPr lang="en-US" sz="1900" dirty="0"/>
              <a:t> (</a:t>
            </a:r>
            <a:r>
              <a:rPr lang="en-US" sz="1900" dirty="0" err="1"/>
              <a:t>Ρυθμ</a:t>
            </a:r>
            <a:r>
              <a:rPr lang="en-US" sz="1900" dirty="0"/>
              <a:t>απόδοση):  Η γραμμή είναι σταθερή στο 1.0 Mbps.  </a:t>
            </a:r>
            <a:r>
              <a:rPr lang="en-US" sz="1900" dirty="0" err="1"/>
              <a:t>Το</a:t>
            </a:r>
            <a:r>
              <a:rPr lang="en-US" sz="1900" dirty="0"/>
              <a:t> </a:t>
            </a:r>
            <a:r>
              <a:rPr lang="en-US" sz="1900" dirty="0" err="1"/>
              <a:t>δίκτυο</a:t>
            </a:r>
            <a:r>
              <a:rPr lang="en-US" sz="1900" dirty="0"/>
              <a:t> </a:t>
            </a:r>
            <a:r>
              <a:rPr lang="en-US" sz="1900" dirty="0" err="1"/>
              <a:t>δουλεύει</a:t>
            </a:r>
            <a:r>
              <a:rPr lang="en-US" sz="1900" dirty="0"/>
              <a:t> </a:t>
            </a:r>
            <a:r>
              <a:rPr lang="en-US" sz="1900" dirty="0" err="1"/>
              <a:t>στο</a:t>
            </a:r>
            <a:r>
              <a:rPr lang="en-US" sz="1900" dirty="0"/>
              <a:t> 100% </a:t>
            </a:r>
            <a:r>
              <a:rPr lang="en-US" sz="1900" dirty="0" err="1"/>
              <a:t>της</a:t>
            </a:r>
            <a:r>
              <a:rPr lang="en-US" sz="1900" dirty="0"/>
              <a:t> </a:t>
            </a:r>
            <a:r>
              <a:rPr lang="en-US" sz="1900" dirty="0" err="1"/>
              <a:t>χωρητικότητάς</a:t>
            </a:r>
            <a:r>
              <a:rPr lang="en-US" sz="1900" dirty="0"/>
              <a:t> </a:t>
            </a:r>
            <a:r>
              <a:rPr lang="en-US" sz="1900" dirty="0" err="1"/>
              <a:t>του</a:t>
            </a:r>
            <a:r>
              <a:rPr lang="en-US" sz="1900" dirty="0"/>
              <a:t>, α</a:t>
            </a:r>
            <a:r>
              <a:rPr lang="en-US" sz="1900" dirty="0" err="1"/>
              <a:t>λλά</a:t>
            </a:r>
            <a:r>
              <a:rPr lang="en-US" sz="1900" dirty="0"/>
              <a:t> α</a:t>
            </a:r>
            <a:r>
              <a:rPr lang="en-US" sz="1900" dirty="0" err="1"/>
              <a:t>υτό</a:t>
            </a:r>
            <a:r>
              <a:rPr lang="en-US" sz="1900" dirty="0"/>
              <a:t> </a:t>
            </a:r>
            <a:r>
              <a:rPr lang="en-US" sz="1900" dirty="0" err="1"/>
              <a:t>δεν</a:t>
            </a:r>
            <a:r>
              <a:rPr lang="en-US" sz="1900" dirty="0"/>
              <a:t> α</a:t>
            </a:r>
            <a:r>
              <a:rPr lang="en-US" sz="1900" dirty="0" err="1"/>
              <a:t>ρκεί</a:t>
            </a:r>
            <a:r>
              <a:rPr lang="en-US" sz="1900" dirty="0"/>
              <a:t> </a:t>
            </a:r>
            <a:r>
              <a:rPr lang="en-US" sz="1900" dirty="0" err="1"/>
              <a:t>γι</a:t>
            </a:r>
            <a:r>
              <a:rPr lang="en-US" sz="1900" dirty="0"/>
              <a:t>α να εξυπηρετήσει την κίνηση.</a:t>
            </a:r>
          </a:p>
        </p:txBody>
      </p:sp>
    </p:spTree>
    <p:extLst>
      <p:ext uri="{BB962C8B-B14F-4D97-AF65-F5344CB8AC3E}">
        <p14:creationId xmlns:p14="http://schemas.microsoft.com/office/powerpoint/2010/main" val="2962384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E41B41-3FB9-A14F-70E5-BB5AB91F3255}"/>
              </a:ext>
            </a:extLst>
          </p:cNvPr>
          <p:cNvPicPr>
            <a:picLocks noChangeAspect="1"/>
          </p:cNvPicPr>
          <p:nvPr/>
        </p:nvPicPr>
        <p:blipFill>
          <a:blip r:embed="rId2"/>
          <a:stretch>
            <a:fillRect/>
          </a:stretch>
        </p:blipFill>
        <p:spPr>
          <a:xfrm>
            <a:off x="0" y="-1"/>
            <a:ext cx="12192002" cy="6858001"/>
          </a:xfrm>
          <a:prstGeom prst="rect">
            <a:avLst/>
          </a:prstGeom>
        </p:spPr>
      </p:pic>
      <p:sp>
        <p:nvSpPr>
          <p:cNvPr id="19" name="TextBox 18">
            <a:extLst>
              <a:ext uri="{FF2B5EF4-FFF2-40B4-BE49-F238E27FC236}">
                <a16:creationId xmlns:a16="http://schemas.microsoft.com/office/drawing/2014/main" id="{6943F694-D939-467F-2D02-3159F6DC662D}"/>
              </a:ext>
            </a:extLst>
          </p:cNvPr>
          <p:cNvSpPr txBox="1"/>
          <p:nvPr/>
        </p:nvSpPr>
        <p:spPr>
          <a:xfrm>
            <a:off x="0" y="118872"/>
            <a:ext cx="1783080" cy="400110"/>
          </a:xfrm>
          <a:prstGeom prst="rect">
            <a:avLst/>
          </a:prstGeom>
          <a:noFill/>
        </p:spPr>
        <p:txBody>
          <a:bodyPr wrap="square" rtlCol="0">
            <a:spAutoFit/>
          </a:bodyPr>
          <a:lstStyle/>
          <a:p>
            <a:r>
              <a:rPr lang="el-GR" sz="2000" b="1" dirty="0"/>
              <a:t>1</a:t>
            </a:r>
            <a:r>
              <a:rPr lang="en-US" sz="2000" b="1" dirty="0"/>
              <a:t>Mbps</a:t>
            </a:r>
          </a:p>
        </p:txBody>
      </p:sp>
    </p:spTree>
    <p:extLst>
      <p:ext uri="{BB962C8B-B14F-4D97-AF65-F5344CB8AC3E}">
        <p14:creationId xmlns:p14="http://schemas.microsoft.com/office/powerpoint/2010/main" val="1871029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5213E8-E166-AFF4-1D07-72C335AB1FD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Στ</a:t>
            </a:r>
            <a:r>
              <a:rPr lang="en-US" sz="4000" b="1" kern="1200" dirty="0">
                <a:solidFill>
                  <a:srgbClr val="FFFFFF"/>
                </a:solidFill>
                <a:latin typeface="+mj-lt"/>
                <a:ea typeface="+mj-ea"/>
                <a:cs typeface="+mj-cs"/>
              </a:rPr>
              <a:t>αθερότητας (10 Mbps)</a:t>
            </a:r>
          </a:p>
        </p:txBody>
      </p:sp>
      <p:sp>
        <p:nvSpPr>
          <p:cNvPr id="3" name="Subtitle 2">
            <a:extLst>
              <a:ext uri="{FF2B5EF4-FFF2-40B4-BE49-F238E27FC236}">
                <a16:creationId xmlns:a16="http://schemas.microsoft.com/office/drawing/2014/main" id="{1B133BE4-4F36-C7BB-3F03-82CA1054143D}"/>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algn="l"/>
            <a:r>
              <a:rPr lang="en-US" sz="1700" b="1" dirty="0"/>
              <a:t>Queue Size </a:t>
            </a:r>
            <a:r>
              <a:rPr lang="en-US" sz="1700" dirty="0"/>
              <a:t>(</a:t>
            </a:r>
            <a:r>
              <a:rPr lang="en-US" sz="1700" dirty="0" err="1"/>
              <a:t>Μέγεθος</a:t>
            </a:r>
            <a:r>
              <a:rPr lang="en-US" sz="1700" dirty="0"/>
              <a:t> </a:t>
            </a:r>
            <a:r>
              <a:rPr lang="en-US" sz="1700" dirty="0" err="1"/>
              <a:t>Ουράς</a:t>
            </a:r>
            <a:r>
              <a:rPr lang="en-US" sz="1700" dirty="0"/>
              <a:t>):  Η </a:t>
            </a:r>
            <a:r>
              <a:rPr lang="en-US" sz="1700" dirty="0" err="1"/>
              <a:t>γρ</a:t>
            </a:r>
            <a:r>
              <a:rPr lang="en-US" sz="1700" dirty="0"/>
              <a:t>αμμή είναι "επίπεδη" στο 0. Με 10 Mbps, ο Router στέλνει ένα πακέτο σε μόλις 0.8ms. Επ</a:t>
            </a:r>
            <a:r>
              <a:rPr lang="en-US" sz="1700" dirty="0" err="1"/>
              <a:t>ειδή</a:t>
            </a:r>
            <a:r>
              <a:rPr lang="en-US" sz="1700" dirty="0"/>
              <a:t> </a:t>
            </a:r>
            <a:r>
              <a:rPr lang="en-US" sz="1700" dirty="0" err="1"/>
              <a:t>το</a:t>
            </a:r>
            <a:r>
              <a:rPr lang="en-US" sz="1700" dirty="0"/>
              <a:t> επ</a:t>
            </a:r>
            <a:r>
              <a:rPr lang="en-US" sz="1700" dirty="0" err="1"/>
              <a:t>όμενο</a:t>
            </a:r>
            <a:r>
              <a:rPr lang="en-US" sz="1700" dirty="0"/>
              <a:t> πα</a:t>
            </a:r>
            <a:r>
              <a:rPr lang="en-US" sz="1700" dirty="0" err="1"/>
              <a:t>κέτο</a:t>
            </a:r>
            <a:r>
              <a:rPr lang="en-US" sz="1700" dirty="0"/>
              <a:t> </a:t>
            </a:r>
            <a:r>
              <a:rPr lang="en-US" sz="1700" dirty="0" err="1"/>
              <a:t>έρχετ</a:t>
            </a:r>
            <a:r>
              <a:rPr lang="en-US" sz="1700" dirty="0"/>
              <a:t>αι σε 5ms, ο Router προλαβαίνει άνετα να αδειάσει την ουρά.  </a:t>
            </a:r>
            <a:br>
              <a:rPr lang="en-US" sz="1700" dirty="0"/>
            </a:br>
            <a:br>
              <a:rPr lang="en-US" sz="1700" dirty="0"/>
            </a:br>
            <a:r>
              <a:rPr lang="en-US" sz="1700" b="1" dirty="0"/>
              <a:t>End-to-End Delay </a:t>
            </a:r>
            <a:r>
              <a:rPr lang="en-US" sz="1700" dirty="0"/>
              <a:t>(Κα</a:t>
            </a:r>
            <a:r>
              <a:rPr lang="en-US" sz="1700" dirty="0" err="1"/>
              <a:t>θυστέρηση</a:t>
            </a:r>
            <a:r>
              <a:rPr lang="en-US" sz="1700" dirty="0"/>
              <a:t>):  </a:t>
            </a:r>
            <a:r>
              <a:rPr lang="en-US" sz="1700" dirty="0" err="1"/>
              <a:t>Μι</a:t>
            </a:r>
            <a:r>
              <a:rPr lang="en-US" sz="1700" dirty="0"/>
              <a:t>α ευθεία γραμμή στο ελάχιστο (~0.10s).  </a:t>
            </a:r>
            <a:r>
              <a:rPr lang="en-US" sz="1700" dirty="0" err="1"/>
              <a:t>Δεν</a:t>
            </a:r>
            <a:r>
              <a:rPr lang="en-US" sz="1700" dirty="0"/>
              <a:t> υπ</a:t>
            </a:r>
            <a:r>
              <a:rPr lang="en-US" sz="1700" dirty="0" err="1"/>
              <a:t>άρχει</a:t>
            </a:r>
            <a:r>
              <a:rPr lang="en-US" sz="1700" dirty="0"/>
              <a:t> κα</a:t>
            </a:r>
            <a:r>
              <a:rPr lang="en-US" sz="1700" dirty="0" err="1"/>
              <a:t>θυστέρηση</a:t>
            </a:r>
            <a:r>
              <a:rPr lang="en-US" sz="1700" dirty="0"/>
              <a:t> ανα</a:t>
            </a:r>
            <a:r>
              <a:rPr lang="en-US" sz="1700" dirty="0" err="1"/>
              <a:t>μονής</a:t>
            </a:r>
            <a:r>
              <a:rPr lang="en-US" sz="1700" dirty="0"/>
              <a:t> (Queuing Delay = 0), α</a:t>
            </a:r>
            <a:r>
              <a:rPr lang="en-US" sz="1700" dirty="0" err="1"/>
              <a:t>φού</a:t>
            </a:r>
            <a:r>
              <a:rPr lang="en-US" sz="1700" dirty="0"/>
              <a:t> </a:t>
            </a:r>
            <a:r>
              <a:rPr lang="en-US" sz="1700" dirty="0" err="1"/>
              <a:t>το</a:t>
            </a:r>
            <a:r>
              <a:rPr lang="en-US" sz="1700" dirty="0"/>
              <a:t> πα</a:t>
            </a:r>
            <a:r>
              <a:rPr lang="en-US" sz="1700" dirty="0" err="1"/>
              <a:t>κέτο</a:t>
            </a:r>
            <a:r>
              <a:rPr lang="en-US" sz="1700" dirty="0"/>
              <a:t> β</a:t>
            </a:r>
            <a:r>
              <a:rPr lang="en-US" sz="1700" dirty="0" err="1"/>
              <a:t>ρίσκει</a:t>
            </a:r>
            <a:r>
              <a:rPr lang="en-US" sz="1700" dirty="0"/>
              <a:t> </a:t>
            </a:r>
            <a:r>
              <a:rPr lang="en-US" sz="1700" dirty="0" err="1"/>
              <a:t>τον</a:t>
            </a:r>
            <a:r>
              <a:rPr lang="en-US" sz="1700" dirty="0"/>
              <a:t> Router </a:t>
            </a:r>
            <a:r>
              <a:rPr lang="en-US" sz="1700" dirty="0" err="1"/>
              <a:t>ελεύθερο</a:t>
            </a:r>
            <a:r>
              <a:rPr lang="en-US" sz="1700" dirty="0"/>
              <a:t> και </a:t>
            </a:r>
            <a:r>
              <a:rPr lang="en-US" sz="1700" dirty="0" err="1"/>
              <a:t>εξυ</a:t>
            </a:r>
            <a:r>
              <a:rPr lang="en-US" sz="1700" dirty="0"/>
              <a:t>πηρετείται αμέσως.  </a:t>
            </a:r>
            <a:br>
              <a:rPr lang="en-US" sz="1700" dirty="0"/>
            </a:br>
            <a:br>
              <a:rPr lang="en-US" sz="1700" dirty="0"/>
            </a:br>
            <a:r>
              <a:rPr lang="en-US" sz="1700" b="1" dirty="0"/>
              <a:t>Packet Loss </a:t>
            </a:r>
            <a:r>
              <a:rPr lang="en-US" sz="1700" dirty="0"/>
              <a:t>(Απ</a:t>
            </a:r>
            <a:r>
              <a:rPr lang="en-US" sz="1700" dirty="0" err="1"/>
              <a:t>ώλειες</a:t>
            </a:r>
            <a:r>
              <a:rPr lang="en-US" sz="1700" dirty="0"/>
              <a:t>):  </a:t>
            </a:r>
            <a:r>
              <a:rPr lang="en-US" sz="1700" dirty="0" err="1"/>
              <a:t>Μηδενικό</a:t>
            </a:r>
            <a:r>
              <a:rPr lang="en-US" sz="1700" dirty="0"/>
              <a:t> (0%). Κα</a:t>
            </a:r>
            <a:r>
              <a:rPr lang="en-US" sz="1700" dirty="0" err="1"/>
              <a:t>νέν</a:t>
            </a:r>
            <a:r>
              <a:rPr lang="en-US" sz="1700" dirty="0"/>
              <a:t>α πακέτο δεν χάνεται, καθώς η ουρά δεν γεμίζει ποτέ. </a:t>
            </a:r>
            <a:br>
              <a:rPr lang="en-US" sz="1700" dirty="0"/>
            </a:br>
            <a:br>
              <a:rPr lang="en-US" sz="1700" dirty="0"/>
            </a:br>
            <a:r>
              <a:rPr lang="en-US" sz="1700" dirty="0"/>
              <a:t> </a:t>
            </a:r>
            <a:r>
              <a:rPr lang="en-US" sz="1700" b="1" dirty="0"/>
              <a:t>Throughput</a:t>
            </a:r>
            <a:r>
              <a:rPr lang="en-US" sz="1700" dirty="0"/>
              <a:t> (</a:t>
            </a:r>
            <a:r>
              <a:rPr lang="en-US" sz="1700" dirty="0" err="1"/>
              <a:t>Ρυθμ</a:t>
            </a:r>
            <a:r>
              <a:rPr lang="en-US" sz="1700" dirty="0"/>
              <a:t>απόδοση):  Σταθεροποιείται στα 1.6 Mbps.  </a:t>
            </a:r>
            <a:r>
              <a:rPr lang="en-US" sz="1700" dirty="0" err="1"/>
              <a:t>Προσοχή</a:t>
            </a:r>
            <a:r>
              <a:rPr lang="en-US" sz="1700" dirty="0"/>
              <a:t>: </a:t>
            </a:r>
            <a:r>
              <a:rPr lang="en-US" sz="1700" dirty="0" err="1"/>
              <a:t>Δεν</a:t>
            </a:r>
            <a:r>
              <a:rPr lang="en-US" sz="1700" dirty="0"/>
              <a:t> </a:t>
            </a:r>
            <a:r>
              <a:rPr lang="en-US" sz="1700" dirty="0" err="1"/>
              <a:t>φτάνει</a:t>
            </a:r>
            <a:r>
              <a:rPr lang="en-US" sz="1700" dirty="0"/>
              <a:t> τα 10 Mbps </a:t>
            </a:r>
            <a:r>
              <a:rPr lang="en-US" sz="1700" dirty="0" err="1"/>
              <a:t>γι</a:t>
            </a:r>
            <a:r>
              <a:rPr lang="en-US" sz="1700" dirty="0"/>
              <a:t>ατί η πηγή στέλνει μόνο 1.6 Mbps. </a:t>
            </a:r>
            <a:r>
              <a:rPr lang="en-US" sz="1700" dirty="0" err="1"/>
              <a:t>Το</a:t>
            </a:r>
            <a:r>
              <a:rPr lang="en-US" sz="1700" dirty="0"/>
              <a:t> </a:t>
            </a:r>
            <a:r>
              <a:rPr lang="en-US" sz="1700" dirty="0" err="1"/>
              <a:t>δίκτυο</a:t>
            </a:r>
            <a:r>
              <a:rPr lang="en-US" sz="1700" dirty="0"/>
              <a:t> απ</a:t>
            </a:r>
            <a:r>
              <a:rPr lang="en-US" sz="1700" dirty="0" err="1"/>
              <a:t>λά</a:t>
            </a:r>
            <a:r>
              <a:rPr lang="en-US" sz="1700" dirty="0"/>
              <a:t> </a:t>
            </a:r>
            <a:r>
              <a:rPr lang="en-US" sz="1700" dirty="0" err="1"/>
              <a:t>μετ</a:t>
            </a:r>
            <a:r>
              <a:rPr lang="en-US" sz="1700" dirty="0"/>
              <a:t>αφέρει ό,τι του δίνουμε χωρίς πρόβλημα.</a:t>
            </a:r>
          </a:p>
        </p:txBody>
      </p:sp>
    </p:spTree>
    <p:extLst>
      <p:ext uri="{BB962C8B-B14F-4D97-AF65-F5344CB8AC3E}">
        <p14:creationId xmlns:p14="http://schemas.microsoft.com/office/powerpoint/2010/main" val="3242867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2BB33B-B297-857B-49F3-0DC33B4044EE}"/>
              </a:ext>
            </a:extLst>
          </p:cNvPr>
          <p:cNvPicPr>
            <a:picLocks noChangeAspect="1"/>
          </p:cNvPicPr>
          <p:nvPr/>
        </p:nvPicPr>
        <p:blipFill>
          <a:blip r:embed="rId2"/>
          <a:stretch>
            <a:fillRect/>
          </a:stretch>
        </p:blipFill>
        <p:spPr>
          <a:xfrm>
            <a:off x="0" y="76200"/>
            <a:ext cx="12192000" cy="6781800"/>
          </a:xfrm>
          <a:prstGeom prst="rect">
            <a:avLst/>
          </a:prstGeom>
        </p:spPr>
      </p:pic>
      <p:sp>
        <p:nvSpPr>
          <p:cNvPr id="4" name="TextBox 3">
            <a:extLst>
              <a:ext uri="{FF2B5EF4-FFF2-40B4-BE49-F238E27FC236}">
                <a16:creationId xmlns:a16="http://schemas.microsoft.com/office/drawing/2014/main" id="{C0533C2F-0057-6547-E25C-E0B42CA2C574}"/>
              </a:ext>
            </a:extLst>
          </p:cNvPr>
          <p:cNvSpPr txBox="1"/>
          <p:nvPr/>
        </p:nvSpPr>
        <p:spPr>
          <a:xfrm>
            <a:off x="0" y="210312"/>
            <a:ext cx="2907792" cy="400110"/>
          </a:xfrm>
          <a:prstGeom prst="rect">
            <a:avLst/>
          </a:prstGeom>
          <a:noFill/>
        </p:spPr>
        <p:txBody>
          <a:bodyPr wrap="square" rtlCol="0">
            <a:spAutoFit/>
          </a:bodyPr>
          <a:lstStyle/>
          <a:p>
            <a:r>
              <a:rPr lang="en-US" sz="2000" b="1" dirty="0"/>
              <a:t>10Mbps</a:t>
            </a:r>
          </a:p>
        </p:txBody>
      </p:sp>
    </p:spTree>
    <p:extLst>
      <p:ext uri="{BB962C8B-B14F-4D97-AF65-F5344CB8AC3E}">
        <p14:creationId xmlns:p14="http://schemas.microsoft.com/office/powerpoint/2010/main" val="1077783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3F646D-4ED9-CA9E-6A41-FA4BE504B1A6}"/>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A9BA0-05C2-009C-A665-C1B57559373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b="1" kern="1200">
                <a:solidFill>
                  <a:srgbClr val="FFFFFF"/>
                </a:solidFill>
                <a:latin typeface="+mj-lt"/>
                <a:ea typeface="+mj-ea"/>
                <a:cs typeface="+mj-cs"/>
              </a:rPr>
              <a:t>Ανάλυση Υπερ-επάρκειας</a:t>
            </a:r>
            <a:br>
              <a:rPr lang="en-US" sz="3400" b="1" kern="1200">
                <a:solidFill>
                  <a:srgbClr val="FFFFFF"/>
                </a:solidFill>
                <a:latin typeface="+mj-lt"/>
                <a:ea typeface="+mj-ea"/>
                <a:cs typeface="+mj-cs"/>
              </a:rPr>
            </a:br>
            <a:r>
              <a:rPr lang="en-US" sz="3400" b="1" kern="1200">
                <a:solidFill>
                  <a:srgbClr val="FFFFFF"/>
                </a:solidFill>
                <a:latin typeface="+mj-lt"/>
                <a:ea typeface="+mj-ea"/>
                <a:cs typeface="+mj-cs"/>
              </a:rPr>
              <a:t>(100 Mbps)</a:t>
            </a:r>
          </a:p>
        </p:txBody>
      </p:sp>
      <p:sp>
        <p:nvSpPr>
          <p:cNvPr id="3" name="Subtitle 2">
            <a:extLst>
              <a:ext uri="{FF2B5EF4-FFF2-40B4-BE49-F238E27FC236}">
                <a16:creationId xmlns:a16="http://schemas.microsoft.com/office/drawing/2014/main" id="{9D413A8B-CC5B-0D79-B52F-5DE0490B63CF}"/>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b="1"/>
              <a:t>Queue Size </a:t>
            </a:r>
            <a:r>
              <a:rPr lang="en-US" sz="2000"/>
              <a:t>(Μέγεθος Ουράς):  Η γραμμή είναι "νεκρή" στο 0.  Στα 100 Mbps, ο Router σπρώχνει το πακέτο σε μόλις 0.08ms. Η ουρά είναι άδεια το 99.9% του χρόνου.  </a:t>
            </a:r>
            <a:br>
              <a:rPr lang="en-US" sz="2000"/>
            </a:br>
            <a:br>
              <a:rPr lang="en-US" sz="2000"/>
            </a:br>
            <a:r>
              <a:rPr lang="en-US" sz="2000" b="1"/>
              <a:t>End-to-End Delay </a:t>
            </a:r>
            <a:r>
              <a:rPr lang="en-US" sz="2000"/>
              <a:t>(Καθυστέρηση):  Παραμένει σταθερή στο ελάχιστο (~0.10s).  Παρατήρηση: Δεν υπάρχει ορατή διαφορά από τα 10 Mbps, καθώς η καθυστέρηση μετάδοσης (0.08ms) είναι πλέον αμελητέα σε σχέση με την καθυστέρηση διάδοσης (100ms).  </a:t>
            </a:r>
            <a:br>
              <a:rPr lang="en-US" sz="2000"/>
            </a:br>
            <a:br>
              <a:rPr lang="en-US" sz="2000"/>
            </a:br>
            <a:r>
              <a:rPr lang="en-US" sz="2000" b="1"/>
              <a:t>Packet Loss </a:t>
            </a:r>
            <a:r>
              <a:rPr lang="en-US" sz="2000"/>
              <a:t>(Απώλειες):  Απόλυτο 0%. Το δίκτυο είναι εξαιρετικά άνετο.  </a:t>
            </a:r>
            <a:br>
              <a:rPr lang="en-US" sz="2000"/>
            </a:br>
            <a:br>
              <a:rPr lang="en-US" sz="2000"/>
            </a:br>
            <a:r>
              <a:rPr lang="en-US" sz="2000" b="1"/>
              <a:t>Throughput</a:t>
            </a:r>
            <a:r>
              <a:rPr lang="en-US" sz="2000"/>
              <a:t> (Ρυθμαπόδοση):  Σταθεροποιείται στα 1.6 Mbps.  Συμπέρασμα: Το δίκτυο έχει τεράστιο περιθώριο (αντέχει 100 Mbps), αλλά αξιοποιούμε μόνο το 1.6% της χωρητικότητάς του</a:t>
            </a:r>
            <a:r>
              <a:rPr lang="en-US" sz="2000" b="1"/>
              <a:t>.</a:t>
            </a:r>
            <a:endParaRPr lang="en-US" sz="2000"/>
          </a:p>
        </p:txBody>
      </p:sp>
    </p:spTree>
    <p:extLst>
      <p:ext uri="{BB962C8B-B14F-4D97-AF65-F5344CB8AC3E}">
        <p14:creationId xmlns:p14="http://schemas.microsoft.com/office/powerpoint/2010/main" val="7739824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3AF4F3-C589-D9F9-B886-588A1922966D}"/>
              </a:ext>
            </a:extLst>
          </p:cNvPr>
          <p:cNvPicPr>
            <a:picLocks noChangeAspect="1"/>
          </p:cNvPicPr>
          <p:nvPr/>
        </p:nvPicPr>
        <p:blipFill>
          <a:blip r:embed="rId2"/>
          <a:stretch>
            <a:fillRect/>
          </a:stretch>
        </p:blipFill>
        <p:spPr>
          <a:xfrm>
            <a:off x="0" y="0"/>
            <a:ext cx="12192000" cy="6705600"/>
          </a:xfrm>
          <a:prstGeom prst="rect">
            <a:avLst/>
          </a:prstGeom>
        </p:spPr>
      </p:pic>
      <p:sp>
        <p:nvSpPr>
          <p:cNvPr id="4" name="TextBox 3">
            <a:extLst>
              <a:ext uri="{FF2B5EF4-FFF2-40B4-BE49-F238E27FC236}">
                <a16:creationId xmlns:a16="http://schemas.microsoft.com/office/drawing/2014/main" id="{2A4C1C95-B4D5-79A5-F7CD-93317DB4AA8B}"/>
              </a:ext>
            </a:extLst>
          </p:cNvPr>
          <p:cNvSpPr txBox="1"/>
          <p:nvPr/>
        </p:nvSpPr>
        <p:spPr>
          <a:xfrm>
            <a:off x="0" y="152400"/>
            <a:ext cx="2066925" cy="400110"/>
          </a:xfrm>
          <a:prstGeom prst="rect">
            <a:avLst/>
          </a:prstGeom>
          <a:noFill/>
        </p:spPr>
        <p:txBody>
          <a:bodyPr wrap="square" rtlCol="0">
            <a:spAutoFit/>
          </a:bodyPr>
          <a:lstStyle/>
          <a:p>
            <a:r>
              <a:rPr lang="en-US" sz="2000" b="1" dirty="0"/>
              <a:t>100Mbps</a:t>
            </a:r>
          </a:p>
        </p:txBody>
      </p:sp>
    </p:spTree>
    <p:extLst>
      <p:ext uri="{BB962C8B-B14F-4D97-AF65-F5344CB8AC3E}">
        <p14:creationId xmlns:p14="http://schemas.microsoft.com/office/powerpoint/2010/main" val="3683287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44253C-2660-3A6A-F9B0-04D09B7E9C4D}"/>
              </a:ext>
            </a:extLst>
          </p:cNvPr>
          <p:cNvSpPr>
            <a:spLocks noGrp="1"/>
          </p:cNvSpPr>
          <p:nvPr>
            <p:ph type="ctrTitle"/>
          </p:nvPr>
        </p:nvSpPr>
        <p:spPr>
          <a:xfrm>
            <a:off x="645065" y="1463040"/>
            <a:ext cx="3796306" cy="2690949"/>
          </a:xfrm>
        </p:spPr>
        <p:txBody>
          <a:bodyPr vert="horz" lIns="91440" tIns="45720" rIns="91440" bIns="45720" rtlCol="0" anchor="t">
            <a:normAutofit/>
          </a:bodyPr>
          <a:lstStyle/>
          <a:p>
            <a:pPr algn="l"/>
            <a:r>
              <a:rPr lang="en-US" sz="4400" b="1" kern="1200" dirty="0" err="1">
                <a:solidFill>
                  <a:schemeClr val="tx1"/>
                </a:solidFill>
                <a:latin typeface="+mj-lt"/>
                <a:ea typeface="+mj-ea"/>
                <a:cs typeface="+mj-cs"/>
              </a:rPr>
              <a:t>Σύγκριση</a:t>
            </a:r>
            <a:r>
              <a:rPr lang="en-US" sz="4400" b="1" kern="1200" dirty="0">
                <a:solidFill>
                  <a:schemeClr val="tx1"/>
                </a:solidFill>
                <a:latin typeface="+mj-lt"/>
                <a:ea typeface="+mj-ea"/>
                <a:cs typeface="+mj-cs"/>
              </a:rPr>
              <a:t> </a:t>
            </a:r>
            <a:r>
              <a:rPr lang="en-US" sz="4400" b="1" kern="1200" dirty="0" err="1">
                <a:solidFill>
                  <a:schemeClr val="tx1"/>
                </a:solidFill>
                <a:latin typeface="+mj-lt"/>
                <a:ea typeface="+mj-ea"/>
                <a:cs typeface="+mj-cs"/>
              </a:rPr>
              <a:t>Σεν</a:t>
            </a:r>
            <a:r>
              <a:rPr lang="en-US" sz="4400" b="1" kern="1200" dirty="0">
                <a:solidFill>
                  <a:schemeClr val="tx1"/>
                </a:solidFill>
                <a:latin typeface="+mj-lt"/>
                <a:ea typeface="+mj-ea"/>
                <a:cs typeface="+mj-cs"/>
              </a:rPr>
              <a:t>αρίων &amp; Συμπεράσματα</a:t>
            </a:r>
          </a:p>
        </p:txBody>
      </p:sp>
      <p:grpSp>
        <p:nvGrpSpPr>
          <p:cNvPr id="11" name="Group 10">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12A3B4F0-F903-374B-AD31-0488F604F8DE}"/>
              </a:ext>
            </a:extLst>
          </p:cNvPr>
          <p:cNvSpPr>
            <a:spLocks noGrp="1" noChangeArrowheads="1"/>
          </p:cNvSpPr>
          <p:nvPr>
            <p:ph type="subTitle" idx="1"/>
          </p:nvPr>
        </p:nvSpPr>
        <p:spPr bwMode="auto">
          <a:xfrm>
            <a:off x="5656218" y="1463039"/>
            <a:ext cx="5542387" cy="43004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t" anchorCtr="0" compatLnSpc="1">
            <a:prstTxWarp prst="textNoShape">
              <a:avLst/>
            </a:prstTxWarp>
            <a:normAutofit lnSpcReduction="10000"/>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a:ln>
                  <a:noFill/>
                </a:ln>
                <a:effectLst/>
              </a:rPr>
              <a:t>1 Mbps vs.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α</a:t>
            </a:r>
            <a:r>
              <a:rPr kumimoji="0" lang="en-US" altLang="en-US" sz="1500" b="0" i="0" u="none" strike="noStrike" cap="none" normalizeH="0" baseline="0" dirty="0" err="1">
                <a:ln>
                  <a:noFill/>
                </a:ln>
                <a:effectLst/>
              </a:rPr>
              <a:t>ύξηση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του</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έλυσε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ρό</a:t>
            </a:r>
            <a:r>
              <a:rPr kumimoji="0" lang="en-US" altLang="en-US" sz="1500" b="0" i="0" u="none" strike="noStrike" cap="none" normalizeH="0" baseline="0" dirty="0">
                <a:ln>
                  <a:noFill/>
                </a:ln>
                <a:effectLst/>
              </a:rPr>
              <a:t>βλημα του "Bottleneck".</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err="1">
                <a:ln>
                  <a:noFill/>
                </a:ln>
                <a:effectLst/>
              </a:rPr>
              <a:t>Περάσ</a:t>
            </a:r>
            <a:r>
              <a:rPr kumimoji="0" lang="en-US" altLang="en-US" sz="1500" b="0" i="0" u="none" strike="noStrike" cap="none" normalizeH="0" baseline="0" dirty="0">
                <a:ln>
                  <a:noFill/>
                </a:ln>
                <a:effectLst/>
              </a:rPr>
              <a:t>αμε από ένα ασταθές δίκτυο (με απώλειες) σε ένα πλήρως λειτουργικό δίκτυο.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Γι</a:t>
            </a:r>
            <a:r>
              <a:rPr kumimoji="0" lang="en-US" altLang="en-US" sz="1500" b="1" i="0" u="none" strike="noStrike" cap="none" normalizeH="0" baseline="0" dirty="0">
                <a:ln>
                  <a:noFill/>
                </a:ln>
                <a:effectLst/>
              </a:rPr>
              <a:t>ατί τα 100 Mbps είναι ίδια με τα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Τα </a:t>
            </a:r>
            <a:r>
              <a:rPr kumimoji="0" lang="en-US" altLang="en-US" sz="1500" b="0" i="0" u="none" strike="noStrike" cap="none" normalizeH="0" baseline="0" dirty="0" err="1">
                <a:ln>
                  <a:noFill/>
                </a:ln>
                <a:effectLst/>
              </a:rPr>
              <a:t>γρ</a:t>
            </a:r>
            <a:r>
              <a:rPr kumimoji="0" lang="en-US" altLang="en-US" sz="1500" b="0" i="0" u="none" strike="noStrike" cap="none" normalizeH="0" baseline="0" dirty="0">
                <a:ln>
                  <a:noFill/>
                </a:ln>
                <a:effectLst/>
              </a:rPr>
              <a:t>αφήματα είναι πανομοιότυπα.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Από </a:t>
            </a:r>
            <a:r>
              <a:rPr kumimoji="0" lang="en-US" altLang="en-US" sz="1500" b="0" i="0" u="none" strike="noStrike" cap="none" normalizeH="0" baseline="0" dirty="0" err="1">
                <a:ln>
                  <a:noFill/>
                </a:ln>
                <a:effectLst/>
              </a:rPr>
              <a:t>τη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στιγμή</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ου</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κάλυψε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τις</a:t>
            </a:r>
            <a:r>
              <a:rPr kumimoji="0" lang="en-US" altLang="en-US" sz="1500" b="0" i="0" u="none" strike="noStrike" cap="none" normalizeH="0" baseline="0" dirty="0">
                <a:ln>
                  <a:noFill/>
                </a:ln>
                <a:effectLst/>
              </a:rPr>
              <a:t> α</a:t>
            </a:r>
            <a:r>
              <a:rPr kumimoji="0" lang="en-US" altLang="en-US" sz="1500" b="0" i="0" u="none" strike="noStrike" cap="none" normalizeH="0" baseline="0" dirty="0" err="1">
                <a:ln>
                  <a:noFill/>
                </a:ln>
                <a:effectLst/>
              </a:rPr>
              <a:t>νάγκες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της</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ηγής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a:t>
            </a:r>
            <a:r>
              <a:rPr kumimoji="0" lang="en-US" altLang="en-US" sz="1500" b="0" i="0" u="none" strike="noStrike" cap="none" normalizeH="0" baseline="0" dirty="0">
                <a:ln>
                  <a:noFill/>
                </a:ln>
                <a:effectLst/>
              </a:rPr>
              <a:t>α 10 Mbps), οποιαδήποτε περαιτέρω αύξηση (100 Mbps) παραμένει ανεκμετάλλευτη για τον συγκεκριμένο φόρτο.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Τελικό</a:t>
            </a:r>
            <a:r>
              <a:rPr kumimoji="0" lang="en-US" altLang="en-US" sz="1500" b="1" i="0" u="none" strike="noStrike" cap="none" normalizeH="0" baseline="0" dirty="0">
                <a:ln>
                  <a:noFill/>
                </a:ln>
                <a:effectLst/>
              </a:rPr>
              <a:t> </a:t>
            </a:r>
            <a:r>
              <a:rPr kumimoji="0" lang="en-US" altLang="en-US" sz="1500" b="1" i="0" u="none" strike="noStrike" cap="none" normalizeH="0" baseline="0" dirty="0" err="1">
                <a:ln>
                  <a:noFill/>
                </a:ln>
                <a:effectLst/>
              </a:rPr>
              <a:t>Συμ</a:t>
            </a:r>
            <a:r>
              <a:rPr kumimoji="0" lang="en-US" altLang="en-US" sz="1500" b="1" i="0" u="none" strike="noStrike" cap="none" normalizeH="0" baseline="0" dirty="0">
                <a:ln>
                  <a:noFill/>
                </a:ln>
                <a:effectLst/>
              </a:rPr>
              <a:t>πέρασμα:</a:t>
            </a:r>
            <a:br>
              <a:rPr kumimoji="0" lang="el-GR" altLang="en-US" sz="1500" b="1"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συμφόρηση</a:t>
            </a:r>
            <a:r>
              <a:rPr kumimoji="0" lang="en-US" altLang="en-US" sz="1500" b="0" i="0" u="none" strike="noStrike" cap="none" normalizeH="0" baseline="0" dirty="0">
                <a:ln>
                  <a:noFill/>
                </a:ln>
                <a:effectLst/>
              </a:rPr>
              <a:t> (Congestion) </a:t>
            </a:r>
            <a:r>
              <a:rPr kumimoji="0" lang="en-US" altLang="en-US" sz="1500" b="0" i="0" u="none" strike="noStrike" cap="none" normalizeH="0" baseline="0" dirty="0" err="1">
                <a:ln>
                  <a:noFill/>
                </a:ln>
                <a:effectLst/>
              </a:rPr>
              <a:t>δημιουργείτ</a:t>
            </a:r>
            <a:r>
              <a:rPr kumimoji="0" lang="en-US" altLang="en-US" sz="1500" b="0" i="0" u="none" strike="noStrike" cap="none" normalizeH="0" baseline="0" dirty="0">
                <a:ln>
                  <a:noFill/>
                </a:ln>
                <a:effectLst/>
              </a:rPr>
              <a:t>αι </a:t>
            </a:r>
            <a:r>
              <a:rPr kumimoji="0" lang="en-US" altLang="en-US" sz="1500" b="1" i="0" u="none" strike="noStrike" cap="none" normalizeH="0" baseline="0" dirty="0">
                <a:ln>
                  <a:noFill/>
                </a:ln>
                <a:effectLst/>
              </a:rPr>
              <a:t>μόνο</a:t>
            </a:r>
            <a:r>
              <a:rPr kumimoji="0" lang="en-US" altLang="en-US" sz="1500" b="0" i="0" u="none" strike="noStrike" cap="none" normalizeH="0" baseline="0" dirty="0">
                <a:ln>
                  <a:noFill/>
                </a:ln>
                <a:effectLst/>
              </a:rPr>
              <a:t> όταν ο ρυθμός άφιξης δεδομένων ξεπερνά τον ρυθμό εξυπηρέτησης (Bandwidth) του δικτύου.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σωστή</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δι</a:t>
            </a:r>
            <a:r>
              <a:rPr kumimoji="0" lang="en-US" altLang="en-US" sz="1500" b="0" i="0" u="none" strike="noStrike" cap="none" normalizeH="0" baseline="0" dirty="0">
                <a:ln>
                  <a:noFill/>
                </a:ln>
                <a:effectLst/>
              </a:rPr>
              <a:t>αστασιολόγηση του Bandwidth είναι κρίσιμη για την αποφυγή απωλειών και καθυστερήσεων.</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1500" b="0" i="0" u="none" strike="noStrike" cap="none" normalizeH="0" baseline="0" dirty="0">
              <a:ln>
                <a:noFill/>
              </a:ln>
              <a:effectLst/>
            </a:endParaRPr>
          </a:p>
        </p:txBody>
      </p:sp>
    </p:spTree>
    <p:extLst>
      <p:ext uri="{BB962C8B-B14F-4D97-AF65-F5344CB8AC3E}">
        <p14:creationId xmlns:p14="http://schemas.microsoft.com/office/powerpoint/2010/main" val="3336001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8DF5BE9-FDD7-CDBB-5A97-B0B6AACBBB65}"/>
              </a:ext>
            </a:extLst>
          </p:cNvPr>
          <p:cNvSpPr>
            <a:spLocks noGrp="1"/>
          </p:cNvSpPr>
          <p:nvPr>
            <p:ph type="ctr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Επίδραση Μεγέθους Πακέτου (Packet Size)</a:t>
            </a:r>
          </a:p>
        </p:txBody>
      </p:sp>
      <p:sp>
        <p:nvSpPr>
          <p:cNvPr id="3" name="Subtitle 2">
            <a:extLst>
              <a:ext uri="{FF2B5EF4-FFF2-40B4-BE49-F238E27FC236}">
                <a16:creationId xmlns:a16="http://schemas.microsoft.com/office/drawing/2014/main" id="{DC323905-E22C-E29C-C2A3-C05E0FF14B0E}"/>
              </a:ext>
            </a:extLst>
          </p:cNvPr>
          <p:cNvSpPr>
            <a:spLocks noGrp="1"/>
          </p:cNvSpPr>
          <p:nvPr>
            <p:ph type="subTitle" idx="1"/>
          </p:nvPr>
        </p:nvSpPr>
        <p:spPr>
          <a:xfrm>
            <a:off x="6503158" y="649480"/>
            <a:ext cx="4862447" cy="5546047"/>
          </a:xfrm>
        </p:spPr>
        <p:txBody>
          <a:bodyPr vert="horz" lIns="91440" tIns="45720" rIns="91440" bIns="45720" rtlCol="0" anchor="ctr">
            <a:normAutofit/>
          </a:bodyPr>
          <a:lstStyle/>
          <a:p>
            <a:pPr algn="l"/>
            <a:r>
              <a:rPr lang="en-US" sz="2000" b="1" dirty="0"/>
              <a:t>Η </a:t>
            </a:r>
            <a:r>
              <a:rPr lang="en-US" sz="2000" b="1" dirty="0" err="1"/>
              <a:t>Μεθοδολογί</a:t>
            </a:r>
            <a:r>
              <a:rPr lang="en-US" sz="2000" b="1" dirty="0"/>
              <a:t>α:  </a:t>
            </a:r>
            <a:br>
              <a:rPr lang="en-US" sz="2000" dirty="0"/>
            </a:br>
            <a:r>
              <a:rPr lang="en-US" sz="2000" dirty="0"/>
              <a:t>Κρατάμε σταθερά: Bandwidth (1 Mbps) και Ρυθμό Άφιξης (200 pkts/s).  </a:t>
            </a:r>
            <a:r>
              <a:rPr lang="en-US" sz="2000" dirty="0" err="1"/>
              <a:t>Μετ</a:t>
            </a:r>
            <a:r>
              <a:rPr lang="en-US" sz="2000" dirty="0"/>
              <a:t>αβάλλουμε το Packet Size: 100, 1000, 3000, 5000 Bytes.</a:t>
            </a:r>
            <a:br>
              <a:rPr lang="en-US" sz="2000" dirty="0"/>
            </a:br>
            <a:br>
              <a:rPr lang="en-US" sz="2000" dirty="0"/>
            </a:br>
            <a:r>
              <a:rPr lang="en-US" sz="2000" dirty="0"/>
              <a:t>  </a:t>
            </a:r>
            <a:r>
              <a:rPr lang="en-US" sz="2000" b="1" dirty="0" err="1"/>
              <a:t>Γι</a:t>
            </a:r>
            <a:r>
              <a:rPr lang="en-US" sz="2000" b="1" dirty="0"/>
              <a:t>ατί το κάνουμε αυτό;  </a:t>
            </a:r>
            <a:br>
              <a:rPr lang="en-US" sz="2000" dirty="0"/>
            </a:br>
            <a:r>
              <a:rPr lang="en-US" sz="2000" dirty="0"/>
              <a:t>Το μέγεθος πακέτου επηρεάζει άμεσα τον φόρτο (Load) και τον Χρόνο Μετάδοσης (Transmission Delay).  Load=Packet </a:t>
            </a:r>
            <a:r>
              <a:rPr lang="en-US" sz="2000" dirty="0" err="1"/>
              <a:t>Size×Rate</a:t>
            </a:r>
            <a:r>
              <a:rPr lang="en-US" sz="2000" dirty="0"/>
              <a:t>. </a:t>
            </a:r>
            <a:br>
              <a:rPr lang="en-US" sz="2000" dirty="0"/>
            </a:br>
            <a:br>
              <a:rPr lang="en-US" sz="2000" dirty="0"/>
            </a:br>
            <a:r>
              <a:rPr lang="en-US" sz="2000" dirty="0"/>
              <a:t> </a:t>
            </a:r>
            <a:r>
              <a:rPr lang="en-US" sz="2000" b="1" dirty="0" err="1"/>
              <a:t>Θεωρητική</a:t>
            </a:r>
            <a:r>
              <a:rPr lang="en-US" sz="2000" b="1" dirty="0"/>
              <a:t> </a:t>
            </a:r>
            <a:r>
              <a:rPr lang="en-US" sz="2000" b="1" dirty="0" err="1"/>
              <a:t>Πρό</a:t>
            </a:r>
            <a:r>
              <a:rPr lang="en-US" sz="2000" b="1" dirty="0"/>
              <a:t>βλεψη:  </a:t>
            </a:r>
            <a:br>
              <a:rPr lang="el-GR" sz="2000" b="1" dirty="0"/>
            </a:br>
            <a:r>
              <a:rPr lang="en-US" sz="2000" dirty="0"/>
              <a:t>100 Bytes: Load 0.16 Mbps (Άνετο).  5000 Bytes: Load 8.0 Mbps (</a:t>
            </a:r>
            <a:r>
              <a:rPr lang="en-US" sz="2000" dirty="0" err="1"/>
              <a:t>Ακρ</a:t>
            </a:r>
            <a:r>
              <a:rPr lang="en-US" sz="2000" dirty="0"/>
              <a:t>αία Συμφόρηση).</a:t>
            </a:r>
          </a:p>
        </p:txBody>
      </p:sp>
    </p:spTree>
    <p:extLst>
      <p:ext uri="{BB962C8B-B14F-4D97-AF65-F5344CB8AC3E}">
        <p14:creationId xmlns:p14="http://schemas.microsoft.com/office/powerpoint/2010/main" val="13744512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CCF7B-6909-711E-0280-2DC3690FF0C1}"/>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kern="1200" dirty="0" err="1">
                <a:solidFill>
                  <a:srgbClr val="FFFFFF"/>
                </a:solidFill>
                <a:latin typeface="+mj-lt"/>
                <a:ea typeface="+mj-ea"/>
                <a:cs typeface="+mj-cs"/>
              </a:rPr>
              <a:t>Μικρά</a:t>
            </a:r>
            <a:r>
              <a:rPr lang="en-US" sz="3400" kern="1200" dirty="0">
                <a:solidFill>
                  <a:srgbClr val="FFFFFF"/>
                </a:solidFill>
                <a:latin typeface="+mj-lt"/>
                <a:ea typeface="+mj-ea"/>
                <a:cs typeface="+mj-cs"/>
              </a:rPr>
              <a:t>(100bytes) </a:t>
            </a:r>
            <a:r>
              <a:rPr lang="en-US" sz="3400" kern="1200" dirty="0" err="1">
                <a:solidFill>
                  <a:srgbClr val="FFFFFF"/>
                </a:solidFill>
                <a:latin typeface="+mj-lt"/>
                <a:ea typeface="+mj-ea"/>
                <a:cs typeface="+mj-cs"/>
              </a:rPr>
              <a:t>ενάντι</a:t>
            </a:r>
            <a:r>
              <a:rPr lang="en-US" sz="3400" kern="1200" dirty="0">
                <a:solidFill>
                  <a:srgbClr val="FFFFFF"/>
                </a:solidFill>
                <a:latin typeface="+mj-lt"/>
                <a:ea typeface="+mj-ea"/>
                <a:cs typeface="+mj-cs"/>
              </a:rPr>
              <a:t>ας Μεσαία Πακέτα(1000bytes)</a:t>
            </a:r>
          </a:p>
        </p:txBody>
      </p:sp>
      <p:sp>
        <p:nvSpPr>
          <p:cNvPr id="4" name="Rectangle 1">
            <a:extLst>
              <a:ext uri="{FF2B5EF4-FFF2-40B4-BE49-F238E27FC236}">
                <a16:creationId xmlns:a16="http://schemas.microsoft.com/office/drawing/2014/main" id="{A69C52CF-8706-E878-135C-CC7540AD8A31}"/>
              </a:ext>
            </a:extLst>
          </p:cNvPr>
          <p:cNvSpPr>
            <a:spLocks noGrp="1" noChangeArrowheads="1"/>
          </p:cNvSpPr>
          <p:nvPr>
            <p:ph type="subTitle"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Μικρά</a:t>
            </a:r>
            <a:r>
              <a:rPr kumimoji="0" lang="en-US" altLang="en-US" sz="2000" b="1" i="0" u="none" strike="noStrike" cap="none" normalizeH="0" baseline="0" dirty="0">
                <a:ln>
                  <a:noFill/>
                </a:ln>
                <a:effectLst/>
              </a:rPr>
              <a:t>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Το δίκτυο υπολειτουργεί.</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a:t>
            </a:r>
            <a:r>
              <a:rPr kumimoji="0" lang="en-US" altLang="en-US" b="0" i="0" u="none" strike="noStrike" cap="none" normalizeH="0" baseline="0" dirty="0" err="1">
                <a:ln>
                  <a:noFill/>
                </a:ln>
                <a:effectLst/>
              </a:rPr>
              <a:t>Μόλις</a:t>
            </a:r>
            <a:r>
              <a:rPr kumimoji="0" lang="en-US" altLang="en-US" b="0" i="0" u="none" strike="noStrike" cap="none" normalizeH="0" baseline="0" dirty="0">
                <a:ln>
                  <a:noFill/>
                </a:ln>
                <a:effectLst/>
              </a:rPr>
              <a:t> 0.16 Mbps (</a:t>
            </a:r>
            <a:r>
              <a:rPr kumimoji="0" lang="en-US" altLang="en-US" b="0" i="0" u="none" strike="noStrike" cap="none" normalizeH="0" baseline="0" dirty="0" err="1">
                <a:ln>
                  <a:noFill/>
                </a:ln>
                <a:effectLst/>
              </a:rPr>
              <a:t>σε</a:t>
            </a:r>
            <a:r>
              <a:rPr kumimoji="0" lang="en-US" altLang="en-US" b="0" i="0" u="none" strike="noStrike" cap="none" normalizeH="0" baseline="0" dirty="0">
                <a:ln>
                  <a:noFill/>
                </a:ln>
                <a:effectLst/>
              </a:rPr>
              <a:t> κα</a:t>
            </a:r>
            <a:r>
              <a:rPr kumimoji="0" lang="en-US" altLang="en-US" b="0" i="0" u="none" strike="noStrike" cap="none" normalizeH="0" baseline="0" dirty="0" err="1">
                <a:ln>
                  <a:noFill/>
                </a:ln>
                <a:effectLst/>
              </a:rPr>
              <a:t>νάλι</a:t>
            </a:r>
            <a:r>
              <a:rPr kumimoji="0" lang="en-US" altLang="en-US" b="0" i="0" u="none" strike="noStrike" cap="none" normalizeH="0" baseline="0" dirty="0">
                <a:ln>
                  <a:noFill/>
                </a:ln>
                <a:effectLst/>
              </a:rPr>
              <a:t> 1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Ουρά άδεια, Απώλειες </a:t>
            </a:r>
            <a:r>
              <a:rPr kumimoji="0" lang="en-US" altLang="en-US" b="1" i="0" u="none" strike="noStrike" cap="none" normalizeH="0" baseline="0" dirty="0">
                <a:ln>
                  <a:noFill/>
                </a:ln>
                <a:effectLst/>
              </a:rPr>
              <a:t>0%</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Standard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Συμφόρηση (όπως είδαμε στο Ερώτημα 4).</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1.6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Η ουρά γεμίζει, Απώλειες </a:t>
            </a:r>
            <a:r>
              <a:rPr kumimoji="0" lang="en-US" altLang="en-US" b="1" i="0" u="none" strike="noStrike" cap="none" normalizeH="0" baseline="0" dirty="0">
                <a:ln>
                  <a:noFill/>
                </a:ln>
                <a:effectLst/>
              </a:rPr>
              <a:t>~37.5%</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3443490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5A58B3AD-66A5-AA91-0771-5E26A15C5762}"/>
              </a:ext>
            </a:extLst>
          </p:cNvPr>
          <p:cNvPicPr>
            <a:picLocks noChangeAspect="1"/>
          </p:cNvPicPr>
          <p:nvPr/>
        </p:nvPicPr>
        <p:blipFill>
          <a:blip r:embed="rId2"/>
          <a:stretch>
            <a:fillRect/>
          </a:stretch>
        </p:blipFill>
        <p:spPr>
          <a:xfrm>
            <a:off x="0" y="0"/>
            <a:ext cx="12106275" cy="6857999"/>
          </a:xfrm>
          <a:prstGeom prst="rect">
            <a:avLst/>
          </a:prstGeom>
        </p:spPr>
      </p:pic>
      <p:sp>
        <p:nvSpPr>
          <p:cNvPr id="3" name="TextBox 2">
            <a:extLst>
              <a:ext uri="{FF2B5EF4-FFF2-40B4-BE49-F238E27FC236}">
                <a16:creationId xmlns:a16="http://schemas.microsoft.com/office/drawing/2014/main" id="{77DBD750-C384-58B9-52AB-25EC39E83CE5}"/>
              </a:ext>
            </a:extLst>
          </p:cNvPr>
          <p:cNvSpPr txBox="1"/>
          <p:nvPr/>
        </p:nvSpPr>
        <p:spPr>
          <a:xfrm>
            <a:off x="0" y="114300"/>
            <a:ext cx="2981325" cy="461665"/>
          </a:xfrm>
          <a:prstGeom prst="rect">
            <a:avLst/>
          </a:prstGeom>
          <a:noFill/>
        </p:spPr>
        <p:txBody>
          <a:bodyPr wrap="square" rtlCol="0">
            <a:spAutoFit/>
          </a:bodyPr>
          <a:lstStyle/>
          <a:p>
            <a:r>
              <a:rPr lang="en-US" sz="2400" b="1" dirty="0"/>
              <a:t>100Bytes</a:t>
            </a:r>
          </a:p>
        </p:txBody>
      </p:sp>
    </p:spTree>
    <p:extLst>
      <p:ext uri="{BB962C8B-B14F-4D97-AF65-F5344CB8AC3E}">
        <p14:creationId xmlns:p14="http://schemas.microsoft.com/office/powerpoint/2010/main" val="97671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08BBB8-F199-B08C-581D-D0AFD4126077}"/>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Μεγάλα Πακέτα &amp; Ακραία Συμφόρηση</a:t>
            </a:r>
          </a:p>
        </p:txBody>
      </p:sp>
      <p:sp>
        <p:nvSpPr>
          <p:cNvPr id="3" name="Subtitle 2">
            <a:extLst>
              <a:ext uri="{FF2B5EF4-FFF2-40B4-BE49-F238E27FC236}">
                <a16:creationId xmlns:a16="http://schemas.microsoft.com/office/drawing/2014/main" id="{770C7CCB-6718-A6B8-3230-98460FD758E0}"/>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a:t>Το Πρόβλημα των Μεγάλων Πακέτων:  Όσο μεγαλώνει το πακέτο, τόσο περισσότερο χρόνο "μπλοκάρει" τον Router για να μεταδοθεί.  </a:t>
            </a:r>
            <a:br>
              <a:rPr lang="en-US" sz="2000"/>
            </a:br>
            <a:br>
              <a:rPr lang="en-US" sz="2000" b="1"/>
            </a:br>
            <a:r>
              <a:rPr lang="en-US" sz="2000" b="1"/>
              <a:t>3000 Bytes:  </a:t>
            </a:r>
            <a:br>
              <a:rPr lang="en-US" sz="2000"/>
            </a:br>
            <a:r>
              <a:rPr lang="en-US" sz="2000" b="1"/>
              <a:t>Transmission</a:t>
            </a:r>
            <a:r>
              <a:rPr lang="en-US" sz="2000"/>
              <a:t> Delay: 24 ms.  </a:t>
            </a:r>
            <a:br>
              <a:rPr lang="en-US" sz="2000"/>
            </a:br>
            <a:r>
              <a:rPr lang="en-US" sz="2000" b="1"/>
              <a:t>Loss</a:t>
            </a:r>
            <a:r>
              <a:rPr lang="en-US" sz="2000"/>
              <a:t>: Εκτοξεύεται στο 79%.  </a:t>
            </a:r>
            <a:br>
              <a:rPr lang="en-US" sz="2000"/>
            </a:br>
            <a:r>
              <a:rPr lang="en-US" sz="2000" b="1"/>
              <a:t>Delay</a:t>
            </a:r>
            <a:r>
              <a:rPr lang="en-US" sz="2000"/>
              <a:t>: Αυξάνεται στα 0.36s.  </a:t>
            </a:r>
            <a:br>
              <a:rPr lang="en-US" sz="2000"/>
            </a:br>
            <a:br>
              <a:rPr lang="en-US" sz="2000"/>
            </a:br>
            <a:r>
              <a:rPr lang="en-US" sz="2000" b="1"/>
              <a:t>5000 Bytes </a:t>
            </a:r>
            <a:r>
              <a:rPr lang="en-US" sz="2000"/>
              <a:t>(Ακραίο Σενάριο): </a:t>
            </a:r>
            <a:br>
              <a:rPr lang="en-US" sz="2000"/>
            </a:br>
            <a:r>
              <a:rPr lang="en-US" sz="2000" b="1"/>
              <a:t>Transmission Delay</a:t>
            </a:r>
            <a:r>
              <a:rPr lang="en-US" sz="2000"/>
              <a:t>: 40 ms ανά πακέτο!  </a:t>
            </a:r>
            <a:br>
              <a:rPr lang="en-US" sz="2000"/>
            </a:br>
            <a:r>
              <a:rPr lang="en-US" sz="2000" b="1"/>
              <a:t>Loss</a:t>
            </a:r>
            <a:r>
              <a:rPr lang="en-US" sz="2000"/>
              <a:t>: Χάνουμε το 87.5% των δεδομένων.  </a:t>
            </a:r>
            <a:br>
              <a:rPr lang="en-US" sz="2000"/>
            </a:br>
            <a:r>
              <a:rPr lang="en-US" sz="2000" b="1"/>
              <a:t>Delay</a:t>
            </a:r>
            <a:r>
              <a:rPr lang="en-US" sz="2000"/>
              <a:t>: Πάνω από 0.54s. Ο Router είναι συνεχώς απασχολημένος.</a:t>
            </a:r>
          </a:p>
        </p:txBody>
      </p:sp>
    </p:spTree>
    <p:extLst>
      <p:ext uri="{BB962C8B-B14F-4D97-AF65-F5344CB8AC3E}">
        <p14:creationId xmlns:p14="http://schemas.microsoft.com/office/powerpoint/2010/main" val="24709783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E66F4F5B-D24C-9960-804E-562B9D0A7EDC}"/>
              </a:ext>
            </a:extLst>
          </p:cNvPr>
          <p:cNvPicPr>
            <a:picLocks noChangeAspect="1"/>
          </p:cNvPicPr>
          <p:nvPr/>
        </p:nvPicPr>
        <p:blipFill>
          <a:blip r:embed="rId2"/>
          <a:stretch>
            <a:fillRect/>
          </a:stretch>
        </p:blipFill>
        <p:spPr>
          <a:xfrm>
            <a:off x="95250" y="0"/>
            <a:ext cx="12096750" cy="6858000"/>
          </a:xfrm>
          <a:prstGeom prst="rect">
            <a:avLst/>
          </a:prstGeom>
        </p:spPr>
      </p:pic>
      <p:sp>
        <p:nvSpPr>
          <p:cNvPr id="3" name="TextBox 2">
            <a:extLst>
              <a:ext uri="{FF2B5EF4-FFF2-40B4-BE49-F238E27FC236}">
                <a16:creationId xmlns:a16="http://schemas.microsoft.com/office/drawing/2014/main" id="{419130F5-FD99-74CB-6AC8-69A3A539B04A}"/>
              </a:ext>
            </a:extLst>
          </p:cNvPr>
          <p:cNvSpPr txBox="1"/>
          <p:nvPr/>
        </p:nvSpPr>
        <p:spPr>
          <a:xfrm>
            <a:off x="0" y="133350"/>
            <a:ext cx="1457325" cy="400110"/>
          </a:xfrm>
          <a:prstGeom prst="rect">
            <a:avLst/>
          </a:prstGeom>
          <a:noFill/>
        </p:spPr>
        <p:txBody>
          <a:bodyPr wrap="square" rtlCol="0">
            <a:spAutoFit/>
          </a:bodyPr>
          <a:lstStyle/>
          <a:p>
            <a:r>
              <a:rPr lang="en-US" sz="2000" b="1" dirty="0"/>
              <a:t>3000Bytes</a:t>
            </a:r>
          </a:p>
        </p:txBody>
      </p:sp>
    </p:spTree>
    <p:extLst>
      <p:ext uri="{BB962C8B-B14F-4D97-AF65-F5344CB8AC3E}">
        <p14:creationId xmlns:p14="http://schemas.microsoft.com/office/powerpoint/2010/main" val="3560785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9F1DB88C-1D81-7386-5057-880B0D427434}"/>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3FDFCE5-DC48-97D1-FA38-48937609852F}"/>
              </a:ext>
            </a:extLst>
          </p:cNvPr>
          <p:cNvSpPr txBox="1"/>
          <p:nvPr/>
        </p:nvSpPr>
        <p:spPr>
          <a:xfrm>
            <a:off x="0" y="104775"/>
            <a:ext cx="2152650" cy="400110"/>
          </a:xfrm>
          <a:prstGeom prst="rect">
            <a:avLst/>
          </a:prstGeom>
          <a:noFill/>
        </p:spPr>
        <p:txBody>
          <a:bodyPr wrap="square" rtlCol="0">
            <a:spAutoFit/>
          </a:bodyPr>
          <a:lstStyle/>
          <a:p>
            <a:r>
              <a:rPr lang="en-US" sz="2000" b="1" dirty="0"/>
              <a:t>5000Bytes</a:t>
            </a:r>
          </a:p>
        </p:txBody>
      </p:sp>
    </p:spTree>
    <p:extLst>
      <p:ext uri="{BB962C8B-B14F-4D97-AF65-F5344CB8AC3E}">
        <p14:creationId xmlns:p14="http://schemas.microsoft.com/office/powerpoint/2010/main" val="11256185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EDCD59-BDCB-C874-ECEB-20050A508C6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4000" kern="1200" dirty="0" err="1">
                <a:solidFill>
                  <a:srgbClr val="FFFFFF"/>
                </a:solidFill>
                <a:latin typeface="+mj-lt"/>
                <a:ea typeface="+mj-ea"/>
                <a:cs typeface="+mj-cs"/>
              </a:rPr>
              <a:t>Συμ</a:t>
            </a:r>
            <a:r>
              <a:rPr lang="en-US" sz="4000" kern="1200" dirty="0">
                <a:solidFill>
                  <a:srgbClr val="FFFFFF"/>
                </a:solidFill>
                <a:latin typeface="+mj-lt"/>
                <a:ea typeface="+mj-ea"/>
                <a:cs typeface="+mj-cs"/>
              </a:rPr>
              <a:t>πέρασμα για τα μεγέθοι</a:t>
            </a:r>
            <a:r>
              <a:rPr lang="el-GR" sz="4000" kern="1200" dirty="0">
                <a:solidFill>
                  <a:srgbClr val="FFFFFF"/>
                </a:solidFill>
                <a:latin typeface="+mj-lt"/>
                <a:ea typeface="+mj-ea"/>
                <a:cs typeface="+mj-cs"/>
              </a:rPr>
              <a:t> των</a:t>
            </a:r>
            <a:r>
              <a:rPr lang="en-US" sz="4000" kern="1200" dirty="0">
                <a:solidFill>
                  <a:srgbClr val="FFFFFF"/>
                </a:solidFill>
                <a:latin typeface="+mj-lt"/>
                <a:ea typeface="+mj-ea"/>
                <a:cs typeface="+mj-cs"/>
              </a:rPr>
              <a:t> πα</a:t>
            </a:r>
            <a:r>
              <a:rPr lang="en-US" sz="4000" kern="1200" dirty="0" err="1">
                <a:solidFill>
                  <a:srgbClr val="FFFFFF"/>
                </a:solidFill>
                <a:latin typeface="+mj-lt"/>
                <a:ea typeface="+mj-ea"/>
                <a:cs typeface="+mj-cs"/>
              </a:rPr>
              <a:t>κέτων</a:t>
            </a:r>
            <a:endParaRPr lang="en-US" sz="4000" kern="1200" dirty="0">
              <a:solidFill>
                <a:srgbClr val="FFFFFF"/>
              </a:solidFill>
              <a:latin typeface="+mj-lt"/>
              <a:ea typeface="+mj-ea"/>
              <a:cs typeface="+mj-cs"/>
            </a:endParaRPr>
          </a:p>
        </p:txBody>
      </p:sp>
      <p:sp>
        <p:nvSpPr>
          <p:cNvPr id="4" name="Rectangle 1">
            <a:extLst>
              <a:ext uri="{FF2B5EF4-FFF2-40B4-BE49-F238E27FC236}">
                <a16:creationId xmlns:a16="http://schemas.microsoft.com/office/drawing/2014/main" id="{10F70A4C-7E9E-E0BD-8092-D121DD195EB9}"/>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Ο </a:t>
            </a:r>
            <a:r>
              <a:rPr kumimoji="0" lang="en-US" altLang="en-US" sz="2000" b="1" i="0" u="none" strike="noStrike" cap="none" normalizeH="0" baseline="0" dirty="0" err="1">
                <a:ln>
                  <a:noFill/>
                </a:ln>
                <a:effectLst/>
              </a:rPr>
              <a:t>Ρόλος</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του</a:t>
            </a:r>
            <a:r>
              <a:rPr kumimoji="0" lang="en-US" altLang="en-US" sz="2000" b="1" i="0" u="none" strike="noStrike" cap="none" normalizeH="0" baseline="0" dirty="0">
                <a:ln>
                  <a:noFill/>
                </a:ln>
                <a:effectLst/>
              </a:rPr>
              <a:t> Transmission Delay:</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Τα </a:t>
            </a:r>
            <a:r>
              <a:rPr kumimoji="0" lang="en-US" altLang="en-US" sz="2000" b="0" i="0" u="none" strike="noStrike" cap="none" normalizeH="0" baseline="0" dirty="0" err="1">
                <a:ln>
                  <a:noFill/>
                </a:ln>
                <a:effectLst/>
              </a:rPr>
              <a:t>μεγάλ</a:t>
            </a:r>
            <a:r>
              <a:rPr kumimoji="0" lang="en-US" altLang="en-US" sz="2000" b="0" i="0" u="none" strike="noStrike" cap="none" normalizeH="0" baseline="0" dirty="0">
                <a:ln>
                  <a:noFill/>
                </a:ln>
                <a:effectLst/>
              </a:rPr>
              <a:t>α πακέτα αυξάνουν δραματικά τον χρόνο μετάδοσης.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Αυτό</a:t>
            </a:r>
            <a:r>
              <a:rPr kumimoji="0" lang="en-US" altLang="en-US" sz="2000" b="0" i="0" u="none" strike="noStrike" cap="none" normalizeH="0" baseline="0" dirty="0">
                <a:ln>
                  <a:noFill/>
                </a:ln>
                <a:effectLst/>
              </a:rPr>
              <a:t> π</a:t>
            </a:r>
            <a:r>
              <a:rPr kumimoji="0" lang="en-US" altLang="en-US" sz="2000" b="0" i="0" u="none" strike="noStrike" cap="none" normalizeH="0" baseline="0" dirty="0" err="1">
                <a:ln>
                  <a:noFill/>
                </a:ln>
                <a:effectLst/>
              </a:rPr>
              <a:t>ροκ</a:t>
            </a:r>
            <a:r>
              <a:rPr kumimoji="0" lang="en-US" altLang="en-US" sz="2000" b="0" i="0" u="none" strike="noStrike" cap="none" normalizeH="0" baseline="0" dirty="0">
                <a:ln>
                  <a:noFill/>
                </a:ln>
                <a:effectLst/>
              </a:rPr>
              <a:t>αλεί ραγδαία συσσώρευση στην ουρά, καθώς τα νέα πακέτα φτάνουν πολύ πιο γρήγορα από ό,τι μπορεί να φύγει ένα "γίγαντας" πακέτο.</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Γενικό</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Συμ</a:t>
            </a:r>
            <a:r>
              <a:rPr kumimoji="0" lang="en-US" altLang="en-US" sz="2000" b="1" i="0" u="none" strike="noStrike" cap="none" normalizeH="0" baseline="0" dirty="0">
                <a:ln>
                  <a:noFill/>
                </a:ln>
                <a:effectLst/>
              </a:rPr>
              <a:t>πέρασμα:</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Η απ</a:t>
            </a:r>
            <a:r>
              <a:rPr kumimoji="0" lang="en-US" altLang="en-US" sz="2000" b="0" i="0" u="none" strike="noStrike" cap="none" normalizeH="0" baseline="0" dirty="0" err="1">
                <a:ln>
                  <a:noFill/>
                </a:ln>
                <a:effectLst/>
              </a:rPr>
              <a:t>όδοση</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του</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δικτύου</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δεν</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εξ</a:t>
            </a:r>
            <a:r>
              <a:rPr kumimoji="0" lang="en-US" altLang="en-US" sz="2000" b="0" i="0" u="none" strike="noStrike" cap="none" normalizeH="0" baseline="0" dirty="0">
                <a:ln>
                  <a:noFill/>
                </a:ln>
                <a:effectLst/>
              </a:rPr>
              <a:t>αρτάται μόνο από το πόσα πακέτα στέλνουμε (pkts/s), αλλά και από το πόσο μεγάλα είναι (Bytes).</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Μικρά</a:t>
            </a:r>
            <a:r>
              <a:rPr kumimoji="0" lang="en-US" altLang="en-US" sz="2000" b="0" i="0" u="none" strike="noStrike" cap="none" normalizeH="0" baseline="0" dirty="0">
                <a:ln>
                  <a:noFill/>
                </a:ln>
                <a:effectLst/>
              </a:rPr>
              <a:t> πα</a:t>
            </a:r>
            <a:r>
              <a:rPr kumimoji="0" lang="en-US" altLang="en-US" sz="2000" b="0" i="0" u="none" strike="noStrike" cap="none" normalizeH="0" baseline="0" dirty="0" err="1">
                <a:ln>
                  <a:noFill/>
                </a:ln>
                <a:effectLst/>
              </a:rPr>
              <a:t>κέτ</a:t>
            </a:r>
            <a:r>
              <a:rPr kumimoji="0" lang="en-US" altLang="en-US" sz="2000" b="0" i="0" u="none" strike="noStrike" cap="none" normalizeH="0" baseline="0" dirty="0">
                <a:ln>
                  <a:noFill/>
                </a:ln>
                <a:effectLst/>
              </a:rPr>
              <a:t>α = Χαμηλό Delay.</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Μεγάλ</a:t>
            </a:r>
            <a:r>
              <a:rPr kumimoji="0" lang="en-US" altLang="en-US" sz="2000" b="0" i="0" u="none" strike="noStrike" cap="none" normalizeH="0" baseline="0" dirty="0">
                <a:ln>
                  <a:noFill/>
                </a:ln>
                <a:effectLst/>
              </a:rPr>
              <a:t>α πακέτα σε αργό δίκτυο = Καταστροφική Συμφόρηση.</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35501884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657CAE8-535E-E416-9847-2C5FF5FB0FD6}"/>
              </a:ext>
            </a:extLst>
          </p:cNvPr>
          <p:cNvSpPr>
            <a:spLocks noGrp="1"/>
          </p:cNvSpPr>
          <p:nvPr>
            <p:ph type="title"/>
          </p:nvPr>
        </p:nvSpPr>
        <p:spPr>
          <a:xfrm>
            <a:off x="1386865" y="818984"/>
            <a:ext cx="6596245" cy="3268520"/>
          </a:xfrm>
        </p:spPr>
        <p:txBody>
          <a:bodyPr vert="horz" lIns="91440" tIns="45720" rIns="91440" bIns="45720" rtlCol="0" anchor="b">
            <a:normAutofit/>
          </a:bodyPr>
          <a:lstStyle/>
          <a:p>
            <a:pPr algn="r"/>
            <a:r>
              <a:rPr lang="en-US" sz="4800" b="1" kern="1200">
                <a:solidFill>
                  <a:srgbClr val="FFFFFF"/>
                </a:solidFill>
                <a:latin typeface="+mj-lt"/>
                <a:ea typeface="+mj-ea"/>
                <a:cs typeface="+mj-cs"/>
              </a:rPr>
              <a:t>Ευχαριστούμε για τον χρόνο σας!</a:t>
            </a:r>
          </a:p>
        </p:txBody>
      </p:sp>
      <p:sp>
        <p:nvSpPr>
          <p:cNvPr id="53" name="Rectangle 5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813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203</TotalTime>
  <Words>1618</Words>
  <Application>Microsoft Office PowerPoint</Application>
  <PresentationFormat>Widescreen</PresentationFormat>
  <Paragraphs>96</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Aptos</vt:lpstr>
      <vt:lpstr>Aptos Display</vt:lpstr>
      <vt:lpstr>Arial</vt:lpstr>
      <vt:lpstr>Office Theme</vt:lpstr>
      <vt:lpstr>Εργασία 13: Προσομοίωση &amp; Ανάλυση Απόδοσης Δικτύου με Python &amp; SimPy</vt:lpstr>
      <vt:lpstr>Το Πρόβλημα και τα Εργαλεία μας </vt:lpstr>
      <vt:lpstr>Οι Ιδιότητες του Δικτύου &amp; της Κίνησης</vt:lpstr>
      <vt:lpstr>Ανατομία της Συνολικής Καθυστέρησης (End-to-End Delay)</vt:lpstr>
      <vt:lpstr>Διαχείριση της Συμφόρησης</vt:lpstr>
      <vt:lpstr>PowerPoint Presentation</vt:lpstr>
      <vt:lpstr>Ανάλυση Συμφόρησης (1 Mbps)</vt:lpstr>
      <vt:lpstr>PowerPoint Presentation</vt:lpstr>
      <vt:lpstr>Ανάλυση Σταθερότητας (10 Mbps)</vt:lpstr>
      <vt:lpstr>PowerPoint Presentation</vt:lpstr>
      <vt:lpstr>Ανάλυση Υπερ-επάρκειας (100 Mbps)</vt:lpstr>
      <vt:lpstr>PowerPoint Presentation</vt:lpstr>
      <vt:lpstr>Σύγκριση Σεναρίων &amp; Συμπεράσματα</vt:lpstr>
      <vt:lpstr>Επίδραση Μεγέθους Πακέτου (Packet Size)</vt:lpstr>
      <vt:lpstr>Μικρά(100bytes) ενάντιας Μεσαία Πακέτα(1000bytes)</vt:lpstr>
      <vt:lpstr>PowerPoint Presentation</vt:lpstr>
      <vt:lpstr>Μεγάλα Πακέτα &amp; Ακραία Συμφόρηση</vt:lpstr>
      <vt:lpstr>PowerPoint Presentation</vt:lpstr>
      <vt:lpstr>PowerPoint Presentation</vt:lpstr>
      <vt:lpstr>Συμπέρασμα για τα μεγέθοι των πακέτων</vt:lpstr>
      <vt:lpstr>Ευχαριστούμε για τον χρόνο σας!</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chalampakis</dc:creator>
  <cp:lastModifiedBy>ΧΑΛΑΜΠΑΚΗΣ ΑΛΕΞΑΝΔΡΟΣ - ΓΕΩΡΓΙΟΣ</cp:lastModifiedBy>
  <cp:revision>63</cp:revision>
  <dcterms:created xsi:type="dcterms:W3CDTF">2025-11-03T13:00:07Z</dcterms:created>
  <dcterms:modified xsi:type="dcterms:W3CDTF">2025-11-22T20:14:01Z</dcterms:modified>
</cp:coreProperties>
</file>