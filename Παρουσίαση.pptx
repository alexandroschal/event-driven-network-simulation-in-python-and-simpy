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256" r:id="rId2"/>
    <p:sldId id="257" r:id="rId3"/>
    <p:sldId id="258" r:id="rId4"/>
    <p:sldId id="263" r:id="rId5"/>
    <p:sldId id="260" r:id="rId6"/>
    <p:sldId id="261" r:id="rId7"/>
    <p:sldId id="272" r:id="rId8"/>
    <p:sldId id="269" r:id="rId9"/>
    <p:sldId id="273" r:id="rId10"/>
    <p:sldId id="270" r:id="rId11"/>
    <p:sldId id="274" r:id="rId12"/>
    <p:sldId id="271" r:id="rId13"/>
    <p:sldId id="275" r:id="rId14"/>
    <p:sldId id="276" r:id="rId15"/>
    <p:sldId id="277" r:id="rId16"/>
    <p:sldId id="278" r:id="rId17"/>
    <p:sldId id="279" r:id="rId18"/>
    <p:sldId id="280" r:id="rId19"/>
    <p:sldId id="281" r:id="rId20"/>
    <p:sldId id="284" r:id="rId21"/>
    <p:sldId id="285" r:id="rId22"/>
    <p:sldId id="286" r:id="rId23"/>
    <p:sldId id="287" r:id="rId24"/>
    <p:sldId id="288" r:id="rId25"/>
    <p:sldId id="289" r:id="rId26"/>
    <p:sldId id="290" r:id="rId27"/>
    <p:sldId id="291" r:id="rId28"/>
    <p:sldId id="292" r:id="rId29"/>
    <p:sldId id="293" r:id="rId30"/>
    <p:sldId id="294" r:id="rId31"/>
    <p:sldId id="282"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34D23DB1-9F3E-4280-BC9C-7CD8D0FA7F4A}">
          <p14:sldIdLst>
            <p14:sldId id="256"/>
            <p14:sldId id="257"/>
            <p14:sldId id="258"/>
            <p14:sldId id="263"/>
            <p14:sldId id="260"/>
            <p14:sldId id="261"/>
            <p14:sldId id="272"/>
            <p14:sldId id="269"/>
            <p14:sldId id="273"/>
            <p14:sldId id="270"/>
            <p14:sldId id="274"/>
            <p14:sldId id="271"/>
            <p14:sldId id="275"/>
            <p14:sldId id="276"/>
            <p14:sldId id="277"/>
            <p14:sldId id="278"/>
            <p14:sldId id="279"/>
            <p14:sldId id="280"/>
            <p14:sldId id="281"/>
            <p14:sldId id="284"/>
            <p14:sldId id="285"/>
            <p14:sldId id="286"/>
            <p14:sldId id="287"/>
            <p14:sldId id="288"/>
            <p14:sldId id="289"/>
            <p14:sldId id="290"/>
            <p14:sldId id="291"/>
            <p14:sldId id="292"/>
            <p14:sldId id="293"/>
            <p14:sldId id="294"/>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100" d="100"/>
          <a:sy n="100" d="100"/>
        </p:scale>
        <p:origin x="96" y="186"/>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D69326-44DD-4742-86E4-66314258F05D}"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EDC39548-FF97-418A-A819-1D283F9A559A}">
      <dgm:prSet/>
      <dgm:spPr/>
      <dgm:t>
        <a:bodyPr/>
        <a:lstStyle/>
        <a:p>
          <a:r>
            <a:rPr lang="el-GR" b="1" dirty="0"/>
            <a:t>Ιδιότητες Σύνδεσης (Link Properties):</a:t>
          </a:r>
          <a:endParaRPr lang="en-US" dirty="0"/>
        </a:p>
      </dgm:t>
    </dgm:pt>
    <dgm:pt modelId="{9C8CEB9A-8D06-43EC-94F2-5AB3CC488B79}" type="parTrans" cxnId="{AAFF7F7C-9D1D-48B4-B64D-23D95E0B3CB2}">
      <dgm:prSet/>
      <dgm:spPr/>
      <dgm:t>
        <a:bodyPr/>
        <a:lstStyle/>
        <a:p>
          <a:endParaRPr lang="en-US"/>
        </a:p>
      </dgm:t>
    </dgm:pt>
    <dgm:pt modelId="{0B08AF6B-FE9F-4B4F-901D-29F082864BD9}" type="sibTrans" cxnId="{AAFF7F7C-9D1D-48B4-B64D-23D95E0B3CB2}">
      <dgm:prSet/>
      <dgm:spPr/>
      <dgm:t>
        <a:bodyPr/>
        <a:lstStyle/>
        <a:p>
          <a:endParaRPr lang="en-US"/>
        </a:p>
      </dgm:t>
    </dgm:pt>
    <dgm:pt modelId="{88CCC424-F2DE-4B18-AACF-2A4B5EC11DE9}">
      <dgm:prSet/>
      <dgm:spPr/>
      <dgm:t>
        <a:bodyPr/>
        <a:lstStyle/>
        <a:p>
          <a:r>
            <a:rPr lang="el-GR" b="1" dirty="0"/>
            <a:t>Bandwidth:</a:t>
          </a:r>
          <a:r>
            <a:rPr lang="el-GR" dirty="0"/>
            <a:t> 1 Mbps</a:t>
          </a:r>
          <a:r>
            <a:rPr lang="en-US" dirty="0"/>
            <a:t>.</a:t>
          </a:r>
          <a:r>
            <a:rPr lang="el-GR" dirty="0"/>
            <a:t>Το εύρος ζώνης είναι ο μέγιστος ρυθμός μεταφοράς δεδομένων.</a:t>
          </a:r>
          <a:br>
            <a:rPr lang="el-GR" dirty="0"/>
          </a:br>
          <a:r>
            <a:rPr lang="en-US" b="1" dirty="0"/>
            <a:t>Bandwidth </a:t>
          </a:r>
          <a:r>
            <a:rPr lang="el-GR" b="1" dirty="0"/>
            <a:t>σε </a:t>
          </a:r>
          <a:r>
            <a:rPr lang="en-US" b="1" dirty="0"/>
            <a:t>Bytes: </a:t>
          </a:r>
          <a:r>
            <a:rPr lang="en-US" dirty="0"/>
            <a:t>Bandwidth/8=125.000</a:t>
          </a:r>
          <a:br>
            <a:rPr lang="el-GR" dirty="0"/>
          </a:br>
          <a:r>
            <a:rPr lang="el-GR" b="1" dirty="0"/>
            <a:t>Propagation Delay:</a:t>
          </a:r>
          <a:r>
            <a:rPr lang="el-GR" dirty="0"/>
            <a:t> 50 ms. Καθυστέρηση διάδοσης είναι η χρονική διάρκεια που απαιτείται για να φτάσει ένα σήμα στον προορισμό του</a:t>
          </a:r>
          <a:r>
            <a:rPr lang="en-US" dirty="0"/>
            <a:t>.</a:t>
          </a:r>
          <a:r>
            <a:rPr lang="el-GR" dirty="0"/>
            <a:t>  </a:t>
          </a:r>
          <a:endParaRPr lang="en-US" dirty="0"/>
        </a:p>
      </dgm:t>
    </dgm:pt>
    <dgm:pt modelId="{9D593CDC-1D83-4951-8577-4FA6A83B157F}" type="parTrans" cxnId="{615C478B-2C54-4273-9894-9D5F4D8FA317}">
      <dgm:prSet/>
      <dgm:spPr/>
      <dgm:t>
        <a:bodyPr/>
        <a:lstStyle/>
        <a:p>
          <a:endParaRPr lang="en-US"/>
        </a:p>
      </dgm:t>
    </dgm:pt>
    <dgm:pt modelId="{BC190561-97FC-4AD1-B434-D20EA3452C4A}" type="sibTrans" cxnId="{615C478B-2C54-4273-9894-9D5F4D8FA317}">
      <dgm:prSet/>
      <dgm:spPr/>
      <dgm:t>
        <a:bodyPr/>
        <a:lstStyle/>
        <a:p>
          <a:endParaRPr lang="en-US"/>
        </a:p>
      </dgm:t>
    </dgm:pt>
    <dgm:pt modelId="{BD9FE78B-0E14-4EC9-89F5-BF7D0F62163E}">
      <dgm:prSet/>
      <dgm:spPr/>
      <dgm:t>
        <a:bodyPr/>
        <a:lstStyle/>
        <a:p>
          <a:r>
            <a:rPr lang="el-GR" b="1"/>
            <a:t>Ιδιότητες Κίνησης (Traffic Properties):</a:t>
          </a:r>
          <a:endParaRPr lang="en-US"/>
        </a:p>
      </dgm:t>
    </dgm:pt>
    <dgm:pt modelId="{8B5CD102-5555-4F0C-974C-636639071A42}" type="parTrans" cxnId="{4671FA20-BF1F-4992-86B9-86274DEF1D8C}">
      <dgm:prSet/>
      <dgm:spPr/>
      <dgm:t>
        <a:bodyPr/>
        <a:lstStyle/>
        <a:p>
          <a:endParaRPr lang="en-US"/>
        </a:p>
      </dgm:t>
    </dgm:pt>
    <dgm:pt modelId="{32EFDF6B-017D-4E2B-B3E2-FDFEBA04EDAA}" type="sibTrans" cxnId="{4671FA20-BF1F-4992-86B9-86274DEF1D8C}">
      <dgm:prSet/>
      <dgm:spPr/>
      <dgm:t>
        <a:bodyPr/>
        <a:lstStyle/>
        <a:p>
          <a:endParaRPr lang="en-US"/>
        </a:p>
      </dgm:t>
    </dgm:pt>
    <dgm:pt modelId="{A67EFF8A-3F6C-4B9F-B122-A4BAE7F02772}">
      <dgm:prSet/>
      <dgm:spPr/>
      <dgm:t>
        <a:bodyPr/>
        <a:lstStyle/>
        <a:p>
          <a:r>
            <a:rPr lang="el-GR" b="1" dirty="0"/>
            <a:t>Packet Size:</a:t>
          </a:r>
          <a:r>
            <a:rPr lang="el-GR" dirty="0"/>
            <a:t> 1000 Bytes. Το μέγεθος κάθε πακέτου. Η πηγή παράγει 1 πακέτο κάθε 5 ms (200 πακέτα/sec).</a:t>
          </a:r>
          <a:endParaRPr lang="en-US" dirty="0"/>
        </a:p>
      </dgm:t>
    </dgm:pt>
    <dgm:pt modelId="{87B23B13-2B68-4809-9510-C7809510550C}" type="parTrans" cxnId="{4D13E887-00E2-4369-A4D8-B6F87C8465CE}">
      <dgm:prSet/>
      <dgm:spPr/>
      <dgm:t>
        <a:bodyPr/>
        <a:lstStyle/>
        <a:p>
          <a:endParaRPr lang="en-US"/>
        </a:p>
      </dgm:t>
    </dgm:pt>
    <dgm:pt modelId="{6ACD542B-8FCC-4454-AB13-11E43D3C170F}" type="sibTrans" cxnId="{4D13E887-00E2-4369-A4D8-B6F87C8465CE}">
      <dgm:prSet/>
      <dgm:spPr/>
      <dgm:t>
        <a:bodyPr/>
        <a:lstStyle/>
        <a:p>
          <a:endParaRPr lang="en-US"/>
        </a:p>
      </dgm:t>
    </dgm:pt>
    <dgm:pt modelId="{2262E5BA-5B98-481F-8B1E-2A62B06C363C}">
      <dgm:prSet/>
      <dgm:spPr/>
      <dgm:t>
        <a:bodyPr/>
        <a:lstStyle/>
        <a:p>
          <a:r>
            <a:rPr lang="el-GR" b="1"/>
            <a:t>Υπολογίζουμε τον Χρόνο Εξυπηρέτησης (Service Time):</a:t>
          </a:r>
          <a:endParaRPr lang="en-US"/>
        </a:p>
      </dgm:t>
    </dgm:pt>
    <dgm:pt modelId="{4951BBE4-C0F0-462B-99D7-A08AD5732EC9}" type="parTrans" cxnId="{31492FF1-2671-4DDC-A215-74F232CB5436}">
      <dgm:prSet/>
      <dgm:spPr/>
      <dgm:t>
        <a:bodyPr/>
        <a:lstStyle/>
        <a:p>
          <a:endParaRPr lang="en-US"/>
        </a:p>
      </dgm:t>
    </dgm:pt>
    <dgm:pt modelId="{033FCEDA-566C-424C-8AC8-E29B750A5443}" type="sibTrans" cxnId="{31492FF1-2671-4DDC-A215-74F232CB5436}">
      <dgm:prSet/>
      <dgm:spPr/>
      <dgm:t>
        <a:bodyPr/>
        <a:lstStyle/>
        <a:p>
          <a:endParaRPr lang="en-US"/>
        </a:p>
      </dgm:t>
    </dgm:pt>
    <dgm:pt modelId="{9B428F33-8957-442B-8C96-555D735E988F}">
      <dgm:prSet/>
      <dgm:spPr/>
      <dgm:t>
        <a:bodyPr/>
        <a:lstStyle/>
        <a:p>
          <a:r>
            <a:rPr lang="el-GR" dirty="0"/>
            <a:t>Transmission Delay = Packet Size / Bandwidth</a:t>
          </a:r>
          <a:endParaRPr lang="en-US" dirty="0"/>
        </a:p>
      </dgm:t>
    </dgm:pt>
    <dgm:pt modelId="{8184D41A-6472-4907-86A0-3D5C3438E5F9}" type="parTrans" cxnId="{C234A2B5-8BA4-47DF-AB4C-57BC67854599}">
      <dgm:prSet/>
      <dgm:spPr/>
      <dgm:t>
        <a:bodyPr/>
        <a:lstStyle/>
        <a:p>
          <a:endParaRPr lang="en-US"/>
        </a:p>
      </dgm:t>
    </dgm:pt>
    <dgm:pt modelId="{DED308C0-7E1F-4D24-9D9F-0DBBA498B975}" type="sibTrans" cxnId="{C234A2B5-8BA4-47DF-AB4C-57BC67854599}">
      <dgm:prSet/>
      <dgm:spPr/>
      <dgm:t>
        <a:bodyPr/>
        <a:lstStyle/>
        <a:p>
          <a:endParaRPr lang="en-US"/>
        </a:p>
      </dgm:t>
    </dgm:pt>
    <dgm:pt modelId="{A800B672-9907-46AA-9EF7-9D0F12B5F50A}">
      <dgm:prSet/>
      <dgm:spPr/>
      <dgm:t>
        <a:bodyPr/>
        <a:lstStyle/>
        <a:p>
          <a:r>
            <a:rPr lang="el-GR" dirty="0"/>
            <a:t>1000 Bytes / 125,000 Bytes/sec = 0.008 δευτερόλεπτα(8</a:t>
          </a:r>
          <a:r>
            <a:rPr lang="en-US" dirty="0" err="1"/>
            <a:t>ms</a:t>
          </a:r>
          <a:r>
            <a:rPr lang="en-US" dirty="0"/>
            <a:t>).</a:t>
          </a:r>
        </a:p>
      </dgm:t>
    </dgm:pt>
    <dgm:pt modelId="{83295F43-A544-4BC9-A15E-336ACD3705A5}" type="parTrans" cxnId="{5D183CC6-271F-427E-B731-2318A3D9CAA2}">
      <dgm:prSet/>
      <dgm:spPr/>
      <dgm:t>
        <a:bodyPr/>
        <a:lstStyle/>
        <a:p>
          <a:endParaRPr lang="en-US"/>
        </a:p>
      </dgm:t>
    </dgm:pt>
    <dgm:pt modelId="{CB07B613-652D-4B92-B488-2716AFAC6589}" type="sibTrans" cxnId="{5D183CC6-271F-427E-B731-2318A3D9CAA2}">
      <dgm:prSet/>
      <dgm:spPr/>
      <dgm:t>
        <a:bodyPr/>
        <a:lstStyle/>
        <a:p>
          <a:endParaRPr lang="en-US"/>
        </a:p>
      </dgm:t>
    </dgm:pt>
    <dgm:pt modelId="{D636800D-A21A-4EC9-ADC3-E159EA154386}">
      <dgm:prSet/>
      <dgm:spPr/>
      <dgm:t>
        <a:bodyPr/>
        <a:lstStyle/>
        <a:p>
          <a:r>
            <a:rPr lang="el-GR"/>
            <a:t>Αυτό σημαίνει ότι ο router χρειάζεται </a:t>
          </a:r>
          <a:r>
            <a:rPr lang="el-GR" b="1"/>
            <a:t>8ms</a:t>
          </a:r>
          <a:r>
            <a:rPr lang="el-GR"/>
            <a:t> για να σπρώξει ένα ολόκληρο πακέτο στη γραμμή.</a:t>
          </a:r>
          <a:endParaRPr lang="en-US"/>
        </a:p>
      </dgm:t>
    </dgm:pt>
    <dgm:pt modelId="{67791BFA-E425-416F-8F2A-60288AAB6D61}" type="parTrans" cxnId="{478CBD43-281D-4C79-A7E2-364AD76CFE93}">
      <dgm:prSet/>
      <dgm:spPr/>
      <dgm:t>
        <a:bodyPr/>
        <a:lstStyle/>
        <a:p>
          <a:endParaRPr lang="en-US"/>
        </a:p>
      </dgm:t>
    </dgm:pt>
    <dgm:pt modelId="{E89257FF-E7A4-4C6E-89D0-B83AFF8E1D3D}" type="sibTrans" cxnId="{478CBD43-281D-4C79-A7E2-364AD76CFE93}">
      <dgm:prSet/>
      <dgm:spPr/>
      <dgm:t>
        <a:bodyPr/>
        <a:lstStyle/>
        <a:p>
          <a:endParaRPr lang="en-US"/>
        </a:p>
      </dgm:t>
    </dgm:pt>
    <dgm:pt modelId="{E91D0413-D1BD-4220-A10D-694EAE9E0BD9}" type="pres">
      <dgm:prSet presAssocID="{85D69326-44DD-4742-86E4-66314258F05D}" presName="Name0" presStyleCnt="0">
        <dgm:presLayoutVars>
          <dgm:dir/>
          <dgm:animLvl val="lvl"/>
          <dgm:resizeHandles val="exact"/>
        </dgm:presLayoutVars>
      </dgm:prSet>
      <dgm:spPr/>
    </dgm:pt>
    <dgm:pt modelId="{1A15609F-D140-4203-B83C-1DAE7A473E64}" type="pres">
      <dgm:prSet presAssocID="{EDC39548-FF97-418A-A819-1D283F9A559A}" presName="linNode" presStyleCnt="0"/>
      <dgm:spPr/>
    </dgm:pt>
    <dgm:pt modelId="{1912DF6A-2585-4A61-90CF-3969A2906B4A}" type="pres">
      <dgm:prSet presAssocID="{EDC39548-FF97-418A-A819-1D283F9A559A}" presName="parentText" presStyleLbl="node1" presStyleIdx="0" presStyleCnt="3">
        <dgm:presLayoutVars>
          <dgm:chMax val="1"/>
          <dgm:bulletEnabled val="1"/>
        </dgm:presLayoutVars>
      </dgm:prSet>
      <dgm:spPr/>
    </dgm:pt>
    <dgm:pt modelId="{767B2262-6F76-471D-AB4A-160697494586}" type="pres">
      <dgm:prSet presAssocID="{EDC39548-FF97-418A-A819-1D283F9A559A}" presName="descendantText" presStyleLbl="alignAccFollowNode1" presStyleIdx="0" presStyleCnt="3">
        <dgm:presLayoutVars>
          <dgm:bulletEnabled val="1"/>
        </dgm:presLayoutVars>
      </dgm:prSet>
      <dgm:spPr/>
    </dgm:pt>
    <dgm:pt modelId="{24B66BC2-05B8-4BEF-B798-CAC365F743E1}" type="pres">
      <dgm:prSet presAssocID="{0B08AF6B-FE9F-4B4F-901D-29F082864BD9}" presName="sp" presStyleCnt="0"/>
      <dgm:spPr/>
    </dgm:pt>
    <dgm:pt modelId="{E23525B0-0D8B-4C7B-9A21-EEE8A7666B29}" type="pres">
      <dgm:prSet presAssocID="{BD9FE78B-0E14-4EC9-89F5-BF7D0F62163E}" presName="linNode" presStyleCnt="0"/>
      <dgm:spPr/>
    </dgm:pt>
    <dgm:pt modelId="{E8B91188-4BE9-49E8-839D-C577A75DD324}" type="pres">
      <dgm:prSet presAssocID="{BD9FE78B-0E14-4EC9-89F5-BF7D0F62163E}" presName="parentText" presStyleLbl="node1" presStyleIdx="1" presStyleCnt="3">
        <dgm:presLayoutVars>
          <dgm:chMax val="1"/>
          <dgm:bulletEnabled val="1"/>
        </dgm:presLayoutVars>
      </dgm:prSet>
      <dgm:spPr/>
    </dgm:pt>
    <dgm:pt modelId="{4941C0ED-29C4-434A-A426-25C2D387BD79}" type="pres">
      <dgm:prSet presAssocID="{BD9FE78B-0E14-4EC9-89F5-BF7D0F62163E}" presName="descendantText" presStyleLbl="alignAccFollowNode1" presStyleIdx="1" presStyleCnt="3">
        <dgm:presLayoutVars>
          <dgm:bulletEnabled val="1"/>
        </dgm:presLayoutVars>
      </dgm:prSet>
      <dgm:spPr/>
    </dgm:pt>
    <dgm:pt modelId="{2EC80A01-F1F9-4C1D-9C46-50F22AC640B4}" type="pres">
      <dgm:prSet presAssocID="{32EFDF6B-017D-4E2B-B3E2-FDFEBA04EDAA}" presName="sp" presStyleCnt="0"/>
      <dgm:spPr/>
    </dgm:pt>
    <dgm:pt modelId="{76472F46-1AA9-4CCE-80D9-C2CB5427628A}" type="pres">
      <dgm:prSet presAssocID="{2262E5BA-5B98-481F-8B1E-2A62B06C363C}" presName="linNode" presStyleCnt="0"/>
      <dgm:spPr/>
    </dgm:pt>
    <dgm:pt modelId="{DBB92D28-5C5A-451E-B08C-842B1CA6E3DB}" type="pres">
      <dgm:prSet presAssocID="{2262E5BA-5B98-481F-8B1E-2A62B06C363C}" presName="parentText" presStyleLbl="node1" presStyleIdx="2" presStyleCnt="3">
        <dgm:presLayoutVars>
          <dgm:chMax val="1"/>
          <dgm:bulletEnabled val="1"/>
        </dgm:presLayoutVars>
      </dgm:prSet>
      <dgm:spPr/>
    </dgm:pt>
    <dgm:pt modelId="{0B347050-530E-4D77-BD25-9718AF6A1990}" type="pres">
      <dgm:prSet presAssocID="{2262E5BA-5B98-481F-8B1E-2A62B06C363C}" presName="descendantText" presStyleLbl="alignAccFollowNode1" presStyleIdx="2" presStyleCnt="3">
        <dgm:presLayoutVars>
          <dgm:bulletEnabled val="1"/>
        </dgm:presLayoutVars>
      </dgm:prSet>
      <dgm:spPr/>
    </dgm:pt>
  </dgm:ptLst>
  <dgm:cxnLst>
    <dgm:cxn modelId="{96B1A013-5F9A-4BC9-A8F4-A25469DE6648}" type="presOf" srcId="{85D69326-44DD-4742-86E4-66314258F05D}" destId="{E91D0413-D1BD-4220-A10D-694EAE9E0BD9}" srcOrd="0" destOrd="0" presId="urn:microsoft.com/office/officeart/2005/8/layout/vList5"/>
    <dgm:cxn modelId="{4671FA20-BF1F-4992-86B9-86274DEF1D8C}" srcId="{85D69326-44DD-4742-86E4-66314258F05D}" destId="{BD9FE78B-0E14-4EC9-89F5-BF7D0F62163E}" srcOrd="1" destOrd="0" parTransId="{8B5CD102-5555-4F0C-974C-636639071A42}" sibTransId="{32EFDF6B-017D-4E2B-B3E2-FDFEBA04EDAA}"/>
    <dgm:cxn modelId="{1615CE3A-5541-488C-8AAE-91BBBE9305B5}" type="presOf" srcId="{2262E5BA-5B98-481F-8B1E-2A62B06C363C}" destId="{DBB92D28-5C5A-451E-B08C-842B1CA6E3DB}" srcOrd="0" destOrd="0" presId="urn:microsoft.com/office/officeart/2005/8/layout/vList5"/>
    <dgm:cxn modelId="{478CBD43-281D-4C79-A7E2-364AD76CFE93}" srcId="{2262E5BA-5B98-481F-8B1E-2A62B06C363C}" destId="{D636800D-A21A-4EC9-ADC3-E159EA154386}" srcOrd="2" destOrd="0" parTransId="{67791BFA-E425-416F-8F2A-60288AAB6D61}" sibTransId="{E89257FF-E7A4-4C6E-89D0-B83AFF8E1D3D}"/>
    <dgm:cxn modelId="{C397C277-00C1-446B-AF49-C03904F7CC66}" type="presOf" srcId="{A800B672-9907-46AA-9EF7-9D0F12B5F50A}" destId="{0B347050-530E-4D77-BD25-9718AF6A1990}" srcOrd="0" destOrd="1" presId="urn:microsoft.com/office/officeart/2005/8/layout/vList5"/>
    <dgm:cxn modelId="{AAFF7F7C-9D1D-48B4-B64D-23D95E0B3CB2}" srcId="{85D69326-44DD-4742-86E4-66314258F05D}" destId="{EDC39548-FF97-418A-A819-1D283F9A559A}" srcOrd="0" destOrd="0" parTransId="{9C8CEB9A-8D06-43EC-94F2-5AB3CC488B79}" sibTransId="{0B08AF6B-FE9F-4B4F-901D-29F082864BD9}"/>
    <dgm:cxn modelId="{4D13E887-00E2-4369-A4D8-B6F87C8465CE}" srcId="{BD9FE78B-0E14-4EC9-89F5-BF7D0F62163E}" destId="{A67EFF8A-3F6C-4B9F-B122-A4BAE7F02772}" srcOrd="0" destOrd="0" parTransId="{87B23B13-2B68-4809-9510-C7809510550C}" sibTransId="{6ACD542B-8FCC-4454-AB13-11E43D3C170F}"/>
    <dgm:cxn modelId="{615C478B-2C54-4273-9894-9D5F4D8FA317}" srcId="{EDC39548-FF97-418A-A819-1D283F9A559A}" destId="{88CCC424-F2DE-4B18-AACF-2A4B5EC11DE9}" srcOrd="0" destOrd="0" parTransId="{9D593CDC-1D83-4951-8577-4FA6A83B157F}" sibTransId="{BC190561-97FC-4AD1-B434-D20EA3452C4A}"/>
    <dgm:cxn modelId="{8A7F78B1-7522-4165-ABBD-D58B94724097}" type="presOf" srcId="{D636800D-A21A-4EC9-ADC3-E159EA154386}" destId="{0B347050-530E-4D77-BD25-9718AF6A1990}" srcOrd="0" destOrd="2" presId="urn:microsoft.com/office/officeart/2005/8/layout/vList5"/>
    <dgm:cxn modelId="{6E0927B3-1589-4D87-BFA5-672A126528C6}" type="presOf" srcId="{88CCC424-F2DE-4B18-AACF-2A4B5EC11DE9}" destId="{767B2262-6F76-471D-AB4A-160697494586}" srcOrd="0" destOrd="0" presId="urn:microsoft.com/office/officeart/2005/8/layout/vList5"/>
    <dgm:cxn modelId="{C234A2B5-8BA4-47DF-AB4C-57BC67854599}" srcId="{2262E5BA-5B98-481F-8B1E-2A62B06C363C}" destId="{9B428F33-8957-442B-8C96-555D735E988F}" srcOrd="0" destOrd="0" parTransId="{8184D41A-6472-4907-86A0-3D5C3438E5F9}" sibTransId="{DED308C0-7E1F-4D24-9D9F-0DBBA498B975}"/>
    <dgm:cxn modelId="{0DB5E3BB-980B-43B5-9771-E1E95B92FBC2}" type="presOf" srcId="{BD9FE78B-0E14-4EC9-89F5-BF7D0F62163E}" destId="{E8B91188-4BE9-49E8-839D-C577A75DD324}" srcOrd="0" destOrd="0" presId="urn:microsoft.com/office/officeart/2005/8/layout/vList5"/>
    <dgm:cxn modelId="{184CC6C4-7D5D-4541-B6B0-3A385BE010C8}" type="presOf" srcId="{A67EFF8A-3F6C-4B9F-B122-A4BAE7F02772}" destId="{4941C0ED-29C4-434A-A426-25C2D387BD79}" srcOrd="0" destOrd="0" presId="urn:microsoft.com/office/officeart/2005/8/layout/vList5"/>
    <dgm:cxn modelId="{5D183CC6-271F-427E-B731-2318A3D9CAA2}" srcId="{2262E5BA-5B98-481F-8B1E-2A62B06C363C}" destId="{A800B672-9907-46AA-9EF7-9D0F12B5F50A}" srcOrd="1" destOrd="0" parTransId="{83295F43-A544-4BC9-A15E-336ACD3705A5}" sibTransId="{CB07B613-652D-4B92-B488-2716AFAC6589}"/>
    <dgm:cxn modelId="{6F18BBCD-D2ED-4D73-8F46-5C2015481AE1}" type="presOf" srcId="{9B428F33-8957-442B-8C96-555D735E988F}" destId="{0B347050-530E-4D77-BD25-9718AF6A1990}" srcOrd="0" destOrd="0" presId="urn:microsoft.com/office/officeart/2005/8/layout/vList5"/>
    <dgm:cxn modelId="{481EF2D0-3699-4E2E-A516-E0B58DF46874}" type="presOf" srcId="{EDC39548-FF97-418A-A819-1D283F9A559A}" destId="{1912DF6A-2585-4A61-90CF-3969A2906B4A}" srcOrd="0" destOrd="0" presId="urn:microsoft.com/office/officeart/2005/8/layout/vList5"/>
    <dgm:cxn modelId="{31492FF1-2671-4DDC-A215-74F232CB5436}" srcId="{85D69326-44DD-4742-86E4-66314258F05D}" destId="{2262E5BA-5B98-481F-8B1E-2A62B06C363C}" srcOrd="2" destOrd="0" parTransId="{4951BBE4-C0F0-462B-99D7-A08AD5732EC9}" sibTransId="{033FCEDA-566C-424C-8AC8-E29B750A5443}"/>
    <dgm:cxn modelId="{354DF224-1027-4A71-BFAC-F2CD5130750B}" type="presParOf" srcId="{E91D0413-D1BD-4220-A10D-694EAE9E0BD9}" destId="{1A15609F-D140-4203-B83C-1DAE7A473E64}" srcOrd="0" destOrd="0" presId="urn:microsoft.com/office/officeart/2005/8/layout/vList5"/>
    <dgm:cxn modelId="{6340D1BE-AACF-4B47-9F57-89248D95C730}" type="presParOf" srcId="{1A15609F-D140-4203-B83C-1DAE7A473E64}" destId="{1912DF6A-2585-4A61-90CF-3969A2906B4A}" srcOrd="0" destOrd="0" presId="urn:microsoft.com/office/officeart/2005/8/layout/vList5"/>
    <dgm:cxn modelId="{0B3A2AE5-384D-4573-8764-D4F62139B798}" type="presParOf" srcId="{1A15609F-D140-4203-B83C-1DAE7A473E64}" destId="{767B2262-6F76-471D-AB4A-160697494586}" srcOrd="1" destOrd="0" presId="urn:microsoft.com/office/officeart/2005/8/layout/vList5"/>
    <dgm:cxn modelId="{1308ACC3-C616-4E14-8717-978D0B1F5124}" type="presParOf" srcId="{E91D0413-D1BD-4220-A10D-694EAE9E0BD9}" destId="{24B66BC2-05B8-4BEF-B798-CAC365F743E1}" srcOrd="1" destOrd="0" presId="urn:microsoft.com/office/officeart/2005/8/layout/vList5"/>
    <dgm:cxn modelId="{C3F96255-85F9-4F57-8066-FEE67A25CB6D}" type="presParOf" srcId="{E91D0413-D1BD-4220-A10D-694EAE9E0BD9}" destId="{E23525B0-0D8B-4C7B-9A21-EEE8A7666B29}" srcOrd="2" destOrd="0" presId="urn:microsoft.com/office/officeart/2005/8/layout/vList5"/>
    <dgm:cxn modelId="{169D01E7-785A-4C18-82D5-C78D02C72980}" type="presParOf" srcId="{E23525B0-0D8B-4C7B-9A21-EEE8A7666B29}" destId="{E8B91188-4BE9-49E8-839D-C577A75DD324}" srcOrd="0" destOrd="0" presId="urn:microsoft.com/office/officeart/2005/8/layout/vList5"/>
    <dgm:cxn modelId="{10EC6126-9899-47C9-A7B7-9485614186F3}" type="presParOf" srcId="{E23525B0-0D8B-4C7B-9A21-EEE8A7666B29}" destId="{4941C0ED-29C4-434A-A426-25C2D387BD79}" srcOrd="1" destOrd="0" presId="urn:microsoft.com/office/officeart/2005/8/layout/vList5"/>
    <dgm:cxn modelId="{13FBE788-26D5-4FC0-8823-B8FE7C1284B1}" type="presParOf" srcId="{E91D0413-D1BD-4220-A10D-694EAE9E0BD9}" destId="{2EC80A01-F1F9-4C1D-9C46-50F22AC640B4}" srcOrd="3" destOrd="0" presId="urn:microsoft.com/office/officeart/2005/8/layout/vList5"/>
    <dgm:cxn modelId="{17D0E2F7-08B2-4DB4-94A6-2993DD4F891B}" type="presParOf" srcId="{E91D0413-D1BD-4220-A10D-694EAE9E0BD9}" destId="{76472F46-1AA9-4CCE-80D9-C2CB5427628A}" srcOrd="4" destOrd="0" presId="urn:microsoft.com/office/officeart/2005/8/layout/vList5"/>
    <dgm:cxn modelId="{9C8FA31D-136D-4644-8A23-771D71639798}" type="presParOf" srcId="{76472F46-1AA9-4CCE-80D9-C2CB5427628A}" destId="{DBB92D28-5C5A-451E-B08C-842B1CA6E3DB}" srcOrd="0" destOrd="0" presId="urn:microsoft.com/office/officeart/2005/8/layout/vList5"/>
    <dgm:cxn modelId="{B5302517-2D68-472E-B1DF-BCC918268D5D}" type="presParOf" srcId="{76472F46-1AA9-4CCE-80D9-C2CB5427628A}" destId="{0B347050-530E-4D77-BD25-9718AF6A1990}"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D72AFD5-EF56-4C0F-A5B1-2093072216EB}" type="doc">
      <dgm:prSet loTypeId="urn:microsoft.com/office/officeart/2005/8/layout/hList1" loCatId="list" qsTypeId="urn:microsoft.com/office/officeart/2005/8/quickstyle/simple1" qsCatId="simple" csTypeId="urn:microsoft.com/office/officeart/2005/8/colors/accent1_2" csCatId="accent1" phldr="1"/>
      <dgm:spPr/>
      <dgm:t>
        <a:bodyPr/>
        <a:lstStyle/>
        <a:p>
          <a:endParaRPr lang="en-US"/>
        </a:p>
      </dgm:t>
    </dgm:pt>
    <dgm:pt modelId="{F2590C97-947F-4B60-82B3-5E777E1F569B}">
      <dgm:prSet/>
      <dgm:spPr/>
      <dgm:t>
        <a:bodyPr/>
        <a:lstStyle/>
        <a:p>
          <a:r>
            <a:rPr lang="el-GR" b="1" dirty="0"/>
            <a:t>Δημιουργία Ουράς (Queue):</a:t>
          </a:r>
          <a:endParaRPr lang="en-US" dirty="0"/>
        </a:p>
      </dgm:t>
    </dgm:pt>
    <dgm:pt modelId="{AD0B5BF4-BCAE-4073-890D-CC54E83E93CD}" type="parTrans" cxnId="{923EA1D4-F338-4274-87C4-BB8E10751AF0}">
      <dgm:prSet/>
      <dgm:spPr/>
      <dgm:t>
        <a:bodyPr/>
        <a:lstStyle/>
        <a:p>
          <a:endParaRPr lang="en-US"/>
        </a:p>
      </dgm:t>
    </dgm:pt>
    <dgm:pt modelId="{D92E37B1-AB4B-4A38-82B4-62B5DD1C2617}" type="sibTrans" cxnId="{923EA1D4-F338-4274-87C4-BB8E10751AF0}">
      <dgm:prSet/>
      <dgm:spPr/>
      <dgm:t>
        <a:bodyPr/>
        <a:lstStyle/>
        <a:p>
          <a:endParaRPr lang="en-US"/>
        </a:p>
      </dgm:t>
    </dgm:pt>
    <dgm:pt modelId="{7C006DF7-BEB1-41E8-8D13-DFDD0C297AD3}">
      <dgm:prSet/>
      <dgm:spPr/>
      <dgm:t>
        <a:bodyPr/>
        <a:lstStyle/>
        <a:p>
          <a:r>
            <a:rPr lang="el-GR" dirty="0"/>
            <a:t>Χρησιμοποιήσαμε το simpy.Store για να μοντελοποιήσουμε την ουρά του router.</a:t>
          </a:r>
          <a:br>
            <a:rPr lang="en-US" dirty="0"/>
          </a:br>
          <a:endParaRPr lang="en-US" dirty="0"/>
        </a:p>
      </dgm:t>
    </dgm:pt>
    <dgm:pt modelId="{E64542C8-82BD-4844-B0C7-128D98E9AFDB}" type="parTrans" cxnId="{909DF0E0-EC78-42D7-B1A7-7BB7F5FC9854}">
      <dgm:prSet/>
      <dgm:spPr/>
      <dgm:t>
        <a:bodyPr/>
        <a:lstStyle/>
        <a:p>
          <a:endParaRPr lang="en-US"/>
        </a:p>
      </dgm:t>
    </dgm:pt>
    <dgm:pt modelId="{D3E05407-63B3-41F8-A5DD-EDA1F03210F8}" type="sibTrans" cxnId="{909DF0E0-EC78-42D7-B1A7-7BB7F5FC9854}">
      <dgm:prSet/>
      <dgm:spPr/>
      <dgm:t>
        <a:bodyPr/>
        <a:lstStyle/>
        <a:p>
          <a:endParaRPr lang="en-US"/>
        </a:p>
      </dgm:t>
    </dgm:pt>
    <dgm:pt modelId="{33DEACA2-0BDA-41B6-8932-DED6CC7B47E7}">
      <dgm:prSet/>
      <dgm:spPr/>
      <dgm:t>
        <a:bodyPr/>
        <a:lstStyle/>
        <a:p>
          <a:r>
            <a:rPr lang="el-GR"/>
            <a:t>Ορίσαμε </a:t>
          </a:r>
          <a:r>
            <a:rPr lang="el-GR" b="1"/>
            <a:t>περιορισμένο μέγεθος:</a:t>
          </a:r>
          <a:r>
            <a:rPr lang="el-GR"/>
            <a:t> QUEUE_SIZE = 10 πακέτα.</a:t>
          </a:r>
          <a:endParaRPr lang="en-US"/>
        </a:p>
      </dgm:t>
    </dgm:pt>
    <dgm:pt modelId="{D677F2F7-2479-4DC5-88BF-3A8F98B39081}" type="parTrans" cxnId="{5C85E432-15C2-426D-94C8-64533C72EA2B}">
      <dgm:prSet/>
      <dgm:spPr/>
      <dgm:t>
        <a:bodyPr/>
        <a:lstStyle/>
        <a:p>
          <a:endParaRPr lang="en-US"/>
        </a:p>
      </dgm:t>
    </dgm:pt>
    <dgm:pt modelId="{F6ADE3BA-EBF5-4A2C-8B09-13323FCDCD3E}" type="sibTrans" cxnId="{5C85E432-15C2-426D-94C8-64533C72EA2B}">
      <dgm:prSet/>
      <dgm:spPr/>
      <dgm:t>
        <a:bodyPr/>
        <a:lstStyle/>
        <a:p>
          <a:endParaRPr lang="en-US"/>
        </a:p>
      </dgm:t>
    </dgm:pt>
    <dgm:pt modelId="{7C23E5CA-9C61-4A59-ACE4-E5137FC17D1D}">
      <dgm:prSet/>
      <dgm:spPr/>
      <dgm:t>
        <a:bodyPr/>
        <a:lstStyle/>
        <a:p>
          <a:r>
            <a:rPr lang="el-GR" b="1"/>
            <a:t>Η Λογική του Router:</a:t>
          </a:r>
          <a:endParaRPr lang="en-US"/>
        </a:p>
      </dgm:t>
    </dgm:pt>
    <dgm:pt modelId="{B8FC6E0E-9C19-4ED6-829D-B649E1BE4F22}" type="parTrans" cxnId="{BA6C1DD2-8720-4388-B833-6C98AA9B8D43}">
      <dgm:prSet/>
      <dgm:spPr/>
      <dgm:t>
        <a:bodyPr/>
        <a:lstStyle/>
        <a:p>
          <a:endParaRPr lang="en-US"/>
        </a:p>
      </dgm:t>
    </dgm:pt>
    <dgm:pt modelId="{44ABC6FB-9855-4A0D-A938-FE02565D7F80}" type="sibTrans" cxnId="{BA6C1DD2-8720-4388-B833-6C98AA9B8D43}">
      <dgm:prSet/>
      <dgm:spPr/>
      <dgm:t>
        <a:bodyPr/>
        <a:lstStyle/>
        <a:p>
          <a:endParaRPr lang="en-US"/>
        </a:p>
      </dgm:t>
    </dgm:pt>
    <dgm:pt modelId="{99FDD68B-08F1-48F4-9062-0C93662E6F67}">
      <dgm:prSet/>
      <dgm:spPr/>
      <dgm:t>
        <a:bodyPr/>
        <a:lstStyle/>
        <a:p>
          <a:r>
            <a:rPr lang="el-GR" b="1"/>
            <a:t>Όταν ένα πακέτο φτάνει:</a:t>
          </a:r>
          <a:endParaRPr lang="en-US"/>
        </a:p>
      </dgm:t>
    </dgm:pt>
    <dgm:pt modelId="{D520DEA1-ECB5-4D37-BAD5-A0B7D8AAAA7F}" type="parTrans" cxnId="{BB943966-C938-4CB3-9FEA-891FD4422E1D}">
      <dgm:prSet/>
      <dgm:spPr/>
      <dgm:t>
        <a:bodyPr/>
        <a:lstStyle/>
        <a:p>
          <a:endParaRPr lang="en-US"/>
        </a:p>
      </dgm:t>
    </dgm:pt>
    <dgm:pt modelId="{6C12B00D-F9BF-4C8C-A732-8C378F8A8CE5}" type="sibTrans" cxnId="{BB943966-C938-4CB3-9FEA-891FD4422E1D}">
      <dgm:prSet/>
      <dgm:spPr/>
      <dgm:t>
        <a:bodyPr/>
        <a:lstStyle/>
        <a:p>
          <a:endParaRPr lang="en-US"/>
        </a:p>
      </dgm:t>
    </dgm:pt>
    <dgm:pt modelId="{757881B9-F05B-4ACE-8B21-506D02266ED9}">
      <dgm:prSet/>
      <dgm:spPr/>
      <dgm:t>
        <a:bodyPr/>
        <a:lstStyle/>
        <a:p>
          <a:r>
            <a:rPr lang="el-GR" b="1"/>
            <a:t>Ερώτηση:</a:t>
          </a:r>
          <a:r>
            <a:rPr lang="el-GR"/>
            <a:t> Υπάρχει χώρος στην ουρά;</a:t>
          </a:r>
          <a:endParaRPr lang="en-US"/>
        </a:p>
      </dgm:t>
    </dgm:pt>
    <dgm:pt modelId="{06AFCF25-A542-4BDF-A6E9-BDF4D06BB547}" type="parTrans" cxnId="{D9507DD8-5815-4683-9FBD-5044E0D3DF2C}">
      <dgm:prSet/>
      <dgm:spPr/>
      <dgm:t>
        <a:bodyPr/>
        <a:lstStyle/>
        <a:p>
          <a:endParaRPr lang="en-US"/>
        </a:p>
      </dgm:t>
    </dgm:pt>
    <dgm:pt modelId="{7818076D-D852-4FB8-B51E-F1A725D757AC}" type="sibTrans" cxnId="{D9507DD8-5815-4683-9FBD-5044E0D3DF2C}">
      <dgm:prSet/>
      <dgm:spPr/>
      <dgm:t>
        <a:bodyPr/>
        <a:lstStyle/>
        <a:p>
          <a:endParaRPr lang="en-US"/>
        </a:p>
      </dgm:t>
    </dgm:pt>
    <dgm:pt modelId="{55212FF2-B820-4AB3-91D2-58741659DB5B}">
      <dgm:prSet/>
      <dgm:spPr/>
      <dgm:t>
        <a:bodyPr/>
        <a:lstStyle/>
        <a:p>
          <a:r>
            <a:rPr lang="el-GR" b="1"/>
            <a:t>Αν ΝΑΙ:</a:t>
          </a:r>
          <a:r>
            <a:rPr lang="el-GR"/>
            <a:t> Το πακέτο μπαίνει στην ουρά για να περιμένει τη σειρά του.</a:t>
          </a:r>
          <a:endParaRPr lang="en-US"/>
        </a:p>
      </dgm:t>
    </dgm:pt>
    <dgm:pt modelId="{17E1CE9A-CDA3-4199-AAC9-DC6E711BF91C}" type="parTrans" cxnId="{1DA19D40-461B-41AB-9370-AACCF033B6D6}">
      <dgm:prSet/>
      <dgm:spPr/>
      <dgm:t>
        <a:bodyPr/>
        <a:lstStyle/>
        <a:p>
          <a:endParaRPr lang="en-US"/>
        </a:p>
      </dgm:t>
    </dgm:pt>
    <dgm:pt modelId="{70F6AA3A-BEDF-43C6-A8C0-28428276C80F}" type="sibTrans" cxnId="{1DA19D40-461B-41AB-9370-AACCF033B6D6}">
      <dgm:prSet/>
      <dgm:spPr/>
      <dgm:t>
        <a:bodyPr/>
        <a:lstStyle/>
        <a:p>
          <a:endParaRPr lang="en-US"/>
        </a:p>
      </dgm:t>
    </dgm:pt>
    <dgm:pt modelId="{72919782-0FF2-4D4B-BE56-C7AE3A3292A0}">
      <dgm:prSet/>
      <dgm:spPr/>
      <dgm:t>
        <a:bodyPr/>
        <a:lstStyle/>
        <a:p>
          <a:r>
            <a:rPr lang="el-GR" b="1"/>
            <a:t>Αν ΟΧΙ:</a:t>
          </a:r>
          <a:r>
            <a:rPr lang="el-GR"/>
            <a:t> Το πακέτο απορρίπτεται (</a:t>
          </a:r>
          <a:r>
            <a:rPr lang="el-GR" b="1"/>
            <a:t>Packet Drop</a:t>
          </a:r>
          <a:r>
            <a:rPr lang="el-GR"/>
            <a:t>) και καταγράφεται.</a:t>
          </a:r>
          <a:endParaRPr lang="en-US"/>
        </a:p>
      </dgm:t>
    </dgm:pt>
    <dgm:pt modelId="{B44CC34B-206B-4A7B-BD13-D2CA8682E836}" type="parTrans" cxnId="{968C6386-71F7-4259-8D2B-7A159DD033A2}">
      <dgm:prSet/>
      <dgm:spPr/>
      <dgm:t>
        <a:bodyPr/>
        <a:lstStyle/>
        <a:p>
          <a:endParaRPr lang="en-US"/>
        </a:p>
      </dgm:t>
    </dgm:pt>
    <dgm:pt modelId="{CA1E179C-F43D-4B34-9F5C-2BAADA60CF6F}" type="sibTrans" cxnId="{968C6386-71F7-4259-8D2B-7A159DD033A2}">
      <dgm:prSet/>
      <dgm:spPr/>
      <dgm:t>
        <a:bodyPr/>
        <a:lstStyle/>
        <a:p>
          <a:endParaRPr lang="en-US"/>
        </a:p>
      </dgm:t>
    </dgm:pt>
    <dgm:pt modelId="{0022F09D-9166-4429-A361-4A7EBB16B167}">
      <dgm:prSet/>
      <dgm:spPr/>
      <dgm:t>
        <a:bodyPr/>
        <a:lstStyle/>
        <a:p>
          <a:r>
            <a:rPr lang="el-GR" b="1"/>
            <a:t>Διαδικασία Αποστολής:</a:t>
          </a:r>
          <a:r>
            <a:rPr lang="el-GR"/>
            <a:t> Ο router αφαιρεί πακέτα από την ουρά (με σειρά First-In-First-Out) και τα στέλνει, προσομοιώνοντας την καθυστέρηση μετάδοσης.</a:t>
          </a:r>
          <a:endParaRPr lang="en-US"/>
        </a:p>
      </dgm:t>
    </dgm:pt>
    <dgm:pt modelId="{246CAAFC-BF6B-4CA2-9575-9247C66F8005}" type="parTrans" cxnId="{D7764C99-5AF8-4B3D-A733-2AB649359183}">
      <dgm:prSet/>
      <dgm:spPr/>
      <dgm:t>
        <a:bodyPr/>
        <a:lstStyle/>
        <a:p>
          <a:endParaRPr lang="en-US"/>
        </a:p>
      </dgm:t>
    </dgm:pt>
    <dgm:pt modelId="{54A7EF45-7CF7-479F-AF7E-AC1B86B6B1F9}" type="sibTrans" cxnId="{D7764C99-5AF8-4B3D-A733-2AB649359183}">
      <dgm:prSet/>
      <dgm:spPr/>
      <dgm:t>
        <a:bodyPr/>
        <a:lstStyle/>
        <a:p>
          <a:endParaRPr lang="en-US"/>
        </a:p>
      </dgm:t>
    </dgm:pt>
    <dgm:pt modelId="{7FFF1990-8505-43A6-9F60-D6A369F176A8}" type="pres">
      <dgm:prSet presAssocID="{9D72AFD5-EF56-4C0F-A5B1-2093072216EB}" presName="Name0" presStyleCnt="0">
        <dgm:presLayoutVars>
          <dgm:dir/>
          <dgm:animLvl val="lvl"/>
          <dgm:resizeHandles val="exact"/>
        </dgm:presLayoutVars>
      </dgm:prSet>
      <dgm:spPr/>
    </dgm:pt>
    <dgm:pt modelId="{98206988-C6A3-4202-9AD1-CD2E111DD9E5}" type="pres">
      <dgm:prSet presAssocID="{F2590C97-947F-4B60-82B3-5E777E1F569B}" presName="composite" presStyleCnt="0"/>
      <dgm:spPr/>
    </dgm:pt>
    <dgm:pt modelId="{B0753130-AE30-41EC-B394-F7DC1B4D36ED}" type="pres">
      <dgm:prSet presAssocID="{F2590C97-947F-4B60-82B3-5E777E1F569B}" presName="parTx" presStyleLbl="alignNode1" presStyleIdx="0" presStyleCnt="2">
        <dgm:presLayoutVars>
          <dgm:chMax val="0"/>
          <dgm:chPref val="0"/>
          <dgm:bulletEnabled val="1"/>
        </dgm:presLayoutVars>
      </dgm:prSet>
      <dgm:spPr/>
    </dgm:pt>
    <dgm:pt modelId="{1400ABC8-4834-4369-A823-93DBC3FB5483}" type="pres">
      <dgm:prSet presAssocID="{F2590C97-947F-4B60-82B3-5E777E1F569B}" presName="desTx" presStyleLbl="alignAccFollowNode1" presStyleIdx="0" presStyleCnt="2">
        <dgm:presLayoutVars>
          <dgm:bulletEnabled val="1"/>
        </dgm:presLayoutVars>
      </dgm:prSet>
      <dgm:spPr/>
    </dgm:pt>
    <dgm:pt modelId="{2A455D58-424D-41B0-AC85-998E5AE972BD}" type="pres">
      <dgm:prSet presAssocID="{D92E37B1-AB4B-4A38-82B4-62B5DD1C2617}" presName="space" presStyleCnt="0"/>
      <dgm:spPr/>
    </dgm:pt>
    <dgm:pt modelId="{DDC5917B-E412-49F2-81CF-D05A3BBA5558}" type="pres">
      <dgm:prSet presAssocID="{7C23E5CA-9C61-4A59-ACE4-E5137FC17D1D}" presName="composite" presStyleCnt="0"/>
      <dgm:spPr/>
    </dgm:pt>
    <dgm:pt modelId="{36ECB3A1-0C4A-4450-8DB7-EDDAD169D94D}" type="pres">
      <dgm:prSet presAssocID="{7C23E5CA-9C61-4A59-ACE4-E5137FC17D1D}" presName="parTx" presStyleLbl="alignNode1" presStyleIdx="1" presStyleCnt="2">
        <dgm:presLayoutVars>
          <dgm:chMax val="0"/>
          <dgm:chPref val="0"/>
          <dgm:bulletEnabled val="1"/>
        </dgm:presLayoutVars>
      </dgm:prSet>
      <dgm:spPr/>
    </dgm:pt>
    <dgm:pt modelId="{8F030C2D-433D-4872-B4E3-B88E6256E6B8}" type="pres">
      <dgm:prSet presAssocID="{7C23E5CA-9C61-4A59-ACE4-E5137FC17D1D}" presName="desTx" presStyleLbl="alignAccFollowNode1" presStyleIdx="1" presStyleCnt="2">
        <dgm:presLayoutVars>
          <dgm:bulletEnabled val="1"/>
        </dgm:presLayoutVars>
      </dgm:prSet>
      <dgm:spPr/>
    </dgm:pt>
  </dgm:ptLst>
  <dgm:cxnLst>
    <dgm:cxn modelId="{28A14D0B-D8D9-4A53-ACE5-D192A28C96C8}" type="presOf" srcId="{72919782-0FF2-4D4B-BE56-C7AE3A3292A0}" destId="{8F030C2D-433D-4872-B4E3-B88E6256E6B8}" srcOrd="0" destOrd="3" presId="urn:microsoft.com/office/officeart/2005/8/layout/hList1"/>
    <dgm:cxn modelId="{6F128E1A-C3D1-43D4-9B06-03096C941DD9}" type="presOf" srcId="{99FDD68B-08F1-48F4-9062-0C93662E6F67}" destId="{8F030C2D-433D-4872-B4E3-B88E6256E6B8}" srcOrd="0" destOrd="0" presId="urn:microsoft.com/office/officeart/2005/8/layout/hList1"/>
    <dgm:cxn modelId="{0CA65B1F-461F-4477-B63E-5CDC7D55708A}" type="presOf" srcId="{F2590C97-947F-4B60-82B3-5E777E1F569B}" destId="{B0753130-AE30-41EC-B394-F7DC1B4D36ED}" srcOrd="0" destOrd="0" presId="urn:microsoft.com/office/officeart/2005/8/layout/hList1"/>
    <dgm:cxn modelId="{5C85E432-15C2-426D-94C8-64533C72EA2B}" srcId="{F2590C97-947F-4B60-82B3-5E777E1F569B}" destId="{33DEACA2-0BDA-41B6-8932-DED6CC7B47E7}" srcOrd="1" destOrd="0" parTransId="{D677F2F7-2479-4DC5-88BF-3A8F98B39081}" sibTransId="{F6ADE3BA-EBF5-4A2C-8B09-13323FCDCD3E}"/>
    <dgm:cxn modelId="{1DA19D40-461B-41AB-9370-AACCF033B6D6}" srcId="{99FDD68B-08F1-48F4-9062-0C93662E6F67}" destId="{55212FF2-B820-4AB3-91D2-58741659DB5B}" srcOrd="1" destOrd="0" parTransId="{17E1CE9A-CDA3-4199-AAC9-DC6E711BF91C}" sibTransId="{70F6AA3A-BEDF-43C6-A8C0-28428276C80F}"/>
    <dgm:cxn modelId="{BB943966-C938-4CB3-9FEA-891FD4422E1D}" srcId="{7C23E5CA-9C61-4A59-ACE4-E5137FC17D1D}" destId="{99FDD68B-08F1-48F4-9062-0C93662E6F67}" srcOrd="0" destOrd="0" parTransId="{D520DEA1-ECB5-4D37-BAD5-A0B7D8AAAA7F}" sibTransId="{6C12B00D-F9BF-4C8C-A732-8C378F8A8CE5}"/>
    <dgm:cxn modelId="{9F6A3254-3BC3-42E9-B62F-7FD16A876779}" type="presOf" srcId="{0022F09D-9166-4429-A361-4A7EBB16B167}" destId="{8F030C2D-433D-4872-B4E3-B88E6256E6B8}" srcOrd="0" destOrd="4" presId="urn:microsoft.com/office/officeart/2005/8/layout/hList1"/>
    <dgm:cxn modelId="{76ECA97F-46D0-4B8D-93E3-8B2A179AFA0D}" type="presOf" srcId="{33DEACA2-0BDA-41B6-8932-DED6CC7B47E7}" destId="{1400ABC8-4834-4369-A823-93DBC3FB5483}" srcOrd="0" destOrd="1" presId="urn:microsoft.com/office/officeart/2005/8/layout/hList1"/>
    <dgm:cxn modelId="{76363D86-0B1F-443A-AAB5-BB5806BCC02D}" type="presOf" srcId="{9D72AFD5-EF56-4C0F-A5B1-2093072216EB}" destId="{7FFF1990-8505-43A6-9F60-D6A369F176A8}" srcOrd="0" destOrd="0" presId="urn:microsoft.com/office/officeart/2005/8/layout/hList1"/>
    <dgm:cxn modelId="{968C6386-71F7-4259-8D2B-7A159DD033A2}" srcId="{99FDD68B-08F1-48F4-9062-0C93662E6F67}" destId="{72919782-0FF2-4D4B-BE56-C7AE3A3292A0}" srcOrd="2" destOrd="0" parTransId="{B44CC34B-206B-4A7B-BD13-D2CA8682E836}" sibTransId="{CA1E179C-F43D-4B34-9F5C-2BAADA60CF6F}"/>
    <dgm:cxn modelId="{46EE278A-A314-4A95-AD2D-71D601472F1A}" type="presOf" srcId="{757881B9-F05B-4ACE-8B21-506D02266ED9}" destId="{8F030C2D-433D-4872-B4E3-B88E6256E6B8}" srcOrd="0" destOrd="1" presId="urn:microsoft.com/office/officeart/2005/8/layout/hList1"/>
    <dgm:cxn modelId="{F24BF593-10C5-474A-B1E0-645F8103D675}" type="presOf" srcId="{7C23E5CA-9C61-4A59-ACE4-E5137FC17D1D}" destId="{36ECB3A1-0C4A-4450-8DB7-EDDAD169D94D}" srcOrd="0" destOrd="0" presId="urn:microsoft.com/office/officeart/2005/8/layout/hList1"/>
    <dgm:cxn modelId="{D7764C99-5AF8-4B3D-A733-2AB649359183}" srcId="{7C23E5CA-9C61-4A59-ACE4-E5137FC17D1D}" destId="{0022F09D-9166-4429-A361-4A7EBB16B167}" srcOrd="1" destOrd="0" parTransId="{246CAAFC-BF6B-4CA2-9575-9247C66F8005}" sibTransId="{54A7EF45-7CF7-479F-AF7E-AC1B86B6B1F9}"/>
    <dgm:cxn modelId="{DE0DFAAC-AAF5-4198-BCC1-7DDE48273CFF}" type="presOf" srcId="{7C006DF7-BEB1-41E8-8D13-DFDD0C297AD3}" destId="{1400ABC8-4834-4369-A823-93DBC3FB5483}" srcOrd="0" destOrd="0" presId="urn:microsoft.com/office/officeart/2005/8/layout/hList1"/>
    <dgm:cxn modelId="{0E93DBB9-3C47-4673-A607-7ABFEB7BBF08}" type="presOf" srcId="{55212FF2-B820-4AB3-91D2-58741659DB5B}" destId="{8F030C2D-433D-4872-B4E3-B88E6256E6B8}" srcOrd="0" destOrd="2" presId="urn:microsoft.com/office/officeart/2005/8/layout/hList1"/>
    <dgm:cxn modelId="{BA6C1DD2-8720-4388-B833-6C98AA9B8D43}" srcId="{9D72AFD5-EF56-4C0F-A5B1-2093072216EB}" destId="{7C23E5CA-9C61-4A59-ACE4-E5137FC17D1D}" srcOrd="1" destOrd="0" parTransId="{B8FC6E0E-9C19-4ED6-829D-B649E1BE4F22}" sibTransId="{44ABC6FB-9855-4A0D-A938-FE02565D7F80}"/>
    <dgm:cxn modelId="{923EA1D4-F338-4274-87C4-BB8E10751AF0}" srcId="{9D72AFD5-EF56-4C0F-A5B1-2093072216EB}" destId="{F2590C97-947F-4B60-82B3-5E777E1F569B}" srcOrd="0" destOrd="0" parTransId="{AD0B5BF4-BCAE-4073-890D-CC54E83E93CD}" sibTransId="{D92E37B1-AB4B-4A38-82B4-62B5DD1C2617}"/>
    <dgm:cxn modelId="{D9507DD8-5815-4683-9FBD-5044E0D3DF2C}" srcId="{99FDD68B-08F1-48F4-9062-0C93662E6F67}" destId="{757881B9-F05B-4ACE-8B21-506D02266ED9}" srcOrd="0" destOrd="0" parTransId="{06AFCF25-A542-4BDF-A6E9-BDF4D06BB547}" sibTransId="{7818076D-D852-4FB8-B51E-F1A725D757AC}"/>
    <dgm:cxn modelId="{909DF0E0-EC78-42D7-B1A7-7BB7F5FC9854}" srcId="{F2590C97-947F-4B60-82B3-5E777E1F569B}" destId="{7C006DF7-BEB1-41E8-8D13-DFDD0C297AD3}" srcOrd="0" destOrd="0" parTransId="{E64542C8-82BD-4844-B0C7-128D98E9AFDB}" sibTransId="{D3E05407-63B3-41F8-A5DD-EDA1F03210F8}"/>
    <dgm:cxn modelId="{3642BE47-6166-44C8-9450-CAE4D4089884}" type="presParOf" srcId="{7FFF1990-8505-43A6-9F60-D6A369F176A8}" destId="{98206988-C6A3-4202-9AD1-CD2E111DD9E5}" srcOrd="0" destOrd="0" presId="urn:microsoft.com/office/officeart/2005/8/layout/hList1"/>
    <dgm:cxn modelId="{C7E15A06-60E1-4424-BCF4-93764EEB0082}" type="presParOf" srcId="{98206988-C6A3-4202-9AD1-CD2E111DD9E5}" destId="{B0753130-AE30-41EC-B394-F7DC1B4D36ED}" srcOrd="0" destOrd="0" presId="urn:microsoft.com/office/officeart/2005/8/layout/hList1"/>
    <dgm:cxn modelId="{61AF21A6-0022-4FA3-BF0B-0D26269C7A93}" type="presParOf" srcId="{98206988-C6A3-4202-9AD1-CD2E111DD9E5}" destId="{1400ABC8-4834-4369-A823-93DBC3FB5483}" srcOrd="1" destOrd="0" presId="urn:microsoft.com/office/officeart/2005/8/layout/hList1"/>
    <dgm:cxn modelId="{F6A65858-314D-475E-B264-C6F37E2F6825}" type="presParOf" srcId="{7FFF1990-8505-43A6-9F60-D6A369F176A8}" destId="{2A455D58-424D-41B0-AC85-998E5AE972BD}" srcOrd="1" destOrd="0" presId="urn:microsoft.com/office/officeart/2005/8/layout/hList1"/>
    <dgm:cxn modelId="{6B66B944-9003-41D2-B066-DECFCA2F8AA2}" type="presParOf" srcId="{7FFF1990-8505-43A6-9F60-D6A369F176A8}" destId="{DDC5917B-E412-49F2-81CF-D05A3BBA5558}" srcOrd="2" destOrd="0" presId="urn:microsoft.com/office/officeart/2005/8/layout/hList1"/>
    <dgm:cxn modelId="{64A4861E-6F03-4CE7-8C62-F196FD4B5EB2}" type="presParOf" srcId="{DDC5917B-E412-49F2-81CF-D05A3BBA5558}" destId="{36ECB3A1-0C4A-4450-8DB7-EDDAD169D94D}" srcOrd="0" destOrd="0" presId="urn:microsoft.com/office/officeart/2005/8/layout/hList1"/>
    <dgm:cxn modelId="{7CE4DAFB-F5B0-4B86-A90B-A40C28D70FAC}" type="presParOf" srcId="{DDC5917B-E412-49F2-81CF-D05A3BBA5558}" destId="{8F030C2D-433D-4872-B4E3-B88E6256E6B8}"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A26740D-2544-40D0-ABED-19C2720FCE5E}" type="doc">
      <dgm:prSet loTypeId="urn:microsoft.com/office/officeart/2005/8/layout/vList5" loCatId="list" qsTypeId="urn:microsoft.com/office/officeart/2005/8/quickstyle/simple1" qsCatId="simple" csTypeId="urn:microsoft.com/office/officeart/2005/8/colors/accent1_2" csCatId="accent1" phldr="1"/>
      <dgm:spPr/>
      <dgm:t>
        <a:bodyPr/>
        <a:lstStyle/>
        <a:p>
          <a:endParaRPr lang="en-US"/>
        </a:p>
      </dgm:t>
    </dgm:pt>
    <dgm:pt modelId="{5AB31219-B9EE-4366-BC24-CAE6A3E02D71}">
      <dgm:prSet/>
      <dgm:spPr/>
      <dgm:t>
        <a:bodyPr/>
        <a:lstStyle/>
        <a:p>
          <a:r>
            <a:rPr lang="el-GR" b="1" dirty="0"/>
            <a:t>Μέτρηση της  Απόδοσης του Δικτύου</a:t>
          </a:r>
          <a:endParaRPr lang="en-US" dirty="0"/>
        </a:p>
      </dgm:t>
    </dgm:pt>
    <dgm:pt modelId="{E9F16FA5-0D68-48B8-B500-4B486754046C}" type="parTrans" cxnId="{75C59965-B403-4297-9CB0-1209FB8943D4}">
      <dgm:prSet/>
      <dgm:spPr/>
      <dgm:t>
        <a:bodyPr/>
        <a:lstStyle/>
        <a:p>
          <a:endParaRPr lang="en-US"/>
        </a:p>
      </dgm:t>
    </dgm:pt>
    <dgm:pt modelId="{1B22B3B4-3A40-4BF2-AA99-880802CBF342}" type="sibTrans" cxnId="{75C59965-B403-4297-9CB0-1209FB8943D4}">
      <dgm:prSet/>
      <dgm:spPr/>
      <dgm:t>
        <a:bodyPr/>
        <a:lstStyle/>
        <a:p>
          <a:endParaRPr lang="en-US"/>
        </a:p>
      </dgm:t>
    </dgm:pt>
    <dgm:pt modelId="{38F378A5-D38A-4084-BA11-955ECECD8710}" type="pres">
      <dgm:prSet presAssocID="{EA26740D-2544-40D0-ABED-19C2720FCE5E}" presName="Name0" presStyleCnt="0">
        <dgm:presLayoutVars>
          <dgm:dir/>
          <dgm:animLvl val="lvl"/>
          <dgm:resizeHandles val="exact"/>
        </dgm:presLayoutVars>
      </dgm:prSet>
      <dgm:spPr/>
    </dgm:pt>
    <dgm:pt modelId="{9783A18F-6F15-4B79-81B8-E52B67A53B38}" type="pres">
      <dgm:prSet presAssocID="{5AB31219-B9EE-4366-BC24-CAE6A3E02D71}" presName="linNode" presStyleCnt="0"/>
      <dgm:spPr/>
    </dgm:pt>
    <dgm:pt modelId="{A1A5AB4B-4F92-4C5B-A2B6-662ED39B0F75}" type="pres">
      <dgm:prSet presAssocID="{5AB31219-B9EE-4366-BC24-CAE6A3E02D71}" presName="parentText" presStyleLbl="node1" presStyleIdx="0" presStyleCnt="1" custScaleX="277778">
        <dgm:presLayoutVars>
          <dgm:chMax val="1"/>
          <dgm:bulletEnabled val="1"/>
        </dgm:presLayoutVars>
      </dgm:prSet>
      <dgm:spPr/>
    </dgm:pt>
  </dgm:ptLst>
  <dgm:cxnLst>
    <dgm:cxn modelId="{75C59965-B403-4297-9CB0-1209FB8943D4}" srcId="{EA26740D-2544-40D0-ABED-19C2720FCE5E}" destId="{5AB31219-B9EE-4366-BC24-CAE6A3E02D71}" srcOrd="0" destOrd="0" parTransId="{E9F16FA5-0D68-48B8-B500-4B486754046C}" sibTransId="{1B22B3B4-3A40-4BF2-AA99-880802CBF342}"/>
    <dgm:cxn modelId="{42F6A656-4769-479A-92A6-0F5398704B7A}" type="presOf" srcId="{5AB31219-B9EE-4366-BC24-CAE6A3E02D71}" destId="{A1A5AB4B-4F92-4C5B-A2B6-662ED39B0F75}" srcOrd="0" destOrd="0" presId="urn:microsoft.com/office/officeart/2005/8/layout/vList5"/>
    <dgm:cxn modelId="{AE14D284-382C-4270-8762-2673E2419ED6}" type="presOf" srcId="{EA26740D-2544-40D0-ABED-19C2720FCE5E}" destId="{38F378A5-D38A-4084-BA11-955ECECD8710}" srcOrd="0" destOrd="0" presId="urn:microsoft.com/office/officeart/2005/8/layout/vList5"/>
    <dgm:cxn modelId="{FBF7C1F1-323F-4F40-A55B-13CC74202F83}" type="presParOf" srcId="{38F378A5-D38A-4084-BA11-955ECECD8710}" destId="{9783A18F-6F15-4B79-81B8-E52B67A53B38}" srcOrd="0" destOrd="0" presId="urn:microsoft.com/office/officeart/2005/8/layout/vList5"/>
    <dgm:cxn modelId="{E139CC7E-4CBD-4F89-A1A6-A3A8E8FBCE30}" type="presParOf" srcId="{9783A18F-6F15-4B79-81B8-E52B67A53B38}" destId="{A1A5AB4B-4F92-4C5B-A2B6-662ED39B0F75}" srcOrd="0" destOrd="0" presId="urn:microsoft.com/office/officeart/2005/8/layout/vList5"/>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702CCF4-EFCF-495C-B3C9-86F9230FE651}" type="doc">
      <dgm:prSet loTypeId="urn:microsoft.com/office/officeart/2005/8/layout/list1" loCatId="list" qsTypeId="urn:microsoft.com/office/officeart/2005/8/quickstyle/simple4" qsCatId="simple" csTypeId="urn:microsoft.com/office/officeart/2005/8/colors/accent1_2" csCatId="accent1"/>
      <dgm:spPr/>
      <dgm:t>
        <a:bodyPr/>
        <a:lstStyle/>
        <a:p>
          <a:endParaRPr lang="en-US"/>
        </a:p>
      </dgm:t>
    </dgm:pt>
    <dgm:pt modelId="{2454B5D5-BE46-405E-9845-977D91C129AB}">
      <dgm:prSet/>
      <dgm:spPr/>
      <dgm:t>
        <a:bodyPr/>
        <a:lstStyle/>
        <a:p>
          <a:r>
            <a:rPr lang="el-GR" b="1"/>
            <a:t>End-to-End Delay (ανά πακέτο):</a:t>
          </a:r>
          <a:endParaRPr lang="en-US"/>
        </a:p>
      </dgm:t>
    </dgm:pt>
    <dgm:pt modelId="{DC547843-B268-40CF-9D40-753A0AED2ECC}" type="parTrans" cxnId="{7FCF3812-5501-4F81-B146-6047366E75D4}">
      <dgm:prSet/>
      <dgm:spPr/>
      <dgm:t>
        <a:bodyPr/>
        <a:lstStyle/>
        <a:p>
          <a:endParaRPr lang="en-US"/>
        </a:p>
      </dgm:t>
    </dgm:pt>
    <dgm:pt modelId="{C8D95E2B-6013-4E01-9541-043314D0593C}" type="sibTrans" cxnId="{7FCF3812-5501-4F81-B146-6047366E75D4}">
      <dgm:prSet/>
      <dgm:spPr/>
      <dgm:t>
        <a:bodyPr/>
        <a:lstStyle/>
        <a:p>
          <a:endParaRPr lang="en-US"/>
        </a:p>
      </dgm:t>
    </dgm:pt>
    <dgm:pt modelId="{FF3A2559-3407-4C74-A912-B802B7CF0DED}">
      <dgm:prSet/>
      <dgm:spPr/>
      <dgm:t>
        <a:bodyPr/>
        <a:lstStyle/>
        <a:p>
          <a:r>
            <a:rPr lang="el-GR"/>
            <a:t>Πόσο χρόνο χρειάστηκε κάθε πακέτο για να φτάσει.</a:t>
          </a:r>
          <a:endParaRPr lang="en-US"/>
        </a:p>
      </dgm:t>
    </dgm:pt>
    <dgm:pt modelId="{3B8883AD-3E04-42A7-8D4B-BFA6BABBDF29}" type="parTrans" cxnId="{B9378698-BA27-4F56-B9C5-8BDDD277A31A}">
      <dgm:prSet/>
      <dgm:spPr/>
      <dgm:t>
        <a:bodyPr/>
        <a:lstStyle/>
        <a:p>
          <a:endParaRPr lang="en-US"/>
        </a:p>
      </dgm:t>
    </dgm:pt>
    <dgm:pt modelId="{31584119-9E61-4DEF-BF61-057C41AD464D}" type="sibTrans" cxnId="{B9378698-BA27-4F56-B9C5-8BDDD277A31A}">
      <dgm:prSet/>
      <dgm:spPr/>
      <dgm:t>
        <a:bodyPr/>
        <a:lstStyle/>
        <a:p>
          <a:endParaRPr lang="en-US"/>
        </a:p>
      </dgm:t>
    </dgm:pt>
    <dgm:pt modelId="{86B1BF04-A361-4E74-A0B6-2639ECBBF6DE}">
      <dgm:prSet/>
      <dgm:spPr/>
      <dgm:t>
        <a:bodyPr/>
        <a:lstStyle/>
        <a:p>
          <a:r>
            <a:rPr lang="el-GR" b="1"/>
            <a:t>Queue Size (με την πάροδο του χρόνου):</a:t>
          </a:r>
          <a:endParaRPr lang="en-US"/>
        </a:p>
      </dgm:t>
    </dgm:pt>
    <dgm:pt modelId="{54B9EAF5-96C2-45E4-91F5-CABB1F73E0C3}" type="parTrans" cxnId="{DB0F798A-A3F1-4437-A1E1-0BB6CB619FE2}">
      <dgm:prSet/>
      <dgm:spPr/>
      <dgm:t>
        <a:bodyPr/>
        <a:lstStyle/>
        <a:p>
          <a:endParaRPr lang="en-US"/>
        </a:p>
      </dgm:t>
    </dgm:pt>
    <dgm:pt modelId="{C9C7A55B-4DCE-4209-906E-5AC2A7B7C54F}" type="sibTrans" cxnId="{DB0F798A-A3F1-4437-A1E1-0BB6CB619FE2}">
      <dgm:prSet/>
      <dgm:spPr/>
      <dgm:t>
        <a:bodyPr/>
        <a:lstStyle/>
        <a:p>
          <a:endParaRPr lang="en-US"/>
        </a:p>
      </dgm:t>
    </dgm:pt>
    <dgm:pt modelId="{BD935539-CBD2-4C37-ADDC-4816E2490F90}">
      <dgm:prSet/>
      <dgm:spPr/>
      <dgm:t>
        <a:bodyPr/>
        <a:lstStyle/>
        <a:p>
          <a:r>
            <a:rPr lang="el-GR"/>
            <a:t>Πόσα πακέτα βρίσκονται στην ουρά του router σε κάθε χρονική στιγμή.</a:t>
          </a:r>
          <a:endParaRPr lang="en-US"/>
        </a:p>
      </dgm:t>
    </dgm:pt>
    <dgm:pt modelId="{EC07A4CF-86B3-417C-9F30-4E496FA01742}" type="parTrans" cxnId="{F56790C3-951B-4E5B-802E-E32D7888FC14}">
      <dgm:prSet/>
      <dgm:spPr/>
      <dgm:t>
        <a:bodyPr/>
        <a:lstStyle/>
        <a:p>
          <a:endParaRPr lang="en-US"/>
        </a:p>
      </dgm:t>
    </dgm:pt>
    <dgm:pt modelId="{29F81C5D-2AAF-462E-92A8-B5AA68CB0A8C}" type="sibTrans" cxnId="{F56790C3-951B-4E5B-802E-E32D7888FC14}">
      <dgm:prSet/>
      <dgm:spPr/>
      <dgm:t>
        <a:bodyPr/>
        <a:lstStyle/>
        <a:p>
          <a:endParaRPr lang="en-US"/>
        </a:p>
      </dgm:t>
    </dgm:pt>
    <dgm:pt modelId="{B4134408-6D0D-4A5B-9508-42F26FAEE802}">
      <dgm:prSet/>
      <dgm:spPr/>
      <dgm:t>
        <a:bodyPr/>
        <a:lstStyle/>
        <a:p>
          <a:r>
            <a:rPr lang="el-GR"/>
            <a:t>Χρησιμοποιήσαμε μια ξεχωριστή διαδικασία monitor_queue_size για τη δειγματοληψία.</a:t>
          </a:r>
          <a:endParaRPr lang="en-US"/>
        </a:p>
      </dgm:t>
    </dgm:pt>
    <dgm:pt modelId="{9791094B-B19F-4F55-B34A-A85655BDF7D7}" type="parTrans" cxnId="{77EE1F7E-3EBF-473F-8211-F9375DF3C5F5}">
      <dgm:prSet/>
      <dgm:spPr/>
      <dgm:t>
        <a:bodyPr/>
        <a:lstStyle/>
        <a:p>
          <a:endParaRPr lang="en-US"/>
        </a:p>
      </dgm:t>
    </dgm:pt>
    <dgm:pt modelId="{2844CC24-9CCF-4134-9BAC-B1C469801959}" type="sibTrans" cxnId="{77EE1F7E-3EBF-473F-8211-F9375DF3C5F5}">
      <dgm:prSet/>
      <dgm:spPr/>
      <dgm:t>
        <a:bodyPr/>
        <a:lstStyle/>
        <a:p>
          <a:endParaRPr lang="en-US"/>
        </a:p>
      </dgm:t>
    </dgm:pt>
    <dgm:pt modelId="{3FD529E1-CABF-4CE4-8F03-7682AA3D1E4B}">
      <dgm:prSet/>
      <dgm:spPr/>
      <dgm:t>
        <a:bodyPr/>
        <a:lstStyle/>
        <a:p>
          <a:r>
            <a:rPr lang="el-GR" b="1"/>
            <a:t>Packet Loss Rate (%):</a:t>
          </a:r>
          <a:endParaRPr lang="en-US"/>
        </a:p>
      </dgm:t>
    </dgm:pt>
    <dgm:pt modelId="{A54E0973-5573-42FD-9EAA-3360B7930F18}" type="parTrans" cxnId="{EB7F2085-1B47-41BB-99C6-29F8C5D2383C}">
      <dgm:prSet/>
      <dgm:spPr/>
      <dgm:t>
        <a:bodyPr/>
        <a:lstStyle/>
        <a:p>
          <a:endParaRPr lang="en-US"/>
        </a:p>
      </dgm:t>
    </dgm:pt>
    <dgm:pt modelId="{C645FE89-D920-40E3-B3C6-CB2EFBAE9263}" type="sibTrans" cxnId="{EB7F2085-1B47-41BB-99C6-29F8C5D2383C}">
      <dgm:prSet/>
      <dgm:spPr/>
      <dgm:t>
        <a:bodyPr/>
        <a:lstStyle/>
        <a:p>
          <a:endParaRPr lang="en-US"/>
        </a:p>
      </dgm:t>
    </dgm:pt>
    <dgm:pt modelId="{6ABD30F9-685A-4C90-AD1D-E41B6FDB0FDF}">
      <dgm:prSet/>
      <dgm:spPr/>
      <dgm:t>
        <a:bodyPr/>
        <a:lstStyle/>
        <a:p>
          <a:r>
            <a:rPr lang="el-GR"/>
            <a:t>Το ποσοστό των πακέτων που απορρίφθηκαν επειδή η ουρά ήταν γεμάτη.</a:t>
          </a:r>
          <a:endParaRPr lang="en-US"/>
        </a:p>
      </dgm:t>
    </dgm:pt>
    <dgm:pt modelId="{833EF755-3290-49B2-A0AE-52229C26A26F}" type="parTrans" cxnId="{6925BCEC-316A-45C4-B2B8-AFD4D0EE7935}">
      <dgm:prSet/>
      <dgm:spPr/>
      <dgm:t>
        <a:bodyPr/>
        <a:lstStyle/>
        <a:p>
          <a:endParaRPr lang="en-US"/>
        </a:p>
      </dgm:t>
    </dgm:pt>
    <dgm:pt modelId="{6D5996D0-327C-4CA8-BBDB-0C79179ACA34}" type="sibTrans" cxnId="{6925BCEC-316A-45C4-B2B8-AFD4D0EE7935}">
      <dgm:prSet/>
      <dgm:spPr/>
      <dgm:t>
        <a:bodyPr/>
        <a:lstStyle/>
        <a:p>
          <a:endParaRPr lang="en-US"/>
        </a:p>
      </dgm:t>
    </dgm:pt>
    <dgm:pt modelId="{4FE76C2D-F104-4132-A26D-2B7C26D5B4FB}">
      <dgm:prSet/>
      <dgm:spPr/>
      <dgm:t>
        <a:bodyPr/>
        <a:lstStyle/>
        <a:p>
          <a:r>
            <a:rPr lang="el-GR" b="1"/>
            <a:t>Τύπος:</a:t>
          </a:r>
          <a:r>
            <a:rPr lang="el-GR"/>
            <a:t> (Σύνολο Απορρίψεων / Σύνολο Αποστολών) * 100</a:t>
          </a:r>
          <a:endParaRPr lang="en-US"/>
        </a:p>
      </dgm:t>
    </dgm:pt>
    <dgm:pt modelId="{B6E9154A-81D7-4347-A0B0-C7B237881452}" type="parTrans" cxnId="{D523E5C1-3B09-4EDE-AC22-285B219A9F46}">
      <dgm:prSet/>
      <dgm:spPr/>
      <dgm:t>
        <a:bodyPr/>
        <a:lstStyle/>
        <a:p>
          <a:endParaRPr lang="en-US"/>
        </a:p>
      </dgm:t>
    </dgm:pt>
    <dgm:pt modelId="{2D3E861F-3783-4DD3-BD2A-0F8E0A2B008D}" type="sibTrans" cxnId="{D523E5C1-3B09-4EDE-AC22-285B219A9F46}">
      <dgm:prSet/>
      <dgm:spPr/>
      <dgm:t>
        <a:bodyPr/>
        <a:lstStyle/>
        <a:p>
          <a:endParaRPr lang="en-US"/>
        </a:p>
      </dgm:t>
    </dgm:pt>
    <dgm:pt modelId="{EB5BA30F-138B-48E1-8011-06737FD91955}">
      <dgm:prSet/>
      <dgm:spPr/>
      <dgm:t>
        <a:bodyPr/>
        <a:lstStyle/>
        <a:p>
          <a:r>
            <a:rPr lang="el-GR" b="1" dirty="0"/>
            <a:t>Throughput (Mbps):</a:t>
          </a:r>
          <a:endParaRPr lang="en-US" dirty="0"/>
        </a:p>
      </dgm:t>
    </dgm:pt>
    <dgm:pt modelId="{27454FBA-38D8-4A6D-9920-1E39102F7EAB}" type="parTrans" cxnId="{80F284A9-0C78-406B-8D18-9C37487C6899}">
      <dgm:prSet/>
      <dgm:spPr/>
      <dgm:t>
        <a:bodyPr/>
        <a:lstStyle/>
        <a:p>
          <a:endParaRPr lang="en-US"/>
        </a:p>
      </dgm:t>
    </dgm:pt>
    <dgm:pt modelId="{4B7A0A58-9A40-4C8D-8EFF-AE631C62E572}" type="sibTrans" cxnId="{80F284A9-0C78-406B-8D18-9C37487C6899}">
      <dgm:prSet/>
      <dgm:spPr/>
      <dgm:t>
        <a:bodyPr/>
        <a:lstStyle/>
        <a:p>
          <a:endParaRPr lang="en-US"/>
        </a:p>
      </dgm:t>
    </dgm:pt>
    <dgm:pt modelId="{26C75332-6A35-4201-BC9F-5DF54DA1457A}">
      <dgm:prSet/>
      <dgm:spPr/>
      <dgm:t>
        <a:bodyPr/>
        <a:lstStyle/>
        <a:p>
          <a:r>
            <a:rPr lang="el-GR"/>
            <a:t>Ο </a:t>
          </a:r>
          <a:r>
            <a:rPr lang="el-GR" b="1"/>
            <a:t>πραγματικός</a:t>
          </a:r>
          <a:r>
            <a:rPr lang="el-GR"/>
            <a:t> ρυθμός δεδομένων που έφτασαν επιτυχώς στον προορισμό.</a:t>
          </a:r>
          <a:endParaRPr lang="en-US"/>
        </a:p>
      </dgm:t>
    </dgm:pt>
    <dgm:pt modelId="{1FED56C9-9CCC-444D-9173-87275B8D6B33}" type="parTrans" cxnId="{0991BD7B-35B4-47B6-9C18-98715746AAC8}">
      <dgm:prSet/>
      <dgm:spPr/>
      <dgm:t>
        <a:bodyPr/>
        <a:lstStyle/>
        <a:p>
          <a:endParaRPr lang="en-US"/>
        </a:p>
      </dgm:t>
    </dgm:pt>
    <dgm:pt modelId="{AA82F7BE-A1ED-47D6-A28A-111E1840BF57}" type="sibTrans" cxnId="{0991BD7B-35B4-47B6-9C18-98715746AAC8}">
      <dgm:prSet/>
      <dgm:spPr/>
      <dgm:t>
        <a:bodyPr/>
        <a:lstStyle/>
        <a:p>
          <a:endParaRPr lang="en-US"/>
        </a:p>
      </dgm:t>
    </dgm:pt>
    <dgm:pt modelId="{07F48DBB-40AF-4312-9E03-5D6B38A2DC03}">
      <dgm:prSet/>
      <dgm:spPr/>
      <dgm:t>
        <a:bodyPr/>
        <a:lstStyle/>
        <a:p>
          <a:r>
            <a:rPr lang="el-GR" b="1"/>
            <a:t>Τύπος:</a:t>
          </a:r>
          <a:r>
            <a:rPr lang="el-GR"/>
            <a:t> (Συνολικά Bits που λήφθηκαν) / (Συνολικός Χρόνος)</a:t>
          </a:r>
          <a:endParaRPr lang="en-US"/>
        </a:p>
      </dgm:t>
    </dgm:pt>
    <dgm:pt modelId="{32C93098-49F8-4945-A9E9-245D4D944FE5}" type="parTrans" cxnId="{91EFADCB-499C-4B9D-981B-7F90689C4E41}">
      <dgm:prSet/>
      <dgm:spPr/>
      <dgm:t>
        <a:bodyPr/>
        <a:lstStyle/>
        <a:p>
          <a:endParaRPr lang="en-US"/>
        </a:p>
      </dgm:t>
    </dgm:pt>
    <dgm:pt modelId="{292C7798-DCD0-40E3-B1A1-09D36CFACA1D}" type="sibTrans" cxnId="{91EFADCB-499C-4B9D-981B-7F90689C4E41}">
      <dgm:prSet/>
      <dgm:spPr/>
      <dgm:t>
        <a:bodyPr/>
        <a:lstStyle/>
        <a:p>
          <a:endParaRPr lang="en-US"/>
        </a:p>
      </dgm:t>
    </dgm:pt>
    <dgm:pt modelId="{407F9D87-3A61-4AAA-9078-E212FB8482A6}" type="pres">
      <dgm:prSet presAssocID="{C702CCF4-EFCF-495C-B3C9-86F9230FE651}" presName="linear" presStyleCnt="0">
        <dgm:presLayoutVars>
          <dgm:dir/>
          <dgm:animLvl val="lvl"/>
          <dgm:resizeHandles val="exact"/>
        </dgm:presLayoutVars>
      </dgm:prSet>
      <dgm:spPr/>
    </dgm:pt>
    <dgm:pt modelId="{2988E714-2BF9-47CE-97D6-626DBACBFD52}" type="pres">
      <dgm:prSet presAssocID="{2454B5D5-BE46-405E-9845-977D91C129AB}" presName="parentLin" presStyleCnt="0"/>
      <dgm:spPr/>
    </dgm:pt>
    <dgm:pt modelId="{A510B4F4-B2C7-43B1-9A42-AF556FFF090E}" type="pres">
      <dgm:prSet presAssocID="{2454B5D5-BE46-405E-9845-977D91C129AB}" presName="parentLeftMargin" presStyleLbl="node1" presStyleIdx="0" presStyleCnt="4"/>
      <dgm:spPr/>
    </dgm:pt>
    <dgm:pt modelId="{98076C02-92D9-4869-89E9-8EB6B5493D57}" type="pres">
      <dgm:prSet presAssocID="{2454B5D5-BE46-405E-9845-977D91C129AB}" presName="parentText" presStyleLbl="node1" presStyleIdx="0" presStyleCnt="4">
        <dgm:presLayoutVars>
          <dgm:chMax val="0"/>
          <dgm:bulletEnabled val="1"/>
        </dgm:presLayoutVars>
      </dgm:prSet>
      <dgm:spPr/>
    </dgm:pt>
    <dgm:pt modelId="{7FE9D441-098E-4837-8424-65DB9F087441}" type="pres">
      <dgm:prSet presAssocID="{2454B5D5-BE46-405E-9845-977D91C129AB}" presName="negativeSpace" presStyleCnt="0"/>
      <dgm:spPr/>
    </dgm:pt>
    <dgm:pt modelId="{4CC805D7-36B9-4420-B035-C010A0B45C51}" type="pres">
      <dgm:prSet presAssocID="{2454B5D5-BE46-405E-9845-977D91C129AB}" presName="childText" presStyleLbl="conFgAcc1" presStyleIdx="0" presStyleCnt="4">
        <dgm:presLayoutVars>
          <dgm:bulletEnabled val="1"/>
        </dgm:presLayoutVars>
      </dgm:prSet>
      <dgm:spPr/>
    </dgm:pt>
    <dgm:pt modelId="{D72D4FE5-EA8C-4E7F-83E8-1AA9903EC6C4}" type="pres">
      <dgm:prSet presAssocID="{C8D95E2B-6013-4E01-9541-043314D0593C}" presName="spaceBetweenRectangles" presStyleCnt="0"/>
      <dgm:spPr/>
    </dgm:pt>
    <dgm:pt modelId="{AA2ECA6C-0F28-4F4C-8D95-ABC30EAC42B3}" type="pres">
      <dgm:prSet presAssocID="{86B1BF04-A361-4E74-A0B6-2639ECBBF6DE}" presName="parentLin" presStyleCnt="0"/>
      <dgm:spPr/>
    </dgm:pt>
    <dgm:pt modelId="{62E60284-5306-4AF3-8A16-FCBE2C4A48A8}" type="pres">
      <dgm:prSet presAssocID="{86B1BF04-A361-4E74-A0B6-2639ECBBF6DE}" presName="parentLeftMargin" presStyleLbl="node1" presStyleIdx="0" presStyleCnt="4"/>
      <dgm:spPr/>
    </dgm:pt>
    <dgm:pt modelId="{A290E6E5-C88A-4986-9E7A-23584EEA9F68}" type="pres">
      <dgm:prSet presAssocID="{86B1BF04-A361-4E74-A0B6-2639ECBBF6DE}" presName="parentText" presStyleLbl="node1" presStyleIdx="1" presStyleCnt="4">
        <dgm:presLayoutVars>
          <dgm:chMax val="0"/>
          <dgm:bulletEnabled val="1"/>
        </dgm:presLayoutVars>
      </dgm:prSet>
      <dgm:spPr/>
    </dgm:pt>
    <dgm:pt modelId="{E3378719-2F75-4513-9F0A-086761D9D6EF}" type="pres">
      <dgm:prSet presAssocID="{86B1BF04-A361-4E74-A0B6-2639ECBBF6DE}" presName="negativeSpace" presStyleCnt="0"/>
      <dgm:spPr/>
    </dgm:pt>
    <dgm:pt modelId="{C4A55BBD-202E-4016-912C-11F1A128AFA6}" type="pres">
      <dgm:prSet presAssocID="{86B1BF04-A361-4E74-A0B6-2639ECBBF6DE}" presName="childText" presStyleLbl="conFgAcc1" presStyleIdx="1" presStyleCnt="4">
        <dgm:presLayoutVars>
          <dgm:bulletEnabled val="1"/>
        </dgm:presLayoutVars>
      </dgm:prSet>
      <dgm:spPr/>
    </dgm:pt>
    <dgm:pt modelId="{138B4453-7F24-4749-90C6-8A80AE2397A1}" type="pres">
      <dgm:prSet presAssocID="{C9C7A55B-4DCE-4209-906E-5AC2A7B7C54F}" presName="spaceBetweenRectangles" presStyleCnt="0"/>
      <dgm:spPr/>
    </dgm:pt>
    <dgm:pt modelId="{F2B16896-FD8B-40E1-BB29-1804A1B63871}" type="pres">
      <dgm:prSet presAssocID="{3FD529E1-CABF-4CE4-8F03-7682AA3D1E4B}" presName="parentLin" presStyleCnt="0"/>
      <dgm:spPr/>
    </dgm:pt>
    <dgm:pt modelId="{DBA11ADC-1348-44D4-8400-DEF90013B480}" type="pres">
      <dgm:prSet presAssocID="{3FD529E1-CABF-4CE4-8F03-7682AA3D1E4B}" presName="parentLeftMargin" presStyleLbl="node1" presStyleIdx="1" presStyleCnt="4"/>
      <dgm:spPr/>
    </dgm:pt>
    <dgm:pt modelId="{D0D30DD5-655B-426A-B62F-E1D3182EED69}" type="pres">
      <dgm:prSet presAssocID="{3FD529E1-CABF-4CE4-8F03-7682AA3D1E4B}" presName="parentText" presStyleLbl="node1" presStyleIdx="2" presStyleCnt="4">
        <dgm:presLayoutVars>
          <dgm:chMax val="0"/>
          <dgm:bulletEnabled val="1"/>
        </dgm:presLayoutVars>
      </dgm:prSet>
      <dgm:spPr/>
    </dgm:pt>
    <dgm:pt modelId="{1FE02478-097C-4F8B-8CED-9DD631E784B5}" type="pres">
      <dgm:prSet presAssocID="{3FD529E1-CABF-4CE4-8F03-7682AA3D1E4B}" presName="negativeSpace" presStyleCnt="0"/>
      <dgm:spPr/>
    </dgm:pt>
    <dgm:pt modelId="{7B57F37D-A974-47D3-9B50-579A1C12729B}" type="pres">
      <dgm:prSet presAssocID="{3FD529E1-CABF-4CE4-8F03-7682AA3D1E4B}" presName="childText" presStyleLbl="conFgAcc1" presStyleIdx="2" presStyleCnt="4">
        <dgm:presLayoutVars>
          <dgm:bulletEnabled val="1"/>
        </dgm:presLayoutVars>
      </dgm:prSet>
      <dgm:spPr/>
    </dgm:pt>
    <dgm:pt modelId="{E6847318-8856-4917-8FF2-1153D9D73CC8}" type="pres">
      <dgm:prSet presAssocID="{C645FE89-D920-40E3-B3C6-CB2EFBAE9263}" presName="spaceBetweenRectangles" presStyleCnt="0"/>
      <dgm:spPr/>
    </dgm:pt>
    <dgm:pt modelId="{54EC9DB9-707C-45D3-8FE4-6FFB1A0C3ED6}" type="pres">
      <dgm:prSet presAssocID="{EB5BA30F-138B-48E1-8011-06737FD91955}" presName="parentLin" presStyleCnt="0"/>
      <dgm:spPr/>
    </dgm:pt>
    <dgm:pt modelId="{4426B029-8404-4A08-AEE7-30E2CDFB0106}" type="pres">
      <dgm:prSet presAssocID="{EB5BA30F-138B-48E1-8011-06737FD91955}" presName="parentLeftMargin" presStyleLbl="node1" presStyleIdx="2" presStyleCnt="4"/>
      <dgm:spPr/>
    </dgm:pt>
    <dgm:pt modelId="{F1EB2861-F0AC-4A7F-B732-D4F9C9A4D1D2}" type="pres">
      <dgm:prSet presAssocID="{EB5BA30F-138B-48E1-8011-06737FD91955}" presName="parentText" presStyleLbl="node1" presStyleIdx="3" presStyleCnt="4">
        <dgm:presLayoutVars>
          <dgm:chMax val="0"/>
          <dgm:bulletEnabled val="1"/>
        </dgm:presLayoutVars>
      </dgm:prSet>
      <dgm:spPr/>
    </dgm:pt>
    <dgm:pt modelId="{CB37EC17-338D-4EE8-8EA9-094EC7CCF178}" type="pres">
      <dgm:prSet presAssocID="{EB5BA30F-138B-48E1-8011-06737FD91955}" presName="negativeSpace" presStyleCnt="0"/>
      <dgm:spPr/>
    </dgm:pt>
    <dgm:pt modelId="{BD4E4C64-7F6E-4910-83D7-7E9D8D90A9D4}" type="pres">
      <dgm:prSet presAssocID="{EB5BA30F-138B-48E1-8011-06737FD91955}" presName="childText" presStyleLbl="conFgAcc1" presStyleIdx="3" presStyleCnt="4">
        <dgm:presLayoutVars>
          <dgm:bulletEnabled val="1"/>
        </dgm:presLayoutVars>
      </dgm:prSet>
      <dgm:spPr/>
    </dgm:pt>
  </dgm:ptLst>
  <dgm:cxnLst>
    <dgm:cxn modelId="{14C27F02-E0DB-42DE-B072-FDCAF76C967B}" type="presOf" srcId="{6ABD30F9-685A-4C90-AD1D-E41B6FDB0FDF}" destId="{7B57F37D-A974-47D3-9B50-579A1C12729B}" srcOrd="0" destOrd="0" presId="urn:microsoft.com/office/officeart/2005/8/layout/list1"/>
    <dgm:cxn modelId="{7FCF3812-5501-4F81-B146-6047366E75D4}" srcId="{C702CCF4-EFCF-495C-B3C9-86F9230FE651}" destId="{2454B5D5-BE46-405E-9845-977D91C129AB}" srcOrd="0" destOrd="0" parTransId="{DC547843-B268-40CF-9D40-753A0AED2ECC}" sibTransId="{C8D95E2B-6013-4E01-9541-043314D0593C}"/>
    <dgm:cxn modelId="{6F95B116-A059-49FF-920D-0769818E82F8}" type="presOf" srcId="{EB5BA30F-138B-48E1-8011-06737FD91955}" destId="{F1EB2861-F0AC-4A7F-B732-D4F9C9A4D1D2}" srcOrd="1" destOrd="0" presId="urn:microsoft.com/office/officeart/2005/8/layout/list1"/>
    <dgm:cxn modelId="{19533F24-0E68-48E1-9227-C6720F9E2A17}" type="presOf" srcId="{2454B5D5-BE46-405E-9845-977D91C129AB}" destId="{98076C02-92D9-4869-89E9-8EB6B5493D57}" srcOrd="1" destOrd="0" presId="urn:microsoft.com/office/officeart/2005/8/layout/list1"/>
    <dgm:cxn modelId="{982D4D27-827C-488B-AD84-CD79330F50A8}" type="presOf" srcId="{C702CCF4-EFCF-495C-B3C9-86F9230FE651}" destId="{407F9D87-3A61-4AAA-9078-E212FB8482A6}" srcOrd="0" destOrd="0" presId="urn:microsoft.com/office/officeart/2005/8/layout/list1"/>
    <dgm:cxn modelId="{62D55240-0619-4E3C-8D65-76C46FE4EFF6}" type="presOf" srcId="{3FD529E1-CABF-4CE4-8F03-7682AA3D1E4B}" destId="{DBA11ADC-1348-44D4-8400-DEF90013B480}" srcOrd="0" destOrd="0" presId="urn:microsoft.com/office/officeart/2005/8/layout/list1"/>
    <dgm:cxn modelId="{7FD03D64-AA5A-41E0-9506-4E50938575BF}" type="presOf" srcId="{86B1BF04-A361-4E74-A0B6-2639ECBBF6DE}" destId="{A290E6E5-C88A-4986-9E7A-23584EEA9F68}" srcOrd="1" destOrd="0" presId="urn:microsoft.com/office/officeart/2005/8/layout/list1"/>
    <dgm:cxn modelId="{D9406C50-05A8-4C46-A8A9-6D6E8F1C78AF}" type="presOf" srcId="{BD935539-CBD2-4C37-ADDC-4816E2490F90}" destId="{C4A55BBD-202E-4016-912C-11F1A128AFA6}" srcOrd="0" destOrd="0" presId="urn:microsoft.com/office/officeart/2005/8/layout/list1"/>
    <dgm:cxn modelId="{9DE1C951-1544-43DF-821B-7D7DC2ED0259}" type="presOf" srcId="{86B1BF04-A361-4E74-A0B6-2639ECBBF6DE}" destId="{62E60284-5306-4AF3-8A16-FCBE2C4A48A8}" srcOrd="0" destOrd="0" presId="urn:microsoft.com/office/officeart/2005/8/layout/list1"/>
    <dgm:cxn modelId="{43C22B72-C4D6-4797-BAEC-CBB0E7C3CFCF}" type="presOf" srcId="{07F48DBB-40AF-4312-9E03-5D6B38A2DC03}" destId="{BD4E4C64-7F6E-4910-83D7-7E9D8D90A9D4}" srcOrd="0" destOrd="1" presId="urn:microsoft.com/office/officeart/2005/8/layout/list1"/>
    <dgm:cxn modelId="{73A81D7A-08C9-4A39-B5CB-816F51583A01}" type="presOf" srcId="{26C75332-6A35-4201-BC9F-5DF54DA1457A}" destId="{BD4E4C64-7F6E-4910-83D7-7E9D8D90A9D4}" srcOrd="0" destOrd="0" presId="urn:microsoft.com/office/officeart/2005/8/layout/list1"/>
    <dgm:cxn modelId="{D587205A-E1EC-4B49-9A2C-C9B7D1B6DEDA}" type="presOf" srcId="{EB5BA30F-138B-48E1-8011-06737FD91955}" destId="{4426B029-8404-4A08-AEE7-30E2CDFB0106}" srcOrd="0" destOrd="0" presId="urn:microsoft.com/office/officeart/2005/8/layout/list1"/>
    <dgm:cxn modelId="{0991BD7B-35B4-47B6-9C18-98715746AAC8}" srcId="{EB5BA30F-138B-48E1-8011-06737FD91955}" destId="{26C75332-6A35-4201-BC9F-5DF54DA1457A}" srcOrd="0" destOrd="0" parTransId="{1FED56C9-9CCC-444D-9173-87275B8D6B33}" sibTransId="{AA82F7BE-A1ED-47D6-A28A-111E1840BF57}"/>
    <dgm:cxn modelId="{77EE1F7E-3EBF-473F-8211-F9375DF3C5F5}" srcId="{86B1BF04-A361-4E74-A0B6-2639ECBBF6DE}" destId="{B4134408-6D0D-4A5B-9508-42F26FAEE802}" srcOrd="1" destOrd="0" parTransId="{9791094B-B19F-4F55-B34A-A85655BDF7D7}" sibTransId="{2844CC24-9CCF-4134-9BAC-B1C469801959}"/>
    <dgm:cxn modelId="{0174F67F-4D4C-4785-8B69-6EC6C05E2C54}" type="presOf" srcId="{B4134408-6D0D-4A5B-9508-42F26FAEE802}" destId="{C4A55BBD-202E-4016-912C-11F1A128AFA6}" srcOrd="0" destOrd="1" presId="urn:microsoft.com/office/officeart/2005/8/layout/list1"/>
    <dgm:cxn modelId="{EB7F2085-1B47-41BB-99C6-29F8C5D2383C}" srcId="{C702CCF4-EFCF-495C-B3C9-86F9230FE651}" destId="{3FD529E1-CABF-4CE4-8F03-7682AA3D1E4B}" srcOrd="2" destOrd="0" parTransId="{A54E0973-5573-42FD-9EAA-3360B7930F18}" sibTransId="{C645FE89-D920-40E3-B3C6-CB2EFBAE9263}"/>
    <dgm:cxn modelId="{DB0F798A-A3F1-4437-A1E1-0BB6CB619FE2}" srcId="{C702CCF4-EFCF-495C-B3C9-86F9230FE651}" destId="{86B1BF04-A361-4E74-A0B6-2639ECBBF6DE}" srcOrd="1" destOrd="0" parTransId="{54B9EAF5-96C2-45E4-91F5-CABB1F73E0C3}" sibTransId="{C9C7A55B-4DCE-4209-906E-5AC2A7B7C54F}"/>
    <dgm:cxn modelId="{B9378698-BA27-4F56-B9C5-8BDDD277A31A}" srcId="{2454B5D5-BE46-405E-9845-977D91C129AB}" destId="{FF3A2559-3407-4C74-A912-B802B7CF0DED}" srcOrd="0" destOrd="0" parTransId="{3B8883AD-3E04-42A7-8D4B-BFA6BABBDF29}" sibTransId="{31584119-9E61-4DEF-BF61-057C41AD464D}"/>
    <dgm:cxn modelId="{80F284A9-0C78-406B-8D18-9C37487C6899}" srcId="{C702CCF4-EFCF-495C-B3C9-86F9230FE651}" destId="{EB5BA30F-138B-48E1-8011-06737FD91955}" srcOrd="3" destOrd="0" parTransId="{27454FBA-38D8-4A6D-9920-1E39102F7EAB}" sibTransId="{4B7A0A58-9A40-4C8D-8EFF-AE631C62E572}"/>
    <dgm:cxn modelId="{CB410BB3-E044-47CE-A4C3-B1E51DA11C01}" type="presOf" srcId="{3FD529E1-CABF-4CE4-8F03-7682AA3D1E4B}" destId="{D0D30DD5-655B-426A-B62F-E1D3182EED69}" srcOrd="1" destOrd="0" presId="urn:microsoft.com/office/officeart/2005/8/layout/list1"/>
    <dgm:cxn modelId="{C9D9B7BF-9819-4862-AA5E-1651BF843AAB}" type="presOf" srcId="{2454B5D5-BE46-405E-9845-977D91C129AB}" destId="{A510B4F4-B2C7-43B1-9A42-AF556FFF090E}" srcOrd="0" destOrd="0" presId="urn:microsoft.com/office/officeart/2005/8/layout/list1"/>
    <dgm:cxn modelId="{D523E5C1-3B09-4EDE-AC22-285B219A9F46}" srcId="{3FD529E1-CABF-4CE4-8F03-7682AA3D1E4B}" destId="{4FE76C2D-F104-4132-A26D-2B7C26D5B4FB}" srcOrd="1" destOrd="0" parTransId="{B6E9154A-81D7-4347-A0B0-C7B237881452}" sibTransId="{2D3E861F-3783-4DD3-BD2A-0F8E0A2B008D}"/>
    <dgm:cxn modelId="{F56790C3-951B-4E5B-802E-E32D7888FC14}" srcId="{86B1BF04-A361-4E74-A0B6-2639ECBBF6DE}" destId="{BD935539-CBD2-4C37-ADDC-4816E2490F90}" srcOrd="0" destOrd="0" parTransId="{EC07A4CF-86B3-417C-9F30-4E496FA01742}" sibTransId="{29F81C5D-2AAF-462E-92A8-B5AA68CB0A8C}"/>
    <dgm:cxn modelId="{91EFADCB-499C-4B9D-981B-7F90689C4E41}" srcId="{EB5BA30F-138B-48E1-8011-06737FD91955}" destId="{07F48DBB-40AF-4312-9E03-5D6B38A2DC03}" srcOrd="1" destOrd="0" parTransId="{32C93098-49F8-4945-A9E9-245D4D944FE5}" sibTransId="{292C7798-DCD0-40E3-B1A1-09D36CFACA1D}"/>
    <dgm:cxn modelId="{45584BDA-DB9A-4213-B4EB-6D834C4670C9}" type="presOf" srcId="{FF3A2559-3407-4C74-A912-B802B7CF0DED}" destId="{4CC805D7-36B9-4420-B035-C010A0B45C51}" srcOrd="0" destOrd="0" presId="urn:microsoft.com/office/officeart/2005/8/layout/list1"/>
    <dgm:cxn modelId="{68330FE6-71F8-47C6-BCC7-580DB36219B4}" type="presOf" srcId="{4FE76C2D-F104-4132-A26D-2B7C26D5B4FB}" destId="{7B57F37D-A974-47D3-9B50-579A1C12729B}" srcOrd="0" destOrd="1" presId="urn:microsoft.com/office/officeart/2005/8/layout/list1"/>
    <dgm:cxn modelId="{6925BCEC-316A-45C4-B2B8-AFD4D0EE7935}" srcId="{3FD529E1-CABF-4CE4-8F03-7682AA3D1E4B}" destId="{6ABD30F9-685A-4C90-AD1D-E41B6FDB0FDF}" srcOrd="0" destOrd="0" parTransId="{833EF755-3290-49B2-A0AE-52229C26A26F}" sibTransId="{6D5996D0-327C-4CA8-BBDB-0C79179ACA34}"/>
    <dgm:cxn modelId="{7450B53E-B8E9-4D01-A8A4-4FE15D5459F1}" type="presParOf" srcId="{407F9D87-3A61-4AAA-9078-E212FB8482A6}" destId="{2988E714-2BF9-47CE-97D6-626DBACBFD52}" srcOrd="0" destOrd="0" presId="urn:microsoft.com/office/officeart/2005/8/layout/list1"/>
    <dgm:cxn modelId="{97102755-362F-4F70-A6DF-D0B3B62F9A1E}" type="presParOf" srcId="{2988E714-2BF9-47CE-97D6-626DBACBFD52}" destId="{A510B4F4-B2C7-43B1-9A42-AF556FFF090E}" srcOrd="0" destOrd="0" presId="urn:microsoft.com/office/officeart/2005/8/layout/list1"/>
    <dgm:cxn modelId="{4A5727D2-08EE-41B1-9E6B-C600B20CC9E4}" type="presParOf" srcId="{2988E714-2BF9-47CE-97D6-626DBACBFD52}" destId="{98076C02-92D9-4869-89E9-8EB6B5493D57}" srcOrd="1" destOrd="0" presId="urn:microsoft.com/office/officeart/2005/8/layout/list1"/>
    <dgm:cxn modelId="{BA7E8EF5-3DFC-494D-817F-4C082DA14FAD}" type="presParOf" srcId="{407F9D87-3A61-4AAA-9078-E212FB8482A6}" destId="{7FE9D441-098E-4837-8424-65DB9F087441}" srcOrd="1" destOrd="0" presId="urn:microsoft.com/office/officeart/2005/8/layout/list1"/>
    <dgm:cxn modelId="{730F243B-354D-460B-90DA-ADA4E77A88A0}" type="presParOf" srcId="{407F9D87-3A61-4AAA-9078-E212FB8482A6}" destId="{4CC805D7-36B9-4420-B035-C010A0B45C51}" srcOrd="2" destOrd="0" presId="urn:microsoft.com/office/officeart/2005/8/layout/list1"/>
    <dgm:cxn modelId="{2B26356A-7898-46D3-B8DF-7A74D4942698}" type="presParOf" srcId="{407F9D87-3A61-4AAA-9078-E212FB8482A6}" destId="{D72D4FE5-EA8C-4E7F-83E8-1AA9903EC6C4}" srcOrd="3" destOrd="0" presId="urn:microsoft.com/office/officeart/2005/8/layout/list1"/>
    <dgm:cxn modelId="{16A908E3-7639-4DD6-91BB-2A0600DA3087}" type="presParOf" srcId="{407F9D87-3A61-4AAA-9078-E212FB8482A6}" destId="{AA2ECA6C-0F28-4F4C-8D95-ABC30EAC42B3}" srcOrd="4" destOrd="0" presId="urn:microsoft.com/office/officeart/2005/8/layout/list1"/>
    <dgm:cxn modelId="{3C1E1994-CF12-4043-8B16-3EBF002AE46A}" type="presParOf" srcId="{AA2ECA6C-0F28-4F4C-8D95-ABC30EAC42B3}" destId="{62E60284-5306-4AF3-8A16-FCBE2C4A48A8}" srcOrd="0" destOrd="0" presId="urn:microsoft.com/office/officeart/2005/8/layout/list1"/>
    <dgm:cxn modelId="{74831F01-7C45-4A94-A8EC-BF43F86F9977}" type="presParOf" srcId="{AA2ECA6C-0F28-4F4C-8D95-ABC30EAC42B3}" destId="{A290E6E5-C88A-4986-9E7A-23584EEA9F68}" srcOrd="1" destOrd="0" presId="urn:microsoft.com/office/officeart/2005/8/layout/list1"/>
    <dgm:cxn modelId="{C04D369B-9FF2-4C24-B643-143B9C8C2237}" type="presParOf" srcId="{407F9D87-3A61-4AAA-9078-E212FB8482A6}" destId="{E3378719-2F75-4513-9F0A-086761D9D6EF}" srcOrd="5" destOrd="0" presId="urn:microsoft.com/office/officeart/2005/8/layout/list1"/>
    <dgm:cxn modelId="{F0F28AC8-A880-4F83-B35C-3FA5ED8F3133}" type="presParOf" srcId="{407F9D87-3A61-4AAA-9078-E212FB8482A6}" destId="{C4A55BBD-202E-4016-912C-11F1A128AFA6}" srcOrd="6" destOrd="0" presId="urn:microsoft.com/office/officeart/2005/8/layout/list1"/>
    <dgm:cxn modelId="{E06FD599-04F0-4488-9CE6-A5DCBA390FBC}" type="presParOf" srcId="{407F9D87-3A61-4AAA-9078-E212FB8482A6}" destId="{138B4453-7F24-4749-90C6-8A80AE2397A1}" srcOrd="7" destOrd="0" presId="urn:microsoft.com/office/officeart/2005/8/layout/list1"/>
    <dgm:cxn modelId="{241EECBE-F831-45B6-A620-99DDA37F26D1}" type="presParOf" srcId="{407F9D87-3A61-4AAA-9078-E212FB8482A6}" destId="{F2B16896-FD8B-40E1-BB29-1804A1B63871}" srcOrd="8" destOrd="0" presId="urn:microsoft.com/office/officeart/2005/8/layout/list1"/>
    <dgm:cxn modelId="{8CF67D90-57CB-4CFB-8C42-534751FC5938}" type="presParOf" srcId="{F2B16896-FD8B-40E1-BB29-1804A1B63871}" destId="{DBA11ADC-1348-44D4-8400-DEF90013B480}" srcOrd="0" destOrd="0" presId="urn:microsoft.com/office/officeart/2005/8/layout/list1"/>
    <dgm:cxn modelId="{130CC389-9E11-4DF8-9FC7-98068CED3576}" type="presParOf" srcId="{F2B16896-FD8B-40E1-BB29-1804A1B63871}" destId="{D0D30DD5-655B-426A-B62F-E1D3182EED69}" srcOrd="1" destOrd="0" presId="urn:microsoft.com/office/officeart/2005/8/layout/list1"/>
    <dgm:cxn modelId="{E9B8E6BF-6C91-4DDF-8C97-EEAE9A3C8F92}" type="presParOf" srcId="{407F9D87-3A61-4AAA-9078-E212FB8482A6}" destId="{1FE02478-097C-4F8B-8CED-9DD631E784B5}" srcOrd="9" destOrd="0" presId="urn:microsoft.com/office/officeart/2005/8/layout/list1"/>
    <dgm:cxn modelId="{4E55A8F7-0D4F-4715-8177-E660183A210B}" type="presParOf" srcId="{407F9D87-3A61-4AAA-9078-E212FB8482A6}" destId="{7B57F37D-A974-47D3-9B50-579A1C12729B}" srcOrd="10" destOrd="0" presId="urn:microsoft.com/office/officeart/2005/8/layout/list1"/>
    <dgm:cxn modelId="{266570D9-15D8-406D-999A-32A92E531D93}" type="presParOf" srcId="{407F9D87-3A61-4AAA-9078-E212FB8482A6}" destId="{E6847318-8856-4917-8FF2-1153D9D73CC8}" srcOrd="11" destOrd="0" presId="urn:microsoft.com/office/officeart/2005/8/layout/list1"/>
    <dgm:cxn modelId="{0DA2FB2F-F3C7-4DE8-AC28-D2D48FB16D94}" type="presParOf" srcId="{407F9D87-3A61-4AAA-9078-E212FB8482A6}" destId="{54EC9DB9-707C-45D3-8FE4-6FFB1A0C3ED6}" srcOrd="12" destOrd="0" presId="urn:microsoft.com/office/officeart/2005/8/layout/list1"/>
    <dgm:cxn modelId="{847F42D6-368D-42CA-985F-6FD81C35CEBA}" type="presParOf" srcId="{54EC9DB9-707C-45D3-8FE4-6FFB1A0C3ED6}" destId="{4426B029-8404-4A08-AEE7-30E2CDFB0106}" srcOrd="0" destOrd="0" presId="urn:microsoft.com/office/officeart/2005/8/layout/list1"/>
    <dgm:cxn modelId="{88BD405C-C93C-4ED4-8CDA-E80BA0D4C959}" type="presParOf" srcId="{54EC9DB9-707C-45D3-8FE4-6FFB1A0C3ED6}" destId="{F1EB2861-F0AC-4A7F-B732-D4F9C9A4D1D2}" srcOrd="1" destOrd="0" presId="urn:microsoft.com/office/officeart/2005/8/layout/list1"/>
    <dgm:cxn modelId="{A8F38696-48E0-4D9F-9E8A-D01658F0D911}" type="presParOf" srcId="{407F9D87-3A61-4AAA-9078-E212FB8482A6}" destId="{CB37EC17-338D-4EE8-8EA9-094EC7CCF178}" srcOrd="13" destOrd="0" presId="urn:microsoft.com/office/officeart/2005/8/layout/list1"/>
    <dgm:cxn modelId="{2652B930-AE8B-4C1D-A33E-5805D851F7EF}" type="presParOf" srcId="{407F9D87-3A61-4AAA-9078-E212FB8482A6}" destId="{BD4E4C64-7F6E-4910-83D7-7E9D8D90A9D4}" srcOrd="14" destOrd="0" presId="urn:microsoft.com/office/officeart/2005/8/layout/list1"/>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B4EC66A-3880-4EEC-8269-BE951BDCBF9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1BDC46E5-40EE-4B4C-A6AB-8E14491CBF01}">
      <dgm:prSet/>
      <dgm:spPr/>
      <dgm:t>
        <a:bodyPr/>
        <a:lstStyle/>
        <a:p>
          <a:r>
            <a:rPr lang="el-GR" b="1"/>
            <a:t>Η Νέα Τοπολογία:</a:t>
          </a:r>
          <a:endParaRPr lang="en-US"/>
        </a:p>
      </dgm:t>
    </dgm:pt>
    <dgm:pt modelId="{A0AF79CE-72FC-47B5-872E-406CBD3BD36E}" type="parTrans" cxnId="{3697A46A-3D77-4C15-8C97-C4C7D13A822E}">
      <dgm:prSet/>
      <dgm:spPr/>
      <dgm:t>
        <a:bodyPr/>
        <a:lstStyle/>
        <a:p>
          <a:endParaRPr lang="en-US"/>
        </a:p>
      </dgm:t>
    </dgm:pt>
    <dgm:pt modelId="{B948341E-48A3-4343-8718-BCE8121AFEED}" type="sibTrans" cxnId="{3697A46A-3D77-4C15-8C97-C4C7D13A822E}">
      <dgm:prSet/>
      <dgm:spPr/>
      <dgm:t>
        <a:bodyPr/>
        <a:lstStyle/>
        <a:p>
          <a:endParaRPr lang="en-US"/>
        </a:p>
      </dgm:t>
    </dgm:pt>
    <dgm:pt modelId="{611CD1E7-E536-4842-B53B-DEEB5FEC4AF0}">
      <dgm:prSet/>
      <dgm:spPr/>
      <dgm:t>
        <a:bodyPr/>
        <a:lstStyle/>
        <a:p>
          <a:r>
            <a:rPr lang="el-GR"/>
            <a:t>Προσθέτουμε πολυπλοκότητα: Από γραμμική αλυσίδα σε δομή "Y".</a:t>
          </a:r>
          <a:endParaRPr lang="en-US"/>
        </a:p>
      </dgm:t>
    </dgm:pt>
    <dgm:pt modelId="{60841768-5D14-476B-A6A1-B3283B82BC3C}" type="parTrans" cxnId="{F29C9A13-1808-4C01-A45D-74EB903E6A66}">
      <dgm:prSet/>
      <dgm:spPr/>
      <dgm:t>
        <a:bodyPr/>
        <a:lstStyle/>
        <a:p>
          <a:endParaRPr lang="en-US"/>
        </a:p>
      </dgm:t>
    </dgm:pt>
    <dgm:pt modelId="{C5D69E6B-FEC8-4253-9D02-A59C8AB9C1EA}" type="sibTrans" cxnId="{F29C9A13-1808-4C01-A45D-74EB903E6A66}">
      <dgm:prSet/>
      <dgm:spPr/>
      <dgm:t>
        <a:bodyPr/>
        <a:lstStyle/>
        <a:p>
          <a:endParaRPr lang="en-US"/>
        </a:p>
      </dgm:t>
    </dgm:pt>
    <dgm:pt modelId="{EEAA6608-3740-4156-8313-555F51A8EEFE}">
      <dgm:prSet/>
      <dgm:spPr/>
      <dgm:t>
        <a:bodyPr/>
        <a:lstStyle/>
        <a:p>
          <a:r>
            <a:rPr lang="el-GR" b="1"/>
            <a:t>3 Hosts:</a:t>
          </a:r>
          <a:r>
            <a:rPr lang="el-GR"/>
            <a:t> Δύο Πηγές (Host A &amp; Host B) + Ένας Προορισμός.</a:t>
          </a:r>
          <a:endParaRPr lang="en-US"/>
        </a:p>
      </dgm:t>
    </dgm:pt>
    <dgm:pt modelId="{44668F1A-77CB-4A5D-9594-C1EEF24EDFD1}" type="parTrans" cxnId="{F8454E86-A42D-4460-8C64-6784A2FE9917}">
      <dgm:prSet/>
      <dgm:spPr/>
      <dgm:t>
        <a:bodyPr/>
        <a:lstStyle/>
        <a:p>
          <a:endParaRPr lang="en-US"/>
        </a:p>
      </dgm:t>
    </dgm:pt>
    <dgm:pt modelId="{5267FCC9-F893-4FF9-A08A-E6E963BF2EA4}" type="sibTrans" cxnId="{F8454E86-A42D-4460-8C64-6784A2FE9917}">
      <dgm:prSet/>
      <dgm:spPr/>
      <dgm:t>
        <a:bodyPr/>
        <a:lstStyle/>
        <a:p>
          <a:endParaRPr lang="en-US"/>
        </a:p>
      </dgm:t>
    </dgm:pt>
    <dgm:pt modelId="{081F292E-B9AE-4473-988D-4F53B563D375}">
      <dgm:prSet/>
      <dgm:spPr/>
      <dgm:t>
        <a:bodyPr/>
        <a:lstStyle/>
        <a:p>
          <a:r>
            <a:rPr lang="el-GR" b="1"/>
            <a:t>2 Routers:</a:t>
          </a:r>
          <a:endParaRPr lang="en-US"/>
        </a:p>
      </dgm:t>
    </dgm:pt>
    <dgm:pt modelId="{0A99F09F-AEAF-42AC-A720-70C634F93F48}" type="parTrans" cxnId="{81698D64-953B-46AC-813C-61F24F2BDFE1}">
      <dgm:prSet/>
      <dgm:spPr/>
      <dgm:t>
        <a:bodyPr/>
        <a:lstStyle/>
        <a:p>
          <a:endParaRPr lang="en-US"/>
        </a:p>
      </dgm:t>
    </dgm:pt>
    <dgm:pt modelId="{86DC1D12-B388-443D-A59B-2EEB0610A2B3}" type="sibTrans" cxnId="{81698D64-953B-46AC-813C-61F24F2BDFE1}">
      <dgm:prSet/>
      <dgm:spPr/>
      <dgm:t>
        <a:bodyPr/>
        <a:lstStyle/>
        <a:p>
          <a:endParaRPr lang="en-US"/>
        </a:p>
      </dgm:t>
    </dgm:pt>
    <dgm:pt modelId="{F7FD3496-4D19-45E3-8148-9916A0C8A1DE}">
      <dgm:prSet/>
      <dgm:spPr/>
      <dgm:t>
        <a:bodyPr/>
        <a:lstStyle/>
        <a:p>
          <a:r>
            <a:rPr lang="el-GR" b="1"/>
            <a:t>Router 1 (Aggregator):</a:t>
          </a:r>
          <a:r>
            <a:rPr lang="el-GR"/>
            <a:t> Συγχωνεύει την κίνηση των πηγών.</a:t>
          </a:r>
          <a:endParaRPr lang="en-US"/>
        </a:p>
      </dgm:t>
    </dgm:pt>
    <dgm:pt modelId="{411218D8-3DD7-41FB-BF12-2C1DEFBC2127}" type="parTrans" cxnId="{09928B40-5D39-44EC-9117-14539F44B72B}">
      <dgm:prSet/>
      <dgm:spPr/>
      <dgm:t>
        <a:bodyPr/>
        <a:lstStyle/>
        <a:p>
          <a:endParaRPr lang="en-US"/>
        </a:p>
      </dgm:t>
    </dgm:pt>
    <dgm:pt modelId="{9D2F695C-E7D4-4FD0-8611-6FFDBD1450AF}" type="sibTrans" cxnId="{09928B40-5D39-44EC-9117-14539F44B72B}">
      <dgm:prSet/>
      <dgm:spPr/>
      <dgm:t>
        <a:bodyPr/>
        <a:lstStyle/>
        <a:p>
          <a:endParaRPr lang="en-US"/>
        </a:p>
      </dgm:t>
    </dgm:pt>
    <dgm:pt modelId="{EF455464-FA7B-4CB7-868A-C13CE21D49E3}">
      <dgm:prSet/>
      <dgm:spPr/>
      <dgm:t>
        <a:bodyPr/>
        <a:lstStyle/>
        <a:p>
          <a:r>
            <a:rPr lang="el-GR" b="1"/>
            <a:t>Router 2 (Backbone):</a:t>
          </a:r>
          <a:r>
            <a:rPr lang="el-GR"/>
            <a:t> Μεταφέρει την κίνηση στον προορισμό.</a:t>
          </a:r>
          <a:endParaRPr lang="en-US"/>
        </a:p>
      </dgm:t>
    </dgm:pt>
    <dgm:pt modelId="{9339A86E-115F-4755-8EA0-7467B6F5203E}" type="parTrans" cxnId="{61AC89F8-C9A4-41BE-8E49-5C7573E8C9DB}">
      <dgm:prSet/>
      <dgm:spPr/>
      <dgm:t>
        <a:bodyPr/>
        <a:lstStyle/>
        <a:p>
          <a:endParaRPr lang="en-US"/>
        </a:p>
      </dgm:t>
    </dgm:pt>
    <dgm:pt modelId="{308FEF9A-3DD8-40A2-BCAB-EAB76BD65C4D}" type="sibTrans" cxnId="{61AC89F8-C9A4-41BE-8E49-5C7573E8C9DB}">
      <dgm:prSet/>
      <dgm:spPr/>
      <dgm:t>
        <a:bodyPr/>
        <a:lstStyle/>
        <a:p>
          <a:endParaRPr lang="en-US"/>
        </a:p>
      </dgm:t>
    </dgm:pt>
    <dgm:pt modelId="{E150570A-5F26-4D95-883B-A4D05845DA13}">
      <dgm:prSet/>
      <dgm:spPr/>
      <dgm:t>
        <a:bodyPr/>
        <a:lstStyle/>
        <a:p>
          <a:r>
            <a:rPr lang="el-GR" b="1"/>
            <a:t>Η Πρόκληση:</a:t>
          </a:r>
          <a:endParaRPr lang="en-US"/>
        </a:p>
      </dgm:t>
    </dgm:pt>
    <dgm:pt modelId="{47E95496-8110-4891-8DFF-C7FE53BA6549}" type="parTrans" cxnId="{23A90F7B-CD55-43A5-949A-E8623567437C}">
      <dgm:prSet/>
      <dgm:spPr/>
      <dgm:t>
        <a:bodyPr/>
        <a:lstStyle/>
        <a:p>
          <a:endParaRPr lang="en-US"/>
        </a:p>
      </dgm:t>
    </dgm:pt>
    <dgm:pt modelId="{4A839049-0827-44C5-85F3-5114A557DEAA}" type="sibTrans" cxnId="{23A90F7B-CD55-43A5-949A-E8623567437C}">
      <dgm:prSet/>
      <dgm:spPr/>
      <dgm:t>
        <a:bodyPr/>
        <a:lstStyle/>
        <a:p>
          <a:endParaRPr lang="en-US"/>
        </a:p>
      </dgm:t>
    </dgm:pt>
    <dgm:pt modelId="{06F5F7E3-D25A-4EB8-B122-0AAEBE714032}">
      <dgm:prSet/>
      <dgm:spPr/>
      <dgm:t>
        <a:bodyPr/>
        <a:lstStyle/>
        <a:p>
          <a:r>
            <a:rPr lang="el-GR"/>
            <a:t>Διπλασιασμός κίνησης εισόδου: </a:t>
          </a:r>
          <a:r>
            <a:rPr lang="el-GR" b="1"/>
            <a:t>400 pkts/s</a:t>
          </a:r>
          <a:r>
            <a:rPr lang="el-GR"/>
            <a:t> (200+200).</a:t>
          </a:r>
          <a:endParaRPr lang="en-US"/>
        </a:p>
      </dgm:t>
    </dgm:pt>
    <dgm:pt modelId="{9CD33EE3-59DE-4B30-8EAA-5065D6A5BE45}" type="parTrans" cxnId="{5C2DC5AE-FCD4-468A-93E8-85D1DCA27026}">
      <dgm:prSet/>
      <dgm:spPr/>
      <dgm:t>
        <a:bodyPr/>
        <a:lstStyle/>
        <a:p>
          <a:endParaRPr lang="en-US"/>
        </a:p>
      </dgm:t>
    </dgm:pt>
    <dgm:pt modelId="{A6725DD0-B70F-4747-9C5A-03CDC06DFD5F}" type="sibTrans" cxnId="{5C2DC5AE-FCD4-468A-93E8-85D1DCA27026}">
      <dgm:prSet/>
      <dgm:spPr/>
      <dgm:t>
        <a:bodyPr/>
        <a:lstStyle/>
        <a:p>
          <a:endParaRPr lang="en-US"/>
        </a:p>
      </dgm:t>
    </dgm:pt>
    <dgm:pt modelId="{D2CD0997-5A59-4AF2-A4D3-57F8A783BDA2}">
      <dgm:prSet/>
      <dgm:spPr/>
      <dgm:t>
        <a:bodyPr/>
        <a:lstStyle/>
        <a:p>
          <a:r>
            <a:rPr lang="el-GR"/>
            <a:t>Το Bandwidth παραμένει αρχικά στο </a:t>
          </a:r>
          <a:r>
            <a:rPr lang="el-GR" b="1"/>
            <a:t>1 Mbps</a:t>
          </a:r>
          <a:r>
            <a:rPr lang="el-GR"/>
            <a:t>.</a:t>
          </a:r>
          <a:endParaRPr lang="en-US"/>
        </a:p>
      </dgm:t>
    </dgm:pt>
    <dgm:pt modelId="{B5EE9073-063F-4105-8051-F8750521855C}" type="parTrans" cxnId="{9CF07363-CC4B-411E-8206-4106A9A7E795}">
      <dgm:prSet/>
      <dgm:spPr/>
      <dgm:t>
        <a:bodyPr/>
        <a:lstStyle/>
        <a:p>
          <a:endParaRPr lang="en-US"/>
        </a:p>
      </dgm:t>
    </dgm:pt>
    <dgm:pt modelId="{6C24B274-360B-44AE-81B8-495009BB9E29}" type="sibTrans" cxnId="{9CF07363-CC4B-411E-8206-4106A9A7E795}">
      <dgm:prSet/>
      <dgm:spPr/>
      <dgm:t>
        <a:bodyPr/>
        <a:lstStyle/>
        <a:p>
          <a:endParaRPr lang="en-US"/>
        </a:p>
      </dgm:t>
    </dgm:pt>
    <dgm:pt modelId="{4E6B6F34-43C3-4A5B-B44D-9300A26CADD6}" type="pres">
      <dgm:prSet presAssocID="{5B4EC66A-3880-4EEC-8269-BE951BDCBF94}" presName="linear" presStyleCnt="0">
        <dgm:presLayoutVars>
          <dgm:dir/>
          <dgm:animLvl val="lvl"/>
          <dgm:resizeHandles val="exact"/>
        </dgm:presLayoutVars>
      </dgm:prSet>
      <dgm:spPr/>
    </dgm:pt>
    <dgm:pt modelId="{FDA29853-F1A4-42EA-8F52-F8C4E320B98D}" type="pres">
      <dgm:prSet presAssocID="{1BDC46E5-40EE-4B4C-A6AB-8E14491CBF01}" presName="parentLin" presStyleCnt="0"/>
      <dgm:spPr/>
    </dgm:pt>
    <dgm:pt modelId="{055CBB4B-7B23-41F2-82BF-119EFCB37D85}" type="pres">
      <dgm:prSet presAssocID="{1BDC46E5-40EE-4B4C-A6AB-8E14491CBF01}" presName="parentLeftMargin" presStyleLbl="node1" presStyleIdx="0" presStyleCnt="2"/>
      <dgm:spPr/>
    </dgm:pt>
    <dgm:pt modelId="{66186752-D304-4F93-BAFE-25D85E9C4092}" type="pres">
      <dgm:prSet presAssocID="{1BDC46E5-40EE-4B4C-A6AB-8E14491CBF01}" presName="parentText" presStyleLbl="node1" presStyleIdx="0" presStyleCnt="2">
        <dgm:presLayoutVars>
          <dgm:chMax val="0"/>
          <dgm:bulletEnabled val="1"/>
        </dgm:presLayoutVars>
      </dgm:prSet>
      <dgm:spPr/>
    </dgm:pt>
    <dgm:pt modelId="{8E721754-08C0-4064-969D-F90702D7B91A}" type="pres">
      <dgm:prSet presAssocID="{1BDC46E5-40EE-4B4C-A6AB-8E14491CBF01}" presName="negativeSpace" presStyleCnt="0"/>
      <dgm:spPr/>
    </dgm:pt>
    <dgm:pt modelId="{1AD9EA15-F1DD-47AD-BFC2-4F44951CE4F2}" type="pres">
      <dgm:prSet presAssocID="{1BDC46E5-40EE-4B4C-A6AB-8E14491CBF01}" presName="childText" presStyleLbl="conFgAcc1" presStyleIdx="0" presStyleCnt="2">
        <dgm:presLayoutVars>
          <dgm:bulletEnabled val="1"/>
        </dgm:presLayoutVars>
      </dgm:prSet>
      <dgm:spPr/>
    </dgm:pt>
    <dgm:pt modelId="{CD8365B0-8767-42CA-8860-0BB4AE80D30E}" type="pres">
      <dgm:prSet presAssocID="{B948341E-48A3-4343-8718-BCE8121AFEED}" presName="spaceBetweenRectangles" presStyleCnt="0"/>
      <dgm:spPr/>
    </dgm:pt>
    <dgm:pt modelId="{DAE64F66-3F1C-4114-964D-9C151803A488}" type="pres">
      <dgm:prSet presAssocID="{E150570A-5F26-4D95-883B-A4D05845DA13}" presName="parentLin" presStyleCnt="0"/>
      <dgm:spPr/>
    </dgm:pt>
    <dgm:pt modelId="{19B323EF-0AAB-4333-8DB9-BCD78AFA70C1}" type="pres">
      <dgm:prSet presAssocID="{E150570A-5F26-4D95-883B-A4D05845DA13}" presName="parentLeftMargin" presStyleLbl="node1" presStyleIdx="0" presStyleCnt="2"/>
      <dgm:spPr/>
    </dgm:pt>
    <dgm:pt modelId="{CBCE80AA-8C09-494B-BF77-E6794A08D8CF}" type="pres">
      <dgm:prSet presAssocID="{E150570A-5F26-4D95-883B-A4D05845DA13}" presName="parentText" presStyleLbl="node1" presStyleIdx="1" presStyleCnt="2">
        <dgm:presLayoutVars>
          <dgm:chMax val="0"/>
          <dgm:bulletEnabled val="1"/>
        </dgm:presLayoutVars>
      </dgm:prSet>
      <dgm:spPr/>
    </dgm:pt>
    <dgm:pt modelId="{E605DDBB-C663-4C6E-ACCF-9A98611B0514}" type="pres">
      <dgm:prSet presAssocID="{E150570A-5F26-4D95-883B-A4D05845DA13}" presName="negativeSpace" presStyleCnt="0"/>
      <dgm:spPr/>
    </dgm:pt>
    <dgm:pt modelId="{CA36117A-5607-4F93-B4E1-64316CD57DB6}" type="pres">
      <dgm:prSet presAssocID="{E150570A-5F26-4D95-883B-A4D05845DA13}" presName="childText" presStyleLbl="conFgAcc1" presStyleIdx="1" presStyleCnt="2">
        <dgm:presLayoutVars>
          <dgm:bulletEnabled val="1"/>
        </dgm:presLayoutVars>
      </dgm:prSet>
      <dgm:spPr/>
    </dgm:pt>
  </dgm:ptLst>
  <dgm:cxnLst>
    <dgm:cxn modelId="{4DF0E503-061F-4A0C-A824-DC78B8A701FE}" type="presOf" srcId="{EF455464-FA7B-4CB7-868A-C13CE21D49E3}" destId="{1AD9EA15-F1DD-47AD-BFC2-4F44951CE4F2}" srcOrd="0" destOrd="4" presId="urn:microsoft.com/office/officeart/2005/8/layout/list1"/>
    <dgm:cxn modelId="{F29C9A13-1808-4C01-A45D-74EB903E6A66}" srcId="{1BDC46E5-40EE-4B4C-A6AB-8E14491CBF01}" destId="{611CD1E7-E536-4842-B53B-DEEB5FEC4AF0}" srcOrd="0" destOrd="0" parTransId="{60841768-5D14-476B-A6A1-B3283B82BC3C}" sibTransId="{C5D69E6B-FEC8-4253-9D02-A59C8AB9C1EA}"/>
    <dgm:cxn modelId="{811C0515-67C9-4D2E-8206-B59CBF70CF23}" type="presOf" srcId="{E150570A-5F26-4D95-883B-A4D05845DA13}" destId="{19B323EF-0AAB-4333-8DB9-BCD78AFA70C1}" srcOrd="0" destOrd="0" presId="urn:microsoft.com/office/officeart/2005/8/layout/list1"/>
    <dgm:cxn modelId="{84811021-3104-4F36-A2A8-AC542997945D}" type="presOf" srcId="{611CD1E7-E536-4842-B53B-DEEB5FEC4AF0}" destId="{1AD9EA15-F1DD-47AD-BFC2-4F44951CE4F2}" srcOrd="0" destOrd="0" presId="urn:microsoft.com/office/officeart/2005/8/layout/list1"/>
    <dgm:cxn modelId="{3EB6FC3D-3E4A-4D61-A79A-BDF0ECB751FC}" type="presOf" srcId="{D2CD0997-5A59-4AF2-A4D3-57F8A783BDA2}" destId="{CA36117A-5607-4F93-B4E1-64316CD57DB6}" srcOrd="0" destOrd="1" presId="urn:microsoft.com/office/officeart/2005/8/layout/list1"/>
    <dgm:cxn modelId="{09928B40-5D39-44EC-9117-14539F44B72B}" srcId="{081F292E-B9AE-4473-988D-4F53B563D375}" destId="{F7FD3496-4D19-45E3-8148-9916A0C8A1DE}" srcOrd="0" destOrd="0" parTransId="{411218D8-3DD7-41FB-BF12-2C1DEFBC2127}" sibTransId="{9D2F695C-E7D4-4FD0-8611-6FFDBD1450AF}"/>
    <dgm:cxn modelId="{CF25B95C-F853-4DEF-B10D-1E171EC92EA3}" type="presOf" srcId="{1BDC46E5-40EE-4B4C-A6AB-8E14491CBF01}" destId="{66186752-D304-4F93-BAFE-25D85E9C4092}" srcOrd="1" destOrd="0" presId="urn:microsoft.com/office/officeart/2005/8/layout/list1"/>
    <dgm:cxn modelId="{9CF07363-CC4B-411E-8206-4106A9A7E795}" srcId="{E150570A-5F26-4D95-883B-A4D05845DA13}" destId="{D2CD0997-5A59-4AF2-A4D3-57F8A783BDA2}" srcOrd="1" destOrd="0" parTransId="{B5EE9073-063F-4105-8051-F8750521855C}" sibTransId="{6C24B274-360B-44AE-81B8-495009BB9E29}"/>
    <dgm:cxn modelId="{81698D64-953B-46AC-813C-61F24F2BDFE1}" srcId="{1BDC46E5-40EE-4B4C-A6AB-8E14491CBF01}" destId="{081F292E-B9AE-4473-988D-4F53B563D375}" srcOrd="2" destOrd="0" parTransId="{0A99F09F-AEAF-42AC-A720-70C634F93F48}" sibTransId="{86DC1D12-B388-443D-A59B-2EEB0610A2B3}"/>
    <dgm:cxn modelId="{723B2565-2E60-4099-9834-696FDA1E494A}" type="presOf" srcId="{06F5F7E3-D25A-4EB8-B122-0AAEBE714032}" destId="{CA36117A-5607-4F93-B4E1-64316CD57DB6}" srcOrd="0" destOrd="0" presId="urn:microsoft.com/office/officeart/2005/8/layout/list1"/>
    <dgm:cxn modelId="{9665424A-58DB-40E0-8C11-B487463142D1}" type="presOf" srcId="{5B4EC66A-3880-4EEC-8269-BE951BDCBF94}" destId="{4E6B6F34-43C3-4A5B-B44D-9300A26CADD6}" srcOrd="0" destOrd="0" presId="urn:microsoft.com/office/officeart/2005/8/layout/list1"/>
    <dgm:cxn modelId="{3697A46A-3D77-4C15-8C97-C4C7D13A822E}" srcId="{5B4EC66A-3880-4EEC-8269-BE951BDCBF94}" destId="{1BDC46E5-40EE-4B4C-A6AB-8E14491CBF01}" srcOrd="0" destOrd="0" parTransId="{A0AF79CE-72FC-47B5-872E-406CBD3BD36E}" sibTransId="{B948341E-48A3-4343-8718-BCE8121AFEED}"/>
    <dgm:cxn modelId="{7945336E-65C3-4F84-A6FC-3F03B3F36C52}" type="presOf" srcId="{081F292E-B9AE-4473-988D-4F53B563D375}" destId="{1AD9EA15-F1DD-47AD-BFC2-4F44951CE4F2}" srcOrd="0" destOrd="2" presId="urn:microsoft.com/office/officeart/2005/8/layout/list1"/>
    <dgm:cxn modelId="{23A90F7B-CD55-43A5-949A-E8623567437C}" srcId="{5B4EC66A-3880-4EEC-8269-BE951BDCBF94}" destId="{E150570A-5F26-4D95-883B-A4D05845DA13}" srcOrd="1" destOrd="0" parTransId="{47E95496-8110-4891-8DFF-C7FE53BA6549}" sibTransId="{4A839049-0827-44C5-85F3-5114A557DEAA}"/>
    <dgm:cxn modelId="{F8454E86-A42D-4460-8C64-6784A2FE9917}" srcId="{1BDC46E5-40EE-4B4C-A6AB-8E14491CBF01}" destId="{EEAA6608-3740-4156-8313-555F51A8EEFE}" srcOrd="1" destOrd="0" parTransId="{44668F1A-77CB-4A5D-9594-C1EEF24EDFD1}" sibTransId="{5267FCC9-F893-4FF9-A08A-E6E963BF2EA4}"/>
    <dgm:cxn modelId="{84D6039A-749E-40F8-9DB3-20E0402AB1EF}" type="presOf" srcId="{EEAA6608-3740-4156-8313-555F51A8EEFE}" destId="{1AD9EA15-F1DD-47AD-BFC2-4F44951CE4F2}" srcOrd="0" destOrd="1" presId="urn:microsoft.com/office/officeart/2005/8/layout/list1"/>
    <dgm:cxn modelId="{5C2DC5AE-FCD4-468A-93E8-85D1DCA27026}" srcId="{E150570A-5F26-4D95-883B-A4D05845DA13}" destId="{06F5F7E3-D25A-4EB8-B122-0AAEBE714032}" srcOrd="0" destOrd="0" parTransId="{9CD33EE3-59DE-4B30-8EAA-5065D6A5BE45}" sibTransId="{A6725DD0-B70F-4747-9C5A-03CDC06DFD5F}"/>
    <dgm:cxn modelId="{D5D766B6-429B-436E-ADA3-D0D7616AF87A}" type="presOf" srcId="{F7FD3496-4D19-45E3-8148-9916A0C8A1DE}" destId="{1AD9EA15-F1DD-47AD-BFC2-4F44951CE4F2}" srcOrd="0" destOrd="3" presId="urn:microsoft.com/office/officeart/2005/8/layout/list1"/>
    <dgm:cxn modelId="{81BA14BF-063A-4A88-9B28-726C78DEE4B3}" type="presOf" srcId="{E150570A-5F26-4D95-883B-A4D05845DA13}" destId="{CBCE80AA-8C09-494B-BF77-E6794A08D8CF}" srcOrd="1" destOrd="0" presId="urn:microsoft.com/office/officeart/2005/8/layout/list1"/>
    <dgm:cxn modelId="{F0CB83EC-70F7-4A1B-B89F-CD3A52737679}" type="presOf" srcId="{1BDC46E5-40EE-4B4C-A6AB-8E14491CBF01}" destId="{055CBB4B-7B23-41F2-82BF-119EFCB37D85}" srcOrd="0" destOrd="0" presId="urn:microsoft.com/office/officeart/2005/8/layout/list1"/>
    <dgm:cxn modelId="{61AC89F8-C9A4-41BE-8E49-5C7573E8C9DB}" srcId="{081F292E-B9AE-4473-988D-4F53B563D375}" destId="{EF455464-FA7B-4CB7-868A-C13CE21D49E3}" srcOrd="1" destOrd="0" parTransId="{9339A86E-115F-4755-8EA0-7467B6F5203E}" sibTransId="{308FEF9A-3DD8-40A2-BCAB-EAB76BD65C4D}"/>
    <dgm:cxn modelId="{935E7F8D-901D-4D74-A0FF-57EEDE1B0DE7}" type="presParOf" srcId="{4E6B6F34-43C3-4A5B-B44D-9300A26CADD6}" destId="{FDA29853-F1A4-42EA-8F52-F8C4E320B98D}" srcOrd="0" destOrd="0" presId="urn:microsoft.com/office/officeart/2005/8/layout/list1"/>
    <dgm:cxn modelId="{1F8ED80D-A5DB-49A0-9F37-85D88FC1D4D9}" type="presParOf" srcId="{FDA29853-F1A4-42EA-8F52-F8C4E320B98D}" destId="{055CBB4B-7B23-41F2-82BF-119EFCB37D85}" srcOrd="0" destOrd="0" presId="urn:microsoft.com/office/officeart/2005/8/layout/list1"/>
    <dgm:cxn modelId="{A5A49EC0-CECD-46D1-BC7A-82534576E0D1}" type="presParOf" srcId="{FDA29853-F1A4-42EA-8F52-F8C4E320B98D}" destId="{66186752-D304-4F93-BAFE-25D85E9C4092}" srcOrd="1" destOrd="0" presId="urn:microsoft.com/office/officeart/2005/8/layout/list1"/>
    <dgm:cxn modelId="{1E97FBA9-23EE-469C-AE8C-5184946E8F29}" type="presParOf" srcId="{4E6B6F34-43C3-4A5B-B44D-9300A26CADD6}" destId="{8E721754-08C0-4064-969D-F90702D7B91A}" srcOrd="1" destOrd="0" presId="urn:microsoft.com/office/officeart/2005/8/layout/list1"/>
    <dgm:cxn modelId="{9BEE7826-BD48-47BE-9C82-C8E3993B34C5}" type="presParOf" srcId="{4E6B6F34-43C3-4A5B-B44D-9300A26CADD6}" destId="{1AD9EA15-F1DD-47AD-BFC2-4F44951CE4F2}" srcOrd="2" destOrd="0" presId="urn:microsoft.com/office/officeart/2005/8/layout/list1"/>
    <dgm:cxn modelId="{8EC1A532-D730-439F-BD8A-F959C3B51D40}" type="presParOf" srcId="{4E6B6F34-43C3-4A5B-B44D-9300A26CADD6}" destId="{CD8365B0-8767-42CA-8860-0BB4AE80D30E}" srcOrd="3" destOrd="0" presId="urn:microsoft.com/office/officeart/2005/8/layout/list1"/>
    <dgm:cxn modelId="{71BE9740-83F5-4D0D-BC26-BD3F6B4DB24F}" type="presParOf" srcId="{4E6B6F34-43C3-4A5B-B44D-9300A26CADD6}" destId="{DAE64F66-3F1C-4114-964D-9C151803A488}" srcOrd="4" destOrd="0" presId="urn:microsoft.com/office/officeart/2005/8/layout/list1"/>
    <dgm:cxn modelId="{1B60E822-5C40-4AA1-A2FB-F8C00E65AB86}" type="presParOf" srcId="{DAE64F66-3F1C-4114-964D-9C151803A488}" destId="{19B323EF-0AAB-4333-8DB9-BCD78AFA70C1}" srcOrd="0" destOrd="0" presId="urn:microsoft.com/office/officeart/2005/8/layout/list1"/>
    <dgm:cxn modelId="{0B8B8F9F-FBCE-4399-B3D9-A28E47D4BC72}" type="presParOf" srcId="{DAE64F66-3F1C-4114-964D-9C151803A488}" destId="{CBCE80AA-8C09-494B-BF77-E6794A08D8CF}" srcOrd="1" destOrd="0" presId="urn:microsoft.com/office/officeart/2005/8/layout/list1"/>
    <dgm:cxn modelId="{3ED8A152-B303-41A3-8BF0-035AF69B556C}" type="presParOf" srcId="{4E6B6F34-43C3-4A5B-B44D-9300A26CADD6}" destId="{E605DDBB-C663-4C6E-ACCF-9A98611B0514}" srcOrd="5" destOrd="0" presId="urn:microsoft.com/office/officeart/2005/8/layout/list1"/>
    <dgm:cxn modelId="{BB6EAAD1-301B-4D50-A074-05837EA015AC}" type="presParOf" srcId="{4E6B6F34-43C3-4A5B-B44D-9300A26CADD6}" destId="{CA36117A-5607-4F93-B4E1-64316CD57DB6}"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67B2262-6F76-471D-AB4A-160697494586}">
      <dsp:nvSpPr>
        <dsp:cNvPr id="0" name=""/>
        <dsp:cNvSpPr/>
      </dsp:nvSpPr>
      <dsp:spPr>
        <a:xfrm rot="5400000">
          <a:off x="6589693" y="-26617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Bandwidth:</a:t>
          </a:r>
          <a:r>
            <a:rPr lang="el-GR" sz="1400" kern="1200" dirty="0"/>
            <a:t> 1 Mbps</a:t>
          </a:r>
          <a:r>
            <a:rPr lang="en-US" sz="1400" kern="1200" dirty="0"/>
            <a:t>.</a:t>
          </a:r>
          <a:r>
            <a:rPr lang="el-GR" sz="1400" kern="1200" dirty="0"/>
            <a:t>Το εύρος ζώνης είναι ο μέγιστος ρυθμός μεταφοράς δεδομένων.</a:t>
          </a:r>
          <a:br>
            <a:rPr lang="el-GR" sz="1400" kern="1200" dirty="0"/>
          </a:br>
          <a:r>
            <a:rPr lang="en-US" sz="1400" b="1" kern="1200" dirty="0"/>
            <a:t>Bandwidth </a:t>
          </a:r>
          <a:r>
            <a:rPr lang="el-GR" sz="1400" b="1" kern="1200" dirty="0"/>
            <a:t>σε </a:t>
          </a:r>
          <a:r>
            <a:rPr lang="en-US" sz="1400" b="1" kern="1200" dirty="0"/>
            <a:t>Bytes: </a:t>
          </a:r>
          <a:r>
            <a:rPr lang="en-US" sz="1400" kern="1200" dirty="0"/>
            <a:t>Bandwidth/8=125.000</a:t>
          </a:r>
          <a:br>
            <a:rPr lang="el-GR" sz="1400" kern="1200" dirty="0"/>
          </a:br>
          <a:r>
            <a:rPr lang="el-GR" sz="1400" b="1" kern="1200" dirty="0"/>
            <a:t>Propagation Delay:</a:t>
          </a:r>
          <a:r>
            <a:rPr lang="el-GR" sz="1400" kern="1200" dirty="0"/>
            <a:t> 50 ms. Καθυστέρηση διάδοσης είναι η χρονική διάρκεια που απαιτείται για να φτάσει ένα σήμα στον προορισμό του</a:t>
          </a:r>
          <a:r>
            <a:rPr lang="en-US" sz="1400" kern="1200" dirty="0"/>
            <a:t>.</a:t>
          </a:r>
          <a:r>
            <a:rPr lang="el-GR" sz="1400" kern="1200" dirty="0"/>
            <a:t>  </a:t>
          </a:r>
          <a:endParaRPr lang="en-US" sz="1400" kern="1200" dirty="0"/>
        </a:p>
      </dsp:txBody>
      <dsp:txXfrm rot="-5400000">
        <a:off x="3785616" y="197117"/>
        <a:ext cx="6675221" cy="1012303"/>
      </dsp:txXfrm>
    </dsp:sp>
    <dsp:sp modelId="{1912DF6A-2585-4A61-90CF-3969A2906B4A}">
      <dsp:nvSpPr>
        <dsp:cNvPr id="0" name=""/>
        <dsp:cNvSpPr/>
      </dsp:nvSpPr>
      <dsp:spPr>
        <a:xfrm>
          <a:off x="0" y="2124"/>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dirty="0"/>
            <a:t>Ιδιότητες Σύνδεσης (Link Properties):</a:t>
          </a:r>
          <a:endParaRPr lang="en-US" sz="2700" kern="1200" dirty="0"/>
        </a:p>
      </dsp:txBody>
      <dsp:txXfrm>
        <a:off x="68454" y="70578"/>
        <a:ext cx="3648708" cy="1265378"/>
      </dsp:txXfrm>
    </dsp:sp>
    <dsp:sp modelId="{4941C0ED-29C4-434A-A426-25C2D387BD79}">
      <dsp:nvSpPr>
        <dsp:cNvPr id="0" name=""/>
        <dsp:cNvSpPr/>
      </dsp:nvSpPr>
      <dsp:spPr>
        <a:xfrm rot="5400000">
          <a:off x="6589693" y="-1189323"/>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b="1" kern="1200" dirty="0"/>
            <a:t>Packet Size:</a:t>
          </a:r>
          <a:r>
            <a:rPr lang="el-GR" sz="1400" kern="1200" dirty="0"/>
            <a:t> 1000 Bytes. Το μέγεθος κάθε πακέτου. Η πηγή παράγει 1 πακέτο κάθε 5 ms (200 πακέτα/sec).</a:t>
          </a:r>
          <a:endParaRPr lang="en-US" sz="1400" kern="1200" dirty="0"/>
        </a:p>
      </dsp:txBody>
      <dsp:txXfrm rot="-5400000">
        <a:off x="3785616" y="1669517"/>
        <a:ext cx="6675221" cy="1012303"/>
      </dsp:txXfrm>
    </dsp:sp>
    <dsp:sp modelId="{E8B91188-4BE9-49E8-839D-C577A75DD324}">
      <dsp:nvSpPr>
        <dsp:cNvPr id="0" name=""/>
        <dsp:cNvSpPr/>
      </dsp:nvSpPr>
      <dsp:spPr>
        <a:xfrm>
          <a:off x="0" y="1474525"/>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Ιδιότητες Κίνησης (Traffic Properties):</a:t>
          </a:r>
          <a:endParaRPr lang="en-US" sz="2700" kern="1200"/>
        </a:p>
      </dsp:txBody>
      <dsp:txXfrm>
        <a:off x="68454" y="1542979"/>
        <a:ext cx="3648708" cy="1265378"/>
      </dsp:txXfrm>
    </dsp:sp>
    <dsp:sp modelId="{0B347050-530E-4D77-BD25-9718AF6A1990}">
      <dsp:nvSpPr>
        <dsp:cNvPr id="0" name=""/>
        <dsp:cNvSpPr/>
      </dsp:nvSpPr>
      <dsp:spPr>
        <a:xfrm rot="5400000">
          <a:off x="6589693" y="283077"/>
          <a:ext cx="1121829" cy="6729984"/>
        </a:xfrm>
        <a:prstGeom prst="round2Same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26670" rIns="53340" bIns="26670" numCol="1" spcCol="1270" anchor="ctr" anchorCtr="0">
          <a:noAutofit/>
        </a:bodyPr>
        <a:lstStyle/>
        <a:p>
          <a:pPr marL="114300" lvl="1" indent="-114300" algn="l" defTabSz="622300">
            <a:lnSpc>
              <a:spcPct val="90000"/>
            </a:lnSpc>
            <a:spcBef>
              <a:spcPct val="0"/>
            </a:spcBef>
            <a:spcAft>
              <a:spcPct val="15000"/>
            </a:spcAft>
            <a:buChar char="•"/>
          </a:pPr>
          <a:r>
            <a:rPr lang="el-GR" sz="1400" kern="1200" dirty="0"/>
            <a:t>Transmission Delay = Packet Size / Bandwidth</a:t>
          </a:r>
          <a:endParaRPr lang="en-US" sz="1400" kern="1200" dirty="0"/>
        </a:p>
        <a:p>
          <a:pPr marL="114300" lvl="1" indent="-114300" algn="l" defTabSz="622300">
            <a:lnSpc>
              <a:spcPct val="90000"/>
            </a:lnSpc>
            <a:spcBef>
              <a:spcPct val="0"/>
            </a:spcBef>
            <a:spcAft>
              <a:spcPct val="15000"/>
            </a:spcAft>
            <a:buChar char="•"/>
          </a:pPr>
          <a:r>
            <a:rPr lang="el-GR" sz="1400" kern="1200" dirty="0"/>
            <a:t>1000 Bytes / 125,000 Bytes/sec = 0.008 δευτερόλεπτα(8</a:t>
          </a:r>
          <a:r>
            <a:rPr lang="en-US" sz="1400" kern="1200" dirty="0" err="1"/>
            <a:t>ms</a:t>
          </a:r>
          <a:r>
            <a:rPr lang="en-US" sz="1400" kern="1200" dirty="0"/>
            <a:t>).</a:t>
          </a:r>
        </a:p>
        <a:p>
          <a:pPr marL="114300" lvl="1" indent="-114300" algn="l" defTabSz="622300">
            <a:lnSpc>
              <a:spcPct val="90000"/>
            </a:lnSpc>
            <a:spcBef>
              <a:spcPct val="0"/>
            </a:spcBef>
            <a:spcAft>
              <a:spcPct val="15000"/>
            </a:spcAft>
            <a:buChar char="•"/>
          </a:pPr>
          <a:r>
            <a:rPr lang="el-GR" sz="1400" kern="1200"/>
            <a:t>Αυτό σημαίνει ότι ο router χρειάζεται </a:t>
          </a:r>
          <a:r>
            <a:rPr lang="el-GR" sz="1400" b="1" kern="1200"/>
            <a:t>8ms</a:t>
          </a:r>
          <a:r>
            <a:rPr lang="el-GR" sz="1400" kern="1200"/>
            <a:t> για να σπρώξει ένα ολόκληρο πακέτο στη γραμμή.</a:t>
          </a:r>
          <a:endParaRPr lang="en-US" sz="1400" kern="1200"/>
        </a:p>
      </dsp:txBody>
      <dsp:txXfrm rot="-5400000">
        <a:off x="3785616" y="3141918"/>
        <a:ext cx="6675221" cy="1012303"/>
      </dsp:txXfrm>
    </dsp:sp>
    <dsp:sp modelId="{DBB92D28-5C5A-451E-B08C-842B1CA6E3DB}">
      <dsp:nvSpPr>
        <dsp:cNvPr id="0" name=""/>
        <dsp:cNvSpPr/>
      </dsp:nvSpPr>
      <dsp:spPr>
        <a:xfrm>
          <a:off x="0" y="2946926"/>
          <a:ext cx="3785616" cy="1402286"/>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51435" rIns="102870" bIns="51435" numCol="1" spcCol="1270" anchor="ctr" anchorCtr="0">
          <a:noAutofit/>
        </a:bodyPr>
        <a:lstStyle/>
        <a:p>
          <a:pPr marL="0" lvl="0" indent="0" algn="ctr" defTabSz="1200150">
            <a:lnSpc>
              <a:spcPct val="90000"/>
            </a:lnSpc>
            <a:spcBef>
              <a:spcPct val="0"/>
            </a:spcBef>
            <a:spcAft>
              <a:spcPct val="35000"/>
            </a:spcAft>
            <a:buNone/>
          </a:pPr>
          <a:r>
            <a:rPr lang="el-GR" sz="2700" b="1" kern="1200"/>
            <a:t>Υπολογίζουμε τον Χρόνο Εξυπηρέτησης (Service Time):</a:t>
          </a:r>
          <a:endParaRPr lang="en-US" sz="2700" kern="1200"/>
        </a:p>
      </dsp:txBody>
      <dsp:txXfrm>
        <a:off x="68454" y="3015380"/>
        <a:ext cx="3648708" cy="126537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0753130-AE30-41EC-B394-F7DC1B4D36ED}">
      <dsp:nvSpPr>
        <dsp:cNvPr id="0" name=""/>
        <dsp:cNvSpPr/>
      </dsp:nvSpPr>
      <dsp:spPr>
        <a:xfrm>
          <a:off x="32"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dirty="0"/>
            <a:t>Δημιουργία Ουράς (Queue):</a:t>
          </a:r>
          <a:endParaRPr lang="en-US" sz="1800" kern="1200" dirty="0"/>
        </a:p>
      </dsp:txBody>
      <dsp:txXfrm>
        <a:off x="32" y="342995"/>
        <a:ext cx="3063216" cy="650941"/>
      </dsp:txXfrm>
    </dsp:sp>
    <dsp:sp modelId="{1400ABC8-4834-4369-A823-93DBC3FB5483}">
      <dsp:nvSpPr>
        <dsp:cNvPr id="0" name=""/>
        <dsp:cNvSpPr/>
      </dsp:nvSpPr>
      <dsp:spPr>
        <a:xfrm>
          <a:off x="32"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kern="1200" dirty="0"/>
            <a:t>Χρησιμοποιήσαμε το simpy.Store για να μοντελοποιήσουμε την ουρά του router.</a:t>
          </a:r>
          <a:br>
            <a:rPr lang="en-US" sz="1800" kern="1200" dirty="0"/>
          </a:br>
          <a:endParaRPr lang="en-US" sz="1800" kern="1200" dirty="0"/>
        </a:p>
        <a:p>
          <a:pPr marL="171450" lvl="1" indent="-171450" algn="l" defTabSz="800100">
            <a:lnSpc>
              <a:spcPct val="90000"/>
            </a:lnSpc>
            <a:spcBef>
              <a:spcPct val="0"/>
            </a:spcBef>
            <a:spcAft>
              <a:spcPct val="15000"/>
            </a:spcAft>
            <a:buChar char="•"/>
          </a:pPr>
          <a:r>
            <a:rPr lang="el-GR" sz="1800" kern="1200"/>
            <a:t>Ορίσαμε </a:t>
          </a:r>
          <a:r>
            <a:rPr lang="el-GR" sz="1800" b="1" kern="1200"/>
            <a:t>περιορισμένο μέγεθος:</a:t>
          </a:r>
          <a:r>
            <a:rPr lang="el-GR" sz="1800" kern="1200"/>
            <a:t> QUEUE_SIZE = 10 πακέτα.</a:t>
          </a:r>
          <a:endParaRPr lang="en-US" sz="1800" kern="1200"/>
        </a:p>
      </dsp:txBody>
      <dsp:txXfrm>
        <a:off x="32" y="993936"/>
        <a:ext cx="3063216" cy="4209114"/>
      </dsp:txXfrm>
    </dsp:sp>
    <dsp:sp modelId="{36ECB3A1-0C4A-4450-8DB7-EDDAD169D94D}">
      <dsp:nvSpPr>
        <dsp:cNvPr id="0" name=""/>
        <dsp:cNvSpPr/>
      </dsp:nvSpPr>
      <dsp:spPr>
        <a:xfrm>
          <a:off x="3492098" y="342995"/>
          <a:ext cx="3063216" cy="650941"/>
        </a:xfrm>
        <a:prstGeom prst="rect">
          <a:avLst/>
        </a:prstGeom>
        <a:solidFill>
          <a:schemeClr val="accent1">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l-GR" sz="1800" b="1" kern="1200"/>
            <a:t>Η Λογική του Router:</a:t>
          </a:r>
          <a:endParaRPr lang="en-US" sz="1800" kern="1200"/>
        </a:p>
      </dsp:txBody>
      <dsp:txXfrm>
        <a:off x="3492098" y="342995"/>
        <a:ext cx="3063216" cy="650941"/>
      </dsp:txXfrm>
    </dsp:sp>
    <dsp:sp modelId="{8F030C2D-433D-4872-B4E3-B88E6256E6B8}">
      <dsp:nvSpPr>
        <dsp:cNvPr id="0" name=""/>
        <dsp:cNvSpPr/>
      </dsp:nvSpPr>
      <dsp:spPr>
        <a:xfrm>
          <a:off x="3492098" y="993936"/>
          <a:ext cx="3063216" cy="4209114"/>
        </a:xfrm>
        <a:prstGeom prst="rect">
          <a:avLst/>
        </a:prstGeom>
        <a:solidFill>
          <a:schemeClr val="accent1">
            <a:alpha val="90000"/>
            <a:tint val="40000"/>
            <a:hueOff val="0"/>
            <a:satOff val="0"/>
            <a:lumOff val="0"/>
            <a:alphaOff val="0"/>
          </a:schemeClr>
        </a:solidFill>
        <a:ln w="1905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l-GR" sz="1800" b="1" kern="1200"/>
            <a:t>Όταν ένα πακέτο φτάνει:</a:t>
          </a:r>
          <a:endParaRPr lang="en-US" sz="1800" kern="1200"/>
        </a:p>
        <a:p>
          <a:pPr marL="342900" lvl="2" indent="-171450" algn="l" defTabSz="800100">
            <a:lnSpc>
              <a:spcPct val="90000"/>
            </a:lnSpc>
            <a:spcBef>
              <a:spcPct val="0"/>
            </a:spcBef>
            <a:spcAft>
              <a:spcPct val="15000"/>
            </a:spcAft>
            <a:buChar char="•"/>
          </a:pPr>
          <a:r>
            <a:rPr lang="el-GR" sz="1800" b="1" kern="1200"/>
            <a:t>Ερώτηση:</a:t>
          </a:r>
          <a:r>
            <a:rPr lang="el-GR" sz="1800" kern="1200"/>
            <a:t> Υπάρχει χώρος στην ουρά;</a:t>
          </a:r>
          <a:endParaRPr lang="en-US" sz="1800" kern="1200"/>
        </a:p>
        <a:p>
          <a:pPr marL="342900" lvl="2" indent="-171450" algn="l" defTabSz="800100">
            <a:lnSpc>
              <a:spcPct val="90000"/>
            </a:lnSpc>
            <a:spcBef>
              <a:spcPct val="0"/>
            </a:spcBef>
            <a:spcAft>
              <a:spcPct val="15000"/>
            </a:spcAft>
            <a:buChar char="•"/>
          </a:pPr>
          <a:r>
            <a:rPr lang="el-GR" sz="1800" b="1" kern="1200"/>
            <a:t>Αν ΝΑΙ:</a:t>
          </a:r>
          <a:r>
            <a:rPr lang="el-GR" sz="1800" kern="1200"/>
            <a:t> Το πακέτο μπαίνει στην ουρά για να περιμένει τη σειρά του.</a:t>
          </a:r>
          <a:endParaRPr lang="en-US" sz="1800" kern="1200"/>
        </a:p>
        <a:p>
          <a:pPr marL="342900" lvl="2" indent="-171450" algn="l" defTabSz="800100">
            <a:lnSpc>
              <a:spcPct val="90000"/>
            </a:lnSpc>
            <a:spcBef>
              <a:spcPct val="0"/>
            </a:spcBef>
            <a:spcAft>
              <a:spcPct val="15000"/>
            </a:spcAft>
            <a:buChar char="•"/>
          </a:pPr>
          <a:r>
            <a:rPr lang="el-GR" sz="1800" b="1" kern="1200"/>
            <a:t>Αν ΟΧΙ:</a:t>
          </a:r>
          <a:r>
            <a:rPr lang="el-GR" sz="1800" kern="1200"/>
            <a:t> Το πακέτο απορρίπτεται (</a:t>
          </a:r>
          <a:r>
            <a:rPr lang="el-GR" sz="1800" b="1" kern="1200"/>
            <a:t>Packet Drop</a:t>
          </a:r>
          <a:r>
            <a:rPr lang="el-GR" sz="1800" kern="1200"/>
            <a:t>) και καταγράφεται.</a:t>
          </a:r>
          <a:endParaRPr lang="en-US" sz="1800" kern="1200"/>
        </a:p>
        <a:p>
          <a:pPr marL="171450" lvl="1" indent="-171450" algn="l" defTabSz="800100">
            <a:lnSpc>
              <a:spcPct val="90000"/>
            </a:lnSpc>
            <a:spcBef>
              <a:spcPct val="0"/>
            </a:spcBef>
            <a:spcAft>
              <a:spcPct val="15000"/>
            </a:spcAft>
            <a:buChar char="•"/>
          </a:pPr>
          <a:r>
            <a:rPr lang="el-GR" sz="1800" b="1" kern="1200"/>
            <a:t>Διαδικασία Αποστολής:</a:t>
          </a:r>
          <a:r>
            <a:rPr lang="el-GR" sz="1800" kern="1200"/>
            <a:t> Ο router αφαιρεί πακέτα από την ουρά (με σειρά First-In-First-Out) και τα στέλνει, προσομοιώνοντας την καθυστέρηση μετάδοσης.</a:t>
          </a:r>
          <a:endParaRPr lang="en-US" sz="1800" kern="1200"/>
        </a:p>
      </dsp:txBody>
      <dsp:txXfrm>
        <a:off x="3492098" y="993936"/>
        <a:ext cx="3063216" cy="42091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A5AB4B-4F92-4C5B-A2B6-662ED39B0F75}">
      <dsp:nvSpPr>
        <dsp:cNvPr id="0" name=""/>
        <dsp:cNvSpPr/>
      </dsp:nvSpPr>
      <dsp:spPr>
        <a:xfrm>
          <a:off x="5130" y="0"/>
          <a:ext cx="10505339" cy="1325563"/>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9070" tIns="89535" rIns="179070" bIns="89535" numCol="1" spcCol="1270" anchor="ctr" anchorCtr="0">
          <a:noAutofit/>
        </a:bodyPr>
        <a:lstStyle/>
        <a:p>
          <a:pPr marL="0" lvl="0" indent="0" algn="ctr" defTabSz="2089150">
            <a:lnSpc>
              <a:spcPct val="90000"/>
            </a:lnSpc>
            <a:spcBef>
              <a:spcPct val="0"/>
            </a:spcBef>
            <a:spcAft>
              <a:spcPct val="35000"/>
            </a:spcAft>
            <a:buNone/>
          </a:pPr>
          <a:r>
            <a:rPr lang="el-GR" sz="4700" b="1" kern="1200" dirty="0"/>
            <a:t>Μέτρηση της  Απόδοσης του Δικτύου</a:t>
          </a:r>
          <a:endParaRPr lang="en-US" sz="4700" kern="1200" dirty="0"/>
        </a:p>
      </dsp:txBody>
      <dsp:txXfrm>
        <a:off x="69839" y="64709"/>
        <a:ext cx="10375921" cy="119614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CC805D7-36B9-4420-B035-C010A0B45C51}">
      <dsp:nvSpPr>
        <dsp:cNvPr id="0" name=""/>
        <dsp:cNvSpPr/>
      </dsp:nvSpPr>
      <dsp:spPr>
        <a:xfrm>
          <a:off x="0" y="252803"/>
          <a:ext cx="10515600" cy="5953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Πόσο χρόνο χρειάστηκε κάθε πακέτο για να φτάσει.</a:t>
          </a:r>
          <a:endParaRPr lang="en-US" sz="1400" kern="1200"/>
        </a:p>
      </dsp:txBody>
      <dsp:txXfrm>
        <a:off x="0" y="252803"/>
        <a:ext cx="10515600" cy="595350"/>
      </dsp:txXfrm>
    </dsp:sp>
    <dsp:sp modelId="{98076C02-92D9-4869-89E9-8EB6B5493D57}">
      <dsp:nvSpPr>
        <dsp:cNvPr id="0" name=""/>
        <dsp:cNvSpPr/>
      </dsp:nvSpPr>
      <dsp:spPr>
        <a:xfrm>
          <a:off x="525780" y="4616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End-to-End Delay (ανά πακέτο):</a:t>
          </a:r>
          <a:endParaRPr lang="en-US" sz="1400" kern="1200"/>
        </a:p>
      </dsp:txBody>
      <dsp:txXfrm>
        <a:off x="545955" y="66338"/>
        <a:ext cx="7320570" cy="372930"/>
      </dsp:txXfrm>
    </dsp:sp>
    <dsp:sp modelId="{C4A55BBD-202E-4016-912C-11F1A128AFA6}">
      <dsp:nvSpPr>
        <dsp:cNvPr id="0" name=""/>
        <dsp:cNvSpPr/>
      </dsp:nvSpPr>
      <dsp:spPr>
        <a:xfrm>
          <a:off x="0" y="113039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Πόσα πακέτα βρίσκονται στην ουρά του router σε κάθε χρονική στιγμή.</a:t>
          </a:r>
          <a:endParaRPr lang="en-US" sz="1400" kern="1200"/>
        </a:p>
        <a:p>
          <a:pPr marL="114300" lvl="1" indent="-114300" algn="l" defTabSz="622300">
            <a:lnSpc>
              <a:spcPct val="90000"/>
            </a:lnSpc>
            <a:spcBef>
              <a:spcPct val="0"/>
            </a:spcBef>
            <a:spcAft>
              <a:spcPct val="15000"/>
            </a:spcAft>
            <a:buChar char="•"/>
          </a:pPr>
          <a:r>
            <a:rPr lang="el-GR" sz="1400" kern="1200"/>
            <a:t>Χρησιμοποιήσαμε μια ξεχωριστή διαδικασία monitor_queue_size για τη δειγματοληψία.</a:t>
          </a:r>
          <a:endParaRPr lang="en-US" sz="1400" kern="1200"/>
        </a:p>
      </dsp:txBody>
      <dsp:txXfrm>
        <a:off x="0" y="1130393"/>
        <a:ext cx="10515600" cy="815850"/>
      </dsp:txXfrm>
    </dsp:sp>
    <dsp:sp modelId="{A290E6E5-C88A-4986-9E7A-23584EEA9F68}">
      <dsp:nvSpPr>
        <dsp:cNvPr id="0" name=""/>
        <dsp:cNvSpPr/>
      </dsp:nvSpPr>
      <dsp:spPr>
        <a:xfrm>
          <a:off x="525780" y="92375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Queue Size (με την πάροδο του χρόνου):</a:t>
          </a:r>
          <a:endParaRPr lang="en-US" sz="1400" kern="1200"/>
        </a:p>
      </dsp:txBody>
      <dsp:txXfrm>
        <a:off x="545955" y="943928"/>
        <a:ext cx="7320570" cy="372930"/>
      </dsp:txXfrm>
    </dsp:sp>
    <dsp:sp modelId="{7B57F37D-A974-47D3-9B50-579A1C12729B}">
      <dsp:nvSpPr>
        <dsp:cNvPr id="0" name=""/>
        <dsp:cNvSpPr/>
      </dsp:nvSpPr>
      <dsp:spPr>
        <a:xfrm>
          <a:off x="0" y="222848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Το ποσοστό των πακέτων που απορρίφθηκαν επειδή η ουρά ήταν γεμάτη.</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(Σύνολο Απορρίψεων / Σύνολο Αποστολών) * 100</a:t>
          </a:r>
          <a:endParaRPr lang="en-US" sz="1400" kern="1200"/>
        </a:p>
      </dsp:txBody>
      <dsp:txXfrm>
        <a:off x="0" y="2228483"/>
        <a:ext cx="10515600" cy="815850"/>
      </dsp:txXfrm>
    </dsp:sp>
    <dsp:sp modelId="{D0D30DD5-655B-426A-B62F-E1D3182EED69}">
      <dsp:nvSpPr>
        <dsp:cNvPr id="0" name=""/>
        <dsp:cNvSpPr/>
      </dsp:nvSpPr>
      <dsp:spPr>
        <a:xfrm>
          <a:off x="525780" y="202184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a:t>Packet Loss Rate (%):</a:t>
          </a:r>
          <a:endParaRPr lang="en-US" sz="1400" kern="1200"/>
        </a:p>
      </dsp:txBody>
      <dsp:txXfrm>
        <a:off x="545955" y="2042018"/>
        <a:ext cx="7320570" cy="372930"/>
      </dsp:txXfrm>
    </dsp:sp>
    <dsp:sp modelId="{BD4E4C64-7F6E-4910-83D7-7E9D8D90A9D4}">
      <dsp:nvSpPr>
        <dsp:cNvPr id="0" name=""/>
        <dsp:cNvSpPr/>
      </dsp:nvSpPr>
      <dsp:spPr>
        <a:xfrm>
          <a:off x="0" y="3326573"/>
          <a:ext cx="10515600" cy="815850"/>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816127" tIns="291592" rIns="816127" bIns="99568" numCol="1" spcCol="1270" anchor="t" anchorCtr="0">
          <a:noAutofit/>
        </a:bodyPr>
        <a:lstStyle/>
        <a:p>
          <a:pPr marL="114300" lvl="1" indent="-114300" algn="l" defTabSz="622300">
            <a:lnSpc>
              <a:spcPct val="90000"/>
            </a:lnSpc>
            <a:spcBef>
              <a:spcPct val="0"/>
            </a:spcBef>
            <a:spcAft>
              <a:spcPct val="15000"/>
            </a:spcAft>
            <a:buChar char="•"/>
          </a:pPr>
          <a:r>
            <a:rPr lang="el-GR" sz="1400" kern="1200"/>
            <a:t>Ο </a:t>
          </a:r>
          <a:r>
            <a:rPr lang="el-GR" sz="1400" b="1" kern="1200"/>
            <a:t>πραγματικός</a:t>
          </a:r>
          <a:r>
            <a:rPr lang="el-GR" sz="1400" kern="1200"/>
            <a:t> ρυθμός δεδομένων που έφτασαν επιτυχώς στον προορισμό.</a:t>
          </a:r>
          <a:endParaRPr lang="en-US" sz="1400" kern="1200"/>
        </a:p>
        <a:p>
          <a:pPr marL="114300" lvl="1" indent="-114300" algn="l" defTabSz="622300">
            <a:lnSpc>
              <a:spcPct val="90000"/>
            </a:lnSpc>
            <a:spcBef>
              <a:spcPct val="0"/>
            </a:spcBef>
            <a:spcAft>
              <a:spcPct val="15000"/>
            </a:spcAft>
            <a:buChar char="•"/>
          </a:pPr>
          <a:r>
            <a:rPr lang="el-GR" sz="1400" b="1" kern="1200"/>
            <a:t>Τύπος:</a:t>
          </a:r>
          <a:r>
            <a:rPr lang="el-GR" sz="1400" kern="1200"/>
            <a:t> (Συνολικά Bits που λήφθηκαν) / (Συνολικός Χρόνος)</a:t>
          </a:r>
          <a:endParaRPr lang="en-US" sz="1400" kern="1200"/>
        </a:p>
      </dsp:txBody>
      <dsp:txXfrm>
        <a:off x="0" y="3326573"/>
        <a:ext cx="10515600" cy="815850"/>
      </dsp:txXfrm>
    </dsp:sp>
    <dsp:sp modelId="{F1EB2861-F0AC-4A7F-B732-D4F9C9A4D1D2}">
      <dsp:nvSpPr>
        <dsp:cNvPr id="0" name=""/>
        <dsp:cNvSpPr/>
      </dsp:nvSpPr>
      <dsp:spPr>
        <a:xfrm>
          <a:off x="525780" y="3119933"/>
          <a:ext cx="7360920" cy="413280"/>
        </a:xfrm>
        <a:prstGeom prst="round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622300">
            <a:lnSpc>
              <a:spcPct val="90000"/>
            </a:lnSpc>
            <a:spcBef>
              <a:spcPct val="0"/>
            </a:spcBef>
            <a:spcAft>
              <a:spcPct val="35000"/>
            </a:spcAft>
            <a:buNone/>
          </a:pPr>
          <a:r>
            <a:rPr lang="el-GR" sz="1400" b="1" kern="1200" dirty="0"/>
            <a:t>Throughput (Mbps):</a:t>
          </a:r>
          <a:endParaRPr lang="en-US" sz="1400" kern="1200" dirty="0"/>
        </a:p>
      </dsp:txBody>
      <dsp:txXfrm>
        <a:off x="545955" y="3140108"/>
        <a:ext cx="7320570" cy="37293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D9EA15-F1DD-47AD-BFC2-4F44951CE4F2}">
      <dsp:nvSpPr>
        <dsp:cNvPr id="0" name=""/>
        <dsp:cNvSpPr/>
      </dsp:nvSpPr>
      <dsp:spPr>
        <a:xfrm>
          <a:off x="0" y="300113"/>
          <a:ext cx="10515600" cy="17640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Προσθέτουμε πολυπλοκότητα: Από γραμμική αλυσίδα σε δομή "Y".</a:t>
          </a:r>
          <a:endParaRPr lang="en-US" sz="1600" kern="1200"/>
        </a:p>
        <a:p>
          <a:pPr marL="171450" lvl="1" indent="-171450" algn="l" defTabSz="711200">
            <a:lnSpc>
              <a:spcPct val="90000"/>
            </a:lnSpc>
            <a:spcBef>
              <a:spcPct val="0"/>
            </a:spcBef>
            <a:spcAft>
              <a:spcPct val="15000"/>
            </a:spcAft>
            <a:buChar char="•"/>
          </a:pPr>
          <a:r>
            <a:rPr lang="el-GR" sz="1600" b="1" kern="1200"/>
            <a:t>3 Hosts:</a:t>
          </a:r>
          <a:r>
            <a:rPr lang="el-GR" sz="1600" kern="1200"/>
            <a:t> Δύο Πηγές (Host A &amp; Host B) + Ένας Προορισμός.</a:t>
          </a:r>
          <a:endParaRPr lang="en-US" sz="1600" kern="1200"/>
        </a:p>
        <a:p>
          <a:pPr marL="171450" lvl="1" indent="-171450" algn="l" defTabSz="711200">
            <a:lnSpc>
              <a:spcPct val="90000"/>
            </a:lnSpc>
            <a:spcBef>
              <a:spcPct val="0"/>
            </a:spcBef>
            <a:spcAft>
              <a:spcPct val="15000"/>
            </a:spcAft>
            <a:buChar char="•"/>
          </a:pPr>
          <a:r>
            <a:rPr lang="el-GR" sz="1600" b="1" kern="1200"/>
            <a:t>2 Routers:</a:t>
          </a:r>
          <a:endParaRPr lang="en-US" sz="1600" kern="1200"/>
        </a:p>
        <a:p>
          <a:pPr marL="342900" lvl="2" indent="-171450" algn="l" defTabSz="711200">
            <a:lnSpc>
              <a:spcPct val="90000"/>
            </a:lnSpc>
            <a:spcBef>
              <a:spcPct val="0"/>
            </a:spcBef>
            <a:spcAft>
              <a:spcPct val="15000"/>
            </a:spcAft>
            <a:buChar char="•"/>
          </a:pPr>
          <a:r>
            <a:rPr lang="el-GR" sz="1600" b="1" kern="1200"/>
            <a:t>Router 1 (Aggregator):</a:t>
          </a:r>
          <a:r>
            <a:rPr lang="el-GR" sz="1600" kern="1200"/>
            <a:t> Συγχωνεύει την κίνηση των πηγών.</a:t>
          </a:r>
          <a:endParaRPr lang="en-US" sz="1600" kern="1200"/>
        </a:p>
        <a:p>
          <a:pPr marL="342900" lvl="2" indent="-171450" algn="l" defTabSz="711200">
            <a:lnSpc>
              <a:spcPct val="90000"/>
            </a:lnSpc>
            <a:spcBef>
              <a:spcPct val="0"/>
            </a:spcBef>
            <a:spcAft>
              <a:spcPct val="15000"/>
            </a:spcAft>
            <a:buChar char="•"/>
          </a:pPr>
          <a:r>
            <a:rPr lang="el-GR" sz="1600" b="1" kern="1200"/>
            <a:t>Router 2 (Backbone):</a:t>
          </a:r>
          <a:r>
            <a:rPr lang="el-GR" sz="1600" kern="1200"/>
            <a:t> Μεταφέρει την κίνηση στον προορισμό.</a:t>
          </a:r>
          <a:endParaRPr lang="en-US" sz="1600" kern="1200"/>
        </a:p>
      </dsp:txBody>
      <dsp:txXfrm>
        <a:off x="0" y="300113"/>
        <a:ext cx="10515600" cy="1764000"/>
      </dsp:txXfrm>
    </dsp:sp>
    <dsp:sp modelId="{66186752-D304-4F93-BAFE-25D85E9C4092}">
      <dsp:nvSpPr>
        <dsp:cNvPr id="0" name=""/>
        <dsp:cNvSpPr/>
      </dsp:nvSpPr>
      <dsp:spPr>
        <a:xfrm>
          <a:off x="525780" y="6395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Νέα Τοπολογία:</a:t>
          </a:r>
          <a:endParaRPr lang="en-US" sz="1600" kern="1200"/>
        </a:p>
      </dsp:txBody>
      <dsp:txXfrm>
        <a:off x="548837" y="87010"/>
        <a:ext cx="7314806" cy="426206"/>
      </dsp:txXfrm>
    </dsp:sp>
    <dsp:sp modelId="{CA36117A-5607-4F93-B4E1-64316CD57DB6}">
      <dsp:nvSpPr>
        <dsp:cNvPr id="0" name=""/>
        <dsp:cNvSpPr/>
      </dsp:nvSpPr>
      <dsp:spPr>
        <a:xfrm>
          <a:off x="0" y="2386673"/>
          <a:ext cx="10515600" cy="93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lang="el-GR" sz="1600" kern="1200"/>
            <a:t>Διπλασιασμός κίνησης εισόδου: </a:t>
          </a:r>
          <a:r>
            <a:rPr lang="el-GR" sz="1600" b="1" kern="1200"/>
            <a:t>400 pkts/s</a:t>
          </a:r>
          <a:r>
            <a:rPr lang="el-GR" sz="1600" kern="1200"/>
            <a:t> (200+200).</a:t>
          </a:r>
          <a:endParaRPr lang="en-US" sz="1600" kern="1200"/>
        </a:p>
        <a:p>
          <a:pPr marL="171450" lvl="1" indent="-171450" algn="l" defTabSz="711200">
            <a:lnSpc>
              <a:spcPct val="90000"/>
            </a:lnSpc>
            <a:spcBef>
              <a:spcPct val="0"/>
            </a:spcBef>
            <a:spcAft>
              <a:spcPct val="15000"/>
            </a:spcAft>
            <a:buChar char="•"/>
          </a:pPr>
          <a:r>
            <a:rPr lang="el-GR" sz="1600" kern="1200"/>
            <a:t>Το Bandwidth παραμένει αρχικά στο </a:t>
          </a:r>
          <a:r>
            <a:rPr lang="el-GR" sz="1600" b="1" kern="1200"/>
            <a:t>1 Mbps</a:t>
          </a:r>
          <a:r>
            <a:rPr lang="el-GR" sz="1600" kern="1200"/>
            <a:t>.</a:t>
          </a:r>
          <a:endParaRPr lang="en-US" sz="1600" kern="1200"/>
        </a:p>
      </dsp:txBody>
      <dsp:txXfrm>
        <a:off x="0" y="2386673"/>
        <a:ext cx="10515600" cy="932400"/>
      </dsp:txXfrm>
    </dsp:sp>
    <dsp:sp modelId="{CBCE80AA-8C09-494B-BF77-E6794A08D8CF}">
      <dsp:nvSpPr>
        <dsp:cNvPr id="0" name=""/>
        <dsp:cNvSpPr/>
      </dsp:nvSpPr>
      <dsp:spPr>
        <a:xfrm>
          <a:off x="525780" y="2150513"/>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el-GR" sz="1600" b="1" kern="1200"/>
            <a:t>Η Πρόκληση:</a:t>
          </a:r>
          <a:endParaRPr lang="en-US" sz="1600" kern="1200"/>
        </a:p>
      </dsp:txBody>
      <dsp:txXfrm>
        <a:off x="548837" y="2173570"/>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32137C-021D-4A9D-A859-D245201B58F6}" type="datetimeFigureOut">
              <a:rPr lang="en-US" smtClean="0"/>
              <a:t>11/23/2025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D9DC48-A198-457F-ABAC-AE902410F194}" type="slidenum">
              <a:rPr lang="en-US" smtClean="0"/>
              <a:t>‹#›</a:t>
            </a:fld>
            <a:endParaRPr lang="en-US"/>
          </a:p>
        </p:txBody>
      </p:sp>
    </p:spTree>
    <p:extLst>
      <p:ext uri="{BB962C8B-B14F-4D97-AF65-F5344CB8AC3E}">
        <p14:creationId xmlns:p14="http://schemas.microsoft.com/office/powerpoint/2010/main" val="14425065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49930-D240-3F76-6ACB-D73CB5270FB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A3F263B-4DCB-E1F8-EEB5-25EC77A736B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0610E4B-E913-153A-C91D-14ED4FA53CEB}"/>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EAF27815-7C5C-D483-D7F8-ADE937A3E9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F462BEF-87B2-4388-60EE-420B02F559E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4335984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DC640-2D88-C12A-9E19-2A84991D222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93187C6-EC13-8020-DBFC-009DAE13C35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1E6F57-DBE6-3B08-0DF2-010D23F809BE}"/>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9C85A890-BC91-A478-40E2-AB3A78A2E3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00B7F0-B1AD-0C62-E73C-951A3CD1D26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786662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3E5AFD-874D-EF9A-CA23-8880346C45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2285E73-29A4-0D36-FA10-ECAAC89FBC9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74CBB0D-FEA0-4394-A84B-68034D7EF5B1}"/>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78D100FD-5905-A8F0-EDA3-6D56AA14B2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96D7D24-8706-FB4C-CFA0-4C105A5CBFEB}"/>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2326687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5C38DC-AEEB-FD0C-7685-A70811333D1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3953713-8873-518A-0B1C-23D343C4693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C86D314-5323-2DBE-4B8A-A8F8C3896EE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F56853-66B2-AF62-430D-74A3546B5179}"/>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6" name="Footer Placeholder 5">
            <a:extLst>
              <a:ext uri="{FF2B5EF4-FFF2-40B4-BE49-F238E27FC236}">
                <a16:creationId xmlns:a16="http://schemas.microsoft.com/office/drawing/2014/main" id="{1E09B670-A49E-9042-8A9D-58E282B3E29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D07C2-8F8C-FA5F-B3C8-1A12BD6EED6A}"/>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7713699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786F3E-6FCB-0798-FEDA-0D93AA7DEC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1374DE7-0890-137D-1BCB-4AE4227CD3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04F7D20-D347-11E8-325A-832A39941F2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37423A04-7075-F641-2524-4ABFDA8F81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F8E0A21-1A33-79CD-985B-1E316001484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C49218C-CDE7-3445-3C66-AFE4B09C3922}"/>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8" name="Footer Placeholder 7">
            <a:extLst>
              <a:ext uri="{FF2B5EF4-FFF2-40B4-BE49-F238E27FC236}">
                <a16:creationId xmlns:a16="http://schemas.microsoft.com/office/drawing/2014/main" id="{611518F0-6269-CAAA-85B9-1E482AD27401}"/>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4EF6AD2-2A08-A408-61BD-4ADBEBA4FBC7}"/>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9413014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533DC-6334-9B25-228A-159CAEDFACA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2BAD17-88EB-459A-6FFF-1D475511EC80}"/>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4" name="Footer Placeholder 3">
            <a:extLst>
              <a:ext uri="{FF2B5EF4-FFF2-40B4-BE49-F238E27FC236}">
                <a16:creationId xmlns:a16="http://schemas.microsoft.com/office/drawing/2014/main" id="{7B659942-92C1-69B6-AAF4-862E4DE037F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D443B21-002A-539B-7694-259099759609}"/>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37566073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80A816D-9227-E44A-65B2-0E3BD301ABF9}"/>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3" name="Footer Placeholder 2">
            <a:extLst>
              <a:ext uri="{FF2B5EF4-FFF2-40B4-BE49-F238E27FC236}">
                <a16:creationId xmlns:a16="http://schemas.microsoft.com/office/drawing/2014/main" id="{93232C6C-BEAD-5F49-798F-D9A2E853C2A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14BF8FF-FB8A-64CC-E0DA-14F68F9045C2}"/>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80390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479E3C-CCC5-D7CE-BDEC-6E8EEF07A18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FAEB43D-A860-893C-9131-25E7972AEE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1B55402-C38E-484A-2E21-567B06A5AA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7B179A-E402-39F3-D7C0-2CDE97831D26}"/>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6" name="Footer Placeholder 5">
            <a:extLst>
              <a:ext uri="{FF2B5EF4-FFF2-40B4-BE49-F238E27FC236}">
                <a16:creationId xmlns:a16="http://schemas.microsoft.com/office/drawing/2014/main" id="{F25193D0-C768-A35E-DEC9-D7F7FC1ABF6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DC7553C-949C-0FC5-73E9-5E20A9B25E0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593906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455AB2-CF2A-5C33-71A5-C771568DA73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452690A-80E9-9728-B739-A89966373C0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98FCC7C-99C2-0061-1609-329313390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8D2D138-993A-6CAC-E95D-6BE2689A77D4}"/>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6" name="Footer Placeholder 5">
            <a:extLst>
              <a:ext uri="{FF2B5EF4-FFF2-40B4-BE49-F238E27FC236}">
                <a16:creationId xmlns:a16="http://schemas.microsoft.com/office/drawing/2014/main" id="{FB94B8B7-11D1-A137-4EA2-59FB7E1723D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C9CA397-BABE-AC6A-1D82-64E97D622A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27174850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CAC6DF-446C-672F-CDA0-EF9904B4AE3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D6C6D5-3398-A327-BB13-413A74C43C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3DB8AB-9186-B9B9-2989-132E0A8CC237}"/>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145195D0-6E9F-D27A-B619-C8F68F0F3E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FCD565-A1DD-FCDB-2905-CB89E11FD161}"/>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166459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8962030-CBD3-CDBC-4469-445262FB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7B23D1-5BF1-E6C5-601B-B3CA878FBE9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89A5A9-D1AB-24FF-3ED6-892EB1B71CEF}"/>
              </a:ext>
            </a:extLst>
          </p:cNvPr>
          <p:cNvSpPr>
            <a:spLocks noGrp="1"/>
          </p:cNvSpPr>
          <p:nvPr>
            <p:ph type="dt" sz="half" idx="10"/>
          </p:nvPr>
        </p:nvSpPr>
        <p:spPr/>
        <p:txBody>
          <a:body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DE5C6032-E4D1-AC09-A06A-1046301ECE8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23D3C99-A5AF-2C23-AFF6-A04CD1626836}"/>
              </a:ext>
            </a:extLst>
          </p:cNvPr>
          <p:cNvSpPr>
            <a:spLocks noGrp="1"/>
          </p:cNvSpPr>
          <p:nvPr>
            <p:ph type="sldNum" sz="quarter" idx="12"/>
          </p:nvPr>
        </p:nvSpPr>
        <p:spPr/>
        <p:txBody>
          <a:bodyPr/>
          <a:lstStyle/>
          <a:p>
            <a:fld id="{3CFDFA16-D16A-4331-9C77-BB24E985857E}" type="slidenum">
              <a:rPr lang="en-US" smtClean="0"/>
              <a:t>‹#›</a:t>
            </a:fld>
            <a:endParaRPr lang="en-US"/>
          </a:p>
        </p:txBody>
      </p:sp>
    </p:spTree>
    <p:extLst>
      <p:ext uri="{BB962C8B-B14F-4D97-AF65-F5344CB8AC3E}">
        <p14:creationId xmlns:p14="http://schemas.microsoft.com/office/powerpoint/2010/main" val="7032177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8AB1E1B-BBD1-BB6F-50BE-70551847B62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48D423-CB82-4401-0C1C-D111C868545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18A0F0-B336-7487-49C9-44C168B50D8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62F6855-2B44-4D26-9C54-0F94AD6A38AE}" type="datetimeFigureOut">
              <a:rPr lang="en-US" smtClean="0"/>
              <a:t>11/23/2025</a:t>
            </a:fld>
            <a:endParaRPr lang="en-US"/>
          </a:p>
        </p:txBody>
      </p:sp>
      <p:sp>
        <p:nvSpPr>
          <p:cNvPr id="5" name="Footer Placeholder 4">
            <a:extLst>
              <a:ext uri="{FF2B5EF4-FFF2-40B4-BE49-F238E27FC236}">
                <a16:creationId xmlns:a16="http://schemas.microsoft.com/office/drawing/2014/main" id="{CFBE1030-CA92-5CB9-9500-868B74B4E4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74BC77F3-6DED-B9F8-3C85-E77B5B56B81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CFDFA16-D16A-4331-9C77-BB24E985857E}" type="slidenum">
              <a:rPr lang="en-US" smtClean="0"/>
              <a:t>‹#›</a:t>
            </a:fld>
            <a:endParaRPr lang="en-US"/>
          </a:p>
        </p:txBody>
      </p:sp>
    </p:spTree>
    <p:extLst>
      <p:ext uri="{BB962C8B-B14F-4D97-AF65-F5344CB8AC3E}">
        <p14:creationId xmlns:p14="http://schemas.microsoft.com/office/powerpoint/2010/main" val="11670970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image" Target="../media/image1.jpeg"/><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6F5A5072-7B47-4D32-B52A-4EBBF590B8A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715DAF0-AE1B-46C9-8A6B-DB2AA05AB9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2" y="-22693"/>
            <a:ext cx="12191999" cy="4374129"/>
          </a:xfrm>
          <a:prstGeom prst="rect">
            <a:avLst/>
          </a:prstGeom>
          <a:gradFill>
            <a:gsLst>
              <a:gs pos="0">
                <a:schemeClr val="accent1">
                  <a:lumMod val="75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016219D-510E-4184-9090-6D5578A87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908719" y="-3931841"/>
            <a:ext cx="4374557" cy="12192000"/>
          </a:xfrm>
          <a:prstGeom prst="rect">
            <a:avLst/>
          </a:prstGeom>
          <a:gradFill>
            <a:gsLst>
              <a:gs pos="40000">
                <a:schemeClr val="accent1">
                  <a:alpha val="0"/>
                </a:schemeClr>
              </a:gs>
              <a:gs pos="100000">
                <a:schemeClr val="accent1">
                  <a:lumMod val="75000"/>
                  <a:alpha val="52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4A713-7B75-4B21-90D7-5AB19547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136696" y="-3703868"/>
            <a:ext cx="4374128" cy="11736479"/>
          </a:xfrm>
          <a:prstGeom prst="rect">
            <a:avLst/>
          </a:prstGeom>
          <a:gradFill>
            <a:gsLst>
              <a:gs pos="17000">
                <a:schemeClr val="accent1">
                  <a:alpha val="0"/>
                </a:schemeClr>
              </a:gs>
              <a:gs pos="100000">
                <a:srgbClr val="000000">
                  <a:alpha val="37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C631C0B-6DA6-4E57-8231-CE32B3434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 y="-22690"/>
            <a:ext cx="8542485" cy="4374126"/>
          </a:xfrm>
          <a:prstGeom prst="rect">
            <a:avLst/>
          </a:prstGeom>
          <a:gradFill>
            <a:gsLst>
              <a:gs pos="0">
                <a:schemeClr val="accent1">
                  <a:lumMod val="50000"/>
                  <a:alpha val="0"/>
                </a:schemeClr>
              </a:gs>
              <a:gs pos="100000">
                <a:srgbClr val="000000">
                  <a:alpha val="25000"/>
                </a:srgb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C29501E6-A978-4A61-9689-9085AF97A5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2508972">
            <a:off x="5945431" y="-1032053"/>
            <a:ext cx="4990147" cy="4439131"/>
          </a:xfrm>
          <a:custGeom>
            <a:avLst/>
            <a:gdLst>
              <a:gd name="connsiteX0" fmla="*/ 4990147 w 4990147"/>
              <a:gd name="connsiteY0" fmla="*/ 2229378 h 4439131"/>
              <a:gd name="connsiteX1" fmla="*/ 917384 w 4990147"/>
              <a:gd name="connsiteY1" fmla="*/ 4439131 h 4439131"/>
              <a:gd name="connsiteX2" fmla="*/ 910814 w 4990147"/>
              <a:gd name="connsiteY2" fmla="*/ 4434219 h 4439131"/>
              <a:gd name="connsiteX3" fmla="*/ 0 w 4990147"/>
              <a:gd name="connsiteY3" fmla="*/ 2502877 h 4439131"/>
              <a:gd name="connsiteX4" fmla="*/ 2502877 w 4990147"/>
              <a:gd name="connsiteY4" fmla="*/ 0 h 4439131"/>
              <a:gd name="connsiteX5" fmla="*/ 4954904 w 4990147"/>
              <a:gd name="connsiteY5" fmla="*/ 1998460 h 4439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a:gsLst>
              <a:gs pos="0">
                <a:schemeClr val="accent1">
                  <a:alpha val="22000"/>
                </a:schemeClr>
              </a:gs>
              <a:gs pos="87000">
                <a:schemeClr val="accent1">
                  <a:lumMod val="60000"/>
                  <a:lumOff val="40000"/>
                  <a:alpha val="2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D2A40346-F9F3-06C2-E617-FD9EEA083FE1}"/>
              </a:ext>
            </a:extLst>
          </p:cNvPr>
          <p:cNvSpPr>
            <a:spLocks noGrp="1"/>
          </p:cNvSpPr>
          <p:nvPr>
            <p:ph type="ctrTitle"/>
          </p:nvPr>
        </p:nvSpPr>
        <p:spPr>
          <a:xfrm>
            <a:off x="1314824" y="735106"/>
            <a:ext cx="10053763" cy="2928470"/>
          </a:xfrm>
        </p:spPr>
        <p:txBody>
          <a:bodyPr anchor="b">
            <a:normAutofit/>
          </a:bodyPr>
          <a:lstStyle/>
          <a:p>
            <a:r>
              <a:rPr lang="el-GR" sz="4800" b="1" dirty="0">
                <a:solidFill>
                  <a:srgbClr val="FFFFFF"/>
                </a:solidFill>
              </a:rPr>
              <a:t>Εργασία 13:</a:t>
            </a:r>
            <a:br>
              <a:rPr lang="el-GR" sz="4800" b="1" dirty="0">
                <a:solidFill>
                  <a:srgbClr val="FFFFFF"/>
                </a:solidFill>
              </a:rPr>
            </a:br>
            <a:r>
              <a:rPr lang="el-GR" sz="4800" b="1" dirty="0">
                <a:solidFill>
                  <a:srgbClr val="FFFFFF"/>
                </a:solidFill>
              </a:rPr>
              <a:t>Προσομοίωση &amp; Ανάλυση Απόδοσης Δικτύου με Python &amp; SimPy</a:t>
            </a:r>
            <a:endParaRPr lang="en-US" sz="4800" dirty="0">
              <a:solidFill>
                <a:srgbClr val="FFFFFF"/>
              </a:solidFill>
            </a:endParaRPr>
          </a:p>
        </p:txBody>
      </p:sp>
      <p:sp>
        <p:nvSpPr>
          <p:cNvPr id="3" name="Subtitle 2">
            <a:extLst>
              <a:ext uri="{FF2B5EF4-FFF2-40B4-BE49-F238E27FC236}">
                <a16:creationId xmlns:a16="http://schemas.microsoft.com/office/drawing/2014/main" id="{21038950-29F4-D7C7-295E-E48B37ED82DC}"/>
              </a:ext>
            </a:extLst>
          </p:cNvPr>
          <p:cNvSpPr>
            <a:spLocks noGrp="1"/>
          </p:cNvSpPr>
          <p:nvPr>
            <p:ph type="subTitle" idx="1"/>
          </p:nvPr>
        </p:nvSpPr>
        <p:spPr>
          <a:xfrm>
            <a:off x="1350682" y="4870824"/>
            <a:ext cx="10005951" cy="1458258"/>
          </a:xfrm>
        </p:spPr>
        <p:txBody>
          <a:bodyPr anchor="ctr">
            <a:noAutofit/>
          </a:bodyPr>
          <a:lstStyle/>
          <a:p>
            <a:pPr algn="l"/>
            <a:br>
              <a:rPr lang="en-US" sz="2800" b="1" dirty="0"/>
            </a:br>
            <a:br>
              <a:rPr lang="en-US" sz="2800" b="1" dirty="0"/>
            </a:br>
            <a:r>
              <a:rPr lang="el-GR" sz="2800" b="1" dirty="0"/>
              <a:t>Συνεργάτες:</a:t>
            </a:r>
            <a:br>
              <a:rPr lang="el-GR" sz="2800" b="1" dirty="0"/>
            </a:br>
            <a:r>
              <a:rPr lang="el-GR" sz="2800" b="1" dirty="0"/>
              <a:t>Αλέξανδρος Χαλαμπάκης</a:t>
            </a:r>
            <a:br>
              <a:rPr lang="el-GR" sz="2800" b="1" dirty="0"/>
            </a:br>
            <a:r>
              <a:rPr lang="el-GR" sz="2800" b="1" dirty="0"/>
              <a:t>Παναγιώτης Παπανικολάου</a:t>
            </a:r>
            <a:endParaRPr lang="en-US" sz="2800" b="1" dirty="0"/>
          </a:p>
        </p:txBody>
      </p:sp>
      <p:sp>
        <p:nvSpPr>
          <p:cNvPr id="4" name="TextBox 3">
            <a:extLst>
              <a:ext uri="{FF2B5EF4-FFF2-40B4-BE49-F238E27FC236}">
                <a16:creationId xmlns:a16="http://schemas.microsoft.com/office/drawing/2014/main" id="{D86C1786-7919-A128-1834-B7E337DEB099}"/>
              </a:ext>
            </a:extLst>
          </p:cNvPr>
          <p:cNvSpPr txBox="1"/>
          <p:nvPr/>
        </p:nvSpPr>
        <p:spPr>
          <a:xfrm>
            <a:off x="3060189" y="4443979"/>
            <a:ext cx="6071616" cy="830997"/>
          </a:xfrm>
          <a:prstGeom prst="rect">
            <a:avLst/>
          </a:pr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p:spPr>
        <p:txBody>
          <a:bodyPr wrap="square" rtlCol="0">
            <a:spAutoFit/>
          </a:bodyPr>
          <a:lstStyle/>
          <a:p>
            <a:r>
              <a:rPr lang="el-GR" sz="2400" b="1" dirty="0"/>
              <a:t>Μελέτη Συμφόρησης, Καθυστερήσεων και Επίδρασης Bandwidth</a:t>
            </a:r>
            <a:endParaRPr lang="en-US" sz="2400" b="1" dirty="0"/>
          </a:p>
        </p:txBody>
      </p:sp>
    </p:spTree>
    <p:extLst>
      <p:ext uri="{BB962C8B-B14F-4D97-AF65-F5344CB8AC3E}">
        <p14:creationId xmlns:p14="http://schemas.microsoft.com/office/powerpoint/2010/main" val="118422229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FBD2EEC-E24F-9F2F-0A20-F0677DFD0555}"/>
              </a:ext>
            </a:extLst>
          </p:cNvPr>
          <p:cNvSpPr>
            <a:spLocks noGrp="1"/>
          </p:cNvSpPr>
          <p:nvPr>
            <p:ph type="title"/>
          </p:nvPr>
        </p:nvSpPr>
        <p:spPr>
          <a:xfrm>
            <a:off x="826396" y="586855"/>
            <a:ext cx="4230100" cy="3387497"/>
          </a:xfrm>
        </p:spPr>
        <p:txBody>
          <a:bodyPr anchor="b">
            <a:normAutofit/>
          </a:bodyPr>
          <a:lstStyle/>
          <a:p>
            <a:pPr algn="ctr"/>
            <a:r>
              <a:rPr lang="el-GR" sz="4000" b="1" dirty="0">
                <a:solidFill>
                  <a:srgbClr val="FFFFFF"/>
                </a:solidFill>
              </a:rPr>
              <a:t>Το Πρόβλημα και τα Εργαλεία μας</a:t>
            </a:r>
            <a:br>
              <a:rPr lang="el-GR" sz="4000" b="1" dirty="0">
                <a:solidFill>
                  <a:srgbClr val="FFFFFF"/>
                </a:solidFill>
              </a:rPr>
            </a:br>
            <a:endParaRPr lang="en-US" sz="4000" dirty="0">
              <a:solidFill>
                <a:srgbClr val="FFFFFF"/>
              </a:solidFill>
            </a:endParaRPr>
          </a:p>
        </p:txBody>
      </p:sp>
      <p:sp>
        <p:nvSpPr>
          <p:cNvPr id="3" name="Content Placeholder 2">
            <a:extLst>
              <a:ext uri="{FF2B5EF4-FFF2-40B4-BE49-F238E27FC236}">
                <a16:creationId xmlns:a16="http://schemas.microsoft.com/office/drawing/2014/main" id="{7C110CAD-5DE6-311F-D869-3CD41D5F63D6}"/>
              </a:ext>
            </a:extLst>
          </p:cNvPr>
          <p:cNvSpPr>
            <a:spLocks noGrp="1"/>
          </p:cNvSpPr>
          <p:nvPr>
            <p:ph idx="1"/>
          </p:nvPr>
        </p:nvSpPr>
        <p:spPr>
          <a:xfrm>
            <a:off x="6503158" y="649480"/>
            <a:ext cx="4862447" cy="5546047"/>
          </a:xfrm>
        </p:spPr>
        <p:txBody>
          <a:bodyPr anchor="ctr">
            <a:normAutofit/>
          </a:bodyPr>
          <a:lstStyle/>
          <a:p>
            <a:r>
              <a:rPr lang="el-GR" sz="1400" b="1" dirty="0"/>
              <a:t>Γιατί κάνουμε αυτή την Προσομοίωση;</a:t>
            </a:r>
            <a:endParaRPr lang="el-GR" sz="1400" dirty="0"/>
          </a:p>
          <a:p>
            <a:r>
              <a:rPr lang="el-GR" sz="1400" dirty="0"/>
              <a:t>Για να μελετήσουμε τη συμπεριφορά ενός δικτύου κάτω από συνθήκες  συμφόρησης σε ένα ελεγχόμενο, εικονικό περιβάλλον, χωρίς να επηρεάζουμε ένα πραγματικό δίκτυο.</a:t>
            </a:r>
          </a:p>
          <a:p>
            <a:r>
              <a:rPr lang="el-GR" sz="1400" b="1" dirty="0"/>
              <a:t>Το Εργαλείο μας: SimPy</a:t>
            </a:r>
            <a:endParaRPr lang="el-GR" sz="1400" dirty="0"/>
          </a:p>
          <a:p>
            <a:r>
              <a:rPr lang="el-GR" sz="1400" dirty="0"/>
              <a:t>Δεν είναι μια απλή βιβλιοθήκη, αλλά ένα framework για </a:t>
            </a:r>
            <a:r>
              <a:rPr lang="el-GR" sz="1400" b="1" dirty="0"/>
              <a:t>προσομοίωση διακριτών γεγονότων </a:t>
            </a:r>
            <a:r>
              <a:rPr lang="el-GR" sz="1400" dirty="0"/>
              <a:t>.</a:t>
            </a:r>
          </a:p>
          <a:p>
            <a:r>
              <a:rPr lang="el-GR" sz="1400" dirty="0"/>
              <a:t>Αυτό σημαίνει ότι ο χρόνος δεν κυλά συνεχόμενα, αλλά "πηδάει" από το ένα σημαντικό γεγονός στο επόμενο (π.χ., από τη δημιουργία ενός πακέτου στην άφιξή του στον router). Αυτό κάνει την προσομοίωση εξαιρετικά γρήγορη και αποδοτική.</a:t>
            </a:r>
          </a:p>
          <a:p>
            <a:r>
              <a:rPr lang="el-GR" sz="1400" b="1" dirty="0"/>
              <a:t>Η Τοπολογία του Δικτύου μας:</a:t>
            </a:r>
            <a:endParaRPr lang="el-GR" sz="1400" dirty="0"/>
          </a:p>
          <a:p>
            <a:r>
              <a:rPr lang="el-GR" sz="1400" b="1" dirty="0"/>
              <a:t>Source Host (Ο Αποστολέας):</a:t>
            </a:r>
            <a:r>
              <a:rPr lang="el-GR" sz="1400" dirty="0"/>
              <a:t> Δημιουργεί και στέλνει δεδομένα.</a:t>
            </a:r>
          </a:p>
          <a:p>
            <a:r>
              <a:rPr lang="el-GR" sz="1400" b="1" dirty="0"/>
              <a:t>Router</a:t>
            </a:r>
            <a:r>
              <a:rPr lang="en-US" sz="1400" b="1" dirty="0"/>
              <a:t>: </a:t>
            </a:r>
            <a:r>
              <a:rPr lang="el-GR" sz="1400" dirty="0"/>
              <a:t>Λαμβάνει πακέτα, τα βάζει σε μια ουρά και τα προωθεί προς τον προορισμό. Είναι το κεντρικό σημείο ελέγχου και το πιθανό σημείο συμφόρησης.</a:t>
            </a:r>
          </a:p>
          <a:p>
            <a:r>
              <a:rPr lang="el-GR" sz="1400" b="1" dirty="0"/>
              <a:t>Destination Host (Ο Παραλήπτης):</a:t>
            </a:r>
            <a:r>
              <a:rPr lang="el-GR" sz="1400" dirty="0"/>
              <a:t> Λαμβάνει τα δεδομένα.</a:t>
            </a:r>
          </a:p>
          <a:p>
            <a:pPr marL="0" indent="0">
              <a:buNone/>
            </a:pPr>
            <a:endParaRPr lang="en-US" sz="1400" dirty="0"/>
          </a:p>
        </p:txBody>
      </p:sp>
    </p:spTree>
    <p:extLst>
      <p:ext uri="{BB962C8B-B14F-4D97-AF65-F5344CB8AC3E}">
        <p14:creationId xmlns:p14="http://schemas.microsoft.com/office/powerpoint/2010/main" val="21095532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6A3E1-6CEC-0B57-9022-68D06F490168}"/>
              </a:ext>
            </a:extLst>
          </p:cNvPr>
          <p:cNvSpPr>
            <a:spLocks noGrp="1"/>
          </p:cNvSpPr>
          <p:nvPr>
            <p:ph type="title"/>
          </p:nvPr>
        </p:nvSpPr>
        <p:spPr/>
        <p:txBody>
          <a:bodyPr/>
          <a:lstStyle/>
          <a:p>
            <a:r>
              <a:rPr lang="el-GR" b="1" dirty="0"/>
              <a:t>Οι Ιδιότητες του Δικτύου &amp; της Κίνησης</a:t>
            </a:r>
            <a:endParaRPr lang="en-US" dirty="0"/>
          </a:p>
        </p:txBody>
      </p:sp>
      <p:graphicFrame>
        <p:nvGraphicFramePr>
          <p:cNvPr id="5" name="Content Placeholder 2">
            <a:extLst>
              <a:ext uri="{FF2B5EF4-FFF2-40B4-BE49-F238E27FC236}">
                <a16:creationId xmlns:a16="http://schemas.microsoft.com/office/drawing/2014/main" id="{E06E0085-64CE-D8F3-2585-FBC149C9D2F7}"/>
              </a:ext>
            </a:extLst>
          </p:cNvPr>
          <p:cNvGraphicFramePr>
            <a:graphicFrameLocks noGrp="1"/>
          </p:cNvGraphicFramePr>
          <p:nvPr>
            <p:ph idx="1"/>
            <p:extLst>
              <p:ext uri="{D42A27DB-BD31-4B8C-83A1-F6EECF244321}">
                <p14:modId xmlns:p14="http://schemas.microsoft.com/office/powerpoint/2010/main" val="1704655081"/>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TextBox 5">
            <a:extLst>
              <a:ext uri="{FF2B5EF4-FFF2-40B4-BE49-F238E27FC236}">
                <a16:creationId xmlns:a16="http://schemas.microsoft.com/office/drawing/2014/main" id="{2162E5BD-25FB-FCAE-DE35-5255E989595B}"/>
              </a:ext>
            </a:extLst>
          </p:cNvPr>
          <p:cNvSpPr txBox="1"/>
          <p:nvPr/>
        </p:nvSpPr>
        <p:spPr>
          <a:xfrm>
            <a:off x="204216" y="6163438"/>
            <a:ext cx="11987784" cy="646331"/>
          </a:xfrm>
          <a:prstGeom prst="rect">
            <a:avLst/>
          </a:prstGeom>
          <a:noFill/>
        </p:spPr>
        <p:txBody>
          <a:bodyPr wrap="square" rtlCol="0">
            <a:spAutoFit/>
          </a:bodyPr>
          <a:lstStyle/>
          <a:p>
            <a:r>
              <a:rPr lang="el-GR" b="1" dirty="0"/>
              <a:t>Η Σύγκρουση:</a:t>
            </a:r>
            <a:r>
              <a:rPr lang="el-GR" dirty="0"/>
              <a:t> Η πηγή στέλνει ένα νέο πακέτο κάθε </a:t>
            </a:r>
            <a:r>
              <a:rPr lang="el-GR" b="1" dirty="0"/>
              <a:t>5ms</a:t>
            </a:r>
            <a:r>
              <a:rPr lang="el-GR" dirty="0"/>
              <a:t>. Ο router όμως χρειάζεται </a:t>
            </a:r>
            <a:r>
              <a:rPr lang="el-GR" b="1" dirty="0"/>
              <a:t>8ms</a:t>
            </a:r>
            <a:r>
              <a:rPr lang="el-GR" dirty="0"/>
              <a:t> για να ολοκληρώσει την αποστολή ενός πακέτου (8ms μετάδοση).</a:t>
            </a:r>
            <a:endParaRPr lang="en-US" dirty="0"/>
          </a:p>
        </p:txBody>
      </p:sp>
    </p:spTree>
    <p:extLst>
      <p:ext uri="{BB962C8B-B14F-4D97-AF65-F5344CB8AC3E}">
        <p14:creationId xmlns:p14="http://schemas.microsoft.com/office/powerpoint/2010/main" val="874597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Rectangle 2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3" name="Freeform: Shape 3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5" name="Rectangle 3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C09724C-B369-10C7-57B4-E5CF06E0F17C}"/>
              </a:ext>
            </a:extLst>
          </p:cNvPr>
          <p:cNvSpPr>
            <a:spLocks noGrp="1"/>
          </p:cNvSpPr>
          <p:nvPr>
            <p:ph type="ctrTitle"/>
          </p:nvPr>
        </p:nvSpPr>
        <p:spPr>
          <a:xfrm>
            <a:off x="466722" y="586855"/>
            <a:ext cx="3201366" cy="3387497"/>
          </a:xfrm>
        </p:spPr>
        <p:txBody>
          <a:bodyPr vert="horz" lIns="91440" tIns="45720" rIns="91440" bIns="45720" rtlCol="0" anchor="b">
            <a:normAutofit/>
          </a:bodyPr>
          <a:lstStyle/>
          <a:p>
            <a:r>
              <a:rPr lang="en-US" sz="3700" b="1" kern="1200" dirty="0" err="1">
                <a:solidFill>
                  <a:srgbClr val="FFFFFF"/>
                </a:solidFill>
                <a:latin typeface="+mj-lt"/>
                <a:ea typeface="+mj-ea"/>
                <a:cs typeface="+mj-cs"/>
              </a:rPr>
              <a:t>Αν</a:t>
            </a:r>
            <a:r>
              <a:rPr lang="en-US" sz="3700" b="1" kern="1200" dirty="0">
                <a:solidFill>
                  <a:srgbClr val="FFFFFF"/>
                </a:solidFill>
                <a:latin typeface="+mj-lt"/>
                <a:ea typeface="+mj-ea"/>
                <a:cs typeface="+mj-cs"/>
              </a:rPr>
              <a:t>ατομία της Συνολικής Καθυστέρησης (End-to-End Delay)</a:t>
            </a:r>
            <a:endParaRPr lang="en-US" sz="3700" kern="1200" dirty="0">
              <a:solidFill>
                <a:srgbClr val="FFFFFF"/>
              </a:solidFill>
              <a:latin typeface="+mj-lt"/>
              <a:ea typeface="+mj-ea"/>
              <a:cs typeface="+mj-cs"/>
            </a:endParaRPr>
          </a:p>
        </p:txBody>
      </p:sp>
      <p:sp>
        <p:nvSpPr>
          <p:cNvPr id="3" name="Subtitle 2">
            <a:extLst>
              <a:ext uri="{FF2B5EF4-FFF2-40B4-BE49-F238E27FC236}">
                <a16:creationId xmlns:a16="http://schemas.microsoft.com/office/drawing/2014/main" id="{7DFCEAC8-DF5E-B8C6-7598-602B648D45BE}"/>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1800" dirty="0"/>
              <a:t>Η </a:t>
            </a:r>
            <a:r>
              <a:rPr lang="en-US" sz="1800" dirty="0" err="1"/>
              <a:t>συνολική</a:t>
            </a:r>
            <a:r>
              <a:rPr lang="en-US" sz="1800" dirty="0"/>
              <a:t> κα</a:t>
            </a:r>
            <a:r>
              <a:rPr lang="en-US" sz="1800" dirty="0" err="1"/>
              <a:t>θυστέρηση</a:t>
            </a:r>
            <a:r>
              <a:rPr lang="en-US" sz="1800" dirty="0"/>
              <a:t> απ</a:t>
            </a:r>
            <a:r>
              <a:rPr lang="en-US" sz="1800" dirty="0" err="1"/>
              <a:t>οτελείτ</a:t>
            </a:r>
            <a:r>
              <a:rPr lang="en-US" sz="1800" dirty="0"/>
              <a:t>αι από πολλά κομμάτια:</a:t>
            </a:r>
          </a:p>
          <a:p>
            <a:pPr indent="-228600" algn="l">
              <a:buFont typeface="Arial" panose="020B0604020202020204" pitchFamily="34" charset="0"/>
              <a:buChar char="•"/>
            </a:pPr>
            <a:r>
              <a:rPr lang="en-US" sz="1800" b="1" dirty="0"/>
              <a:t>Propagation Delay (Source → Router):</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router.</a:t>
            </a:r>
          </a:p>
          <a:p>
            <a:pPr indent="-228600" algn="l">
              <a:buFont typeface="Arial" panose="020B0604020202020204" pitchFamily="34" charset="0"/>
              <a:buChar char="•"/>
            </a:pPr>
            <a:r>
              <a:rPr lang="en-US" sz="1800" b="1" dirty="0"/>
              <a:t>Queuing Delay (Router):</a:t>
            </a:r>
            <a:r>
              <a:rPr lang="en-US" sz="1800" dirty="0"/>
              <a:t> </a:t>
            </a:r>
            <a:r>
              <a:rPr lang="en-US" sz="1800" b="1" dirty="0"/>
              <a:t>Ο ΜΕΤΑΒΛΗΤΟΣ ΠΑΡΑΓΟΝΤΑΣ!</a:t>
            </a:r>
            <a:r>
              <a:rPr lang="en-US" sz="1800" dirty="0"/>
              <a:t> Ο </a:t>
            </a:r>
            <a:r>
              <a:rPr lang="en-US" sz="1800" dirty="0" err="1"/>
              <a:t>χρόνος</a:t>
            </a:r>
            <a:r>
              <a:rPr lang="en-US" sz="1800" dirty="0"/>
              <a:t> π</a:t>
            </a:r>
            <a:r>
              <a:rPr lang="en-US" sz="1800" dirty="0" err="1"/>
              <a:t>ου</a:t>
            </a:r>
            <a:r>
              <a:rPr lang="en-US" sz="1800" dirty="0"/>
              <a:t> </a:t>
            </a:r>
            <a:r>
              <a:rPr lang="en-US" sz="1800" dirty="0" err="1"/>
              <a:t>το</a:t>
            </a:r>
            <a:r>
              <a:rPr lang="en-US" sz="1800" dirty="0"/>
              <a:t> πα</a:t>
            </a:r>
            <a:r>
              <a:rPr lang="en-US" sz="1800" dirty="0" err="1"/>
              <a:t>κέτο</a:t>
            </a:r>
            <a:r>
              <a:rPr lang="en-US" sz="1800" dirty="0"/>
              <a:t> π</a:t>
            </a:r>
            <a:r>
              <a:rPr lang="en-US" sz="1800" dirty="0" err="1"/>
              <a:t>εριμένει</a:t>
            </a:r>
            <a:r>
              <a:rPr lang="en-US" sz="1800" dirty="0"/>
              <a:t> </a:t>
            </a:r>
            <a:r>
              <a:rPr lang="en-US" sz="1800" dirty="0" err="1"/>
              <a:t>στην</a:t>
            </a:r>
            <a:r>
              <a:rPr lang="en-US" sz="1800" dirty="0"/>
              <a:t> </a:t>
            </a:r>
            <a:r>
              <a:rPr lang="en-US" sz="1800" dirty="0" err="1"/>
              <a:t>ουρά</a:t>
            </a:r>
            <a:r>
              <a:rPr lang="en-US" sz="1800" dirty="0"/>
              <a:t>. Μπ</a:t>
            </a:r>
            <a:r>
              <a:rPr lang="en-US" sz="1800" dirty="0" err="1"/>
              <a:t>ορεί</a:t>
            </a:r>
            <a:r>
              <a:rPr lang="en-US" sz="1800" dirty="0"/>
              <a:t> να </a:t>
            </a:r>
            <a:r>
              <a:rPr lang="en-US" sz="1800" dirty="0" err="1"/>
              <a:t>είν</a:t>
            </a:r>
            <a:r>
              <a:rPr lang="en-US" sz="1800" dirty="0"/>
              <a:t>αι από μηδέν μέχρι πολύ μεγάλος.</a:t>
            </a:r>
          </a:p>
          <a:p>
            <a:pPr indent="-228600" algn="l">
              <a:buFont typeface="Arial" panose="020B0604020202020204" pitchFamily="34" charset="0"/>
              <a:buChar char="•"/>
            </a:pPr>
            <a:r>
              <a:rPr lang="en-US" sz="1800" b="1" dirty="0"/>
              <a:t>Transmission Delay (Router):</a:t>
            </a:r>
            <a:r>
              <a:rPr lang="en-US" sz="1800" dirty="0"/>
              <a:t> Ο </a:t>
            </a:r>
            <a:r>
              <a:rPr lang="en-US" sz="1800" dirty="0" err="1"/>
              <a:t>χρόνος</a:t>
            </a:r>
            <a:r>
              <a:rPr lang="en-US" sz="1800" dirty="0"/>
              <a:t> π</a:t>
            </a:r>
            <a:r>
              <a:rPr lang="en-US" sz="1800" dirty="0" err="1"/>
              <a:t>ου</a:t>
            </a:r>
            <a:r>
              <a:rPr lang="en-US" sz="1800" dirty="0"/>
              <a:t> ο router "</a:t>
            </a:r>
            <a:r>
              <a:rPr lang="en-US" sz="1800" dirty="0" err="1"/>
              <a:t>γράφει</a:t>
            </a:r>
            <a:r>
              <a:rPr lang="en-US" sz="1800" dirty="0"/>
              <a:t>" </a:t>
            </a:r>
            <a:r>
              <a:rPr lang="en-US" sz="1800" dirty="0" err="1"/>
              <a:t>το</a:t>
            </a:r>
            <a:r>
              <a:rPr lang="en-US" sz="1800" dirty="0"/>
              <a:t> πα</a:t>
            </a:r>
            <a:r>
              <a:rPr lang="en-US" sz="1800" dirty="0" err="1"/>
              <a:t>κέτο</a:t>
            </a:r>
            <a:r>
              <a:rPr lang="en-US" sz="1800" dirty="0"/>
              <a:t> </a:t>
            </a:r>
            <a:r>
              <a:rPr lang="en-US" sz="1800" dirty="0" err="1"/>
              <a:t>στην</a:t>
            </a:r>
            <a:r>
              <a:rPr lang="en-US" sz="1800" dirty="0"/>
              <a:t> </a:t>
            </a:r>
            <a:r>
              <a:rPr lang="en-US" sz="1800" dirty="0" err="1"/>
              <a:t>εξερχόμενη</a:t>
            </a:r>
            <a:r>
              <a:rPr lang="en-US" sz="1800" dirty="0"/>
              <a:t> </a:t>
            </a:r>
            <a:r>
              <a:rPr lang="en-US" sz="1800" dirty="0" err="1"/>
              <a:t>γρ</a:t>
            </a:r>
            <a:r>
              <a:rPr lang="en-US" sz="1800" dirty="0"/>
              <a:t>αμμή.</a:t>
            </a:r>
          </a:p>
          <a:p>
            <a:pPr indent="-228600" algn="l">
              <a:buFont typeface="Arial" panose="020B0604020202020204" pitchFamily="34" charset="0"/>
              <a:buChar char="•"/>
            </a:pPr>
            <a:r>
              <a:rPr lang="en-US" sz="1800" b="1" dirty="0"/>
              <a:t>Propagation Delay (Router → Destination):</a:t>
            </a:r>
            <a:r>
              <a:rPr lang="en-US" sz="1800" dirty="0"/>
              <a:t> Ο </a:t>
            </a:r>
            <a:r>
              <a:rPr lang="en-US" sz="1800" dirty="0" err="1"/>
              <a:t>χρόνος</a:t>
            </a:r>
            <a:r>
              <a:rPr lang="en-US" sz="1800" dirty="0"/>
              <a:t> τα</a:t>
            </a:r>
            <a:r>
              <a:rPr lang="en-US" sz="1800" dirty="0" err="1"/>
              <a:t>ξιδιού</a:t>
            </a:r>
            <a:r>
              <a:rPr lang="en-US" sz="1800" dirty="0"/>
              <a:t> π</a:t>
            </a:r>
            <a:r>
              <a:rPr lang="en-US" sz="1800" dirty="0" err="1"/>
              <a:t>ρος</a:t>
            </a:r>
            <a:r>
              <a:rPr lang="en-US" sz="1800" dirty="0"/>
              <a:t> </a:t>
            </a:r>
            <a:r>
              <a:rPr lang="en-US" sz="1800" dirty="0" err="1"/>
              <a:t>τον</a:t>
            </a:r>
            <a:r>
              <a:rPr lang="en-US" sz="1800" dirty="0"/>
              <a:t> π</a:t>
            </a:r>
            <a:r>
              <a:rPr lang="en-US" sz="1800" dirty="0" err="1"/>
              <a:t>ροορισμό</a:t>
            </a:r>
            <a:r>
              <a:rPr lang="en-US" sz="1800" dirty="0"/>
              <a:t>.</a:t>
            </a:r>
          </a:p>
          <a:p>
            <a:pPr algn="l"/>
            <a:endParaRPr lang="en-US" sz="1800" dirty="0"/>
          </a:p>
        </p:txBody>
      </p:sp>
    </p:spTree>
    <p:extLst>
      <p:ext uri="{BB962C8B-B14F-4D97-AF65-F5344CB8AC3E}">
        <p14:creationId xmlns:p14="http://schemas.microsoft.com/office/powerpoint/2010/main" val="313270504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50" name="Rectangle 4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Freeform: Shape 5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7" name="Rectangle 5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A690270-BD5A-0889-FE6A-8129D123B369}"/>
              </a:ext>
            </a:extLst>
          </p:cNvPr>
          <p:cNvSpPr>
            <a:spLocks noGrp="1"/>
          </p:cNvSpPr>
          <p:nvPr>
            <p:ph type="title"/>
          </p:nvPr>
        </p:nvSpPr>
        <p:spPr>
          <a:xfrm>
            <a:off x="466722" y="586855"/>
            <a:ext cx="3201366" cy="3387497"/>
          </a:xfrm>
        </p:spPr>
        <p:txBody>
          <a:bodyPr anchor="b">
            <a:normAutofit/>
          </a:bodyPr>
          <a:lstStyle/>
          <a:p>
            <a:pPr algn="ctr"/>
            <a:r>
              <a:rPr lang="el-GR" sz="4000" b="1" dirty="0">
                <a:solidFill>
                  <a:srgbClr val="FFFFFF"/>
                </a:solidFill>
              </a:rPr>
              <a:t>Διαχείριση της Συμφόρησης</a:t>
            </a:r>
            <a:endParaRPr lang="en-US" sz="4000" dirty="0">
              <a:solidFill>
                <a:srgbClr val="FFFFFF"/>
              </a:solidFill>
            </a:endParaRPr>
          </a:p>
        </p:txBody>
      </p:sp>
      <p:graphicFrame>
        <p:nvGraphicFramePr>
          <p:cNvPr id="5" name="Content Placeholder 4">
            <a:extLst>
              <a:ext uri="{FF2B5EF4-FFF2-40B4-BE49-F238E27FC236}">
                <a16:creationId xmlns:a16="http://schemas.microsoft.com/office/drawing/2014/main" id="{6EE28F5D-2F80-B998-B911-3C29916887DF}"/>
              </a:ext>
            </a:extLst>
          </p:cNvPr>
          <p:cNvGraphicFramePr>
            <a:graphicFrameLocks noGrp="1"/>
          </p:cNvGraphicFramePr>
          <p:nvPr>
            <p:ph idx="1"/>
            <p:extLst>
              <p:ext uri="{D42A27DB-BD31-4B8C-83A1-F6EECF244321}">
                <p14:modId xmlns:p14="http://schemas.microsoft.com/office/powerpoint/2010/main" val="2727721538"/>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90990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4396E4-C4E5-EAFF-0B9F-7BB5AF8DC05C}"/>
              </a:ext>
            </a:extLst>
          </p:cNvPr>
          <p:cNvPicPr>
            <a:picLocks noChangeAspect="1"/>
          </p:cNvPicPr>
          <p:nvPr/>
        </p:nvPicPr>
        <p:blipFill>
          <a:blip r:embed="rId2">
            <a:duotone>
              <a:schemeClr val="bg2">
                <a:shade val="45000"/>
                <a:satMod val="135000"/>
              </a:schemeClr>
              <a:prstClr val="white"/>
            </a:duotone>
          </a:blip>
          <a:srcRect t="25325" b="9457"/>
          <a:stretch>
            <a:fillRect/>
          </a:stretch>
        </p:blipFill>
        <p:spPr>
          <a:xfrm>
            <a:off x="20" y="10"/>
            <a:ext cx="12191980" cy="6857990"/>
          </a:xfrm>
          <a:prstGeom prst="rect">
            <a:avLst/>
          </a:prstGeom>
        </p:spPr>
      </p:pic>
      <p:sp>
        <p:nvSpPr>
          <p:cNvPr id="20" name="Rectangle 19">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4" name="Diagram 3">
            <a:extLst>
              <a:ext uri="{FF2B5EF4-FFF2-40B4-BE49-F238E27FC236}">
                <a16:creationId xmlns:a16="http://schemas.microsoft.com/office/drawing/2014/main" id="{7C515674-5814-A146-471D-49C5999FC2A6}"/>
              </a:ext>
            </a:extLst>
          </p:cNvPr>
          <p:cNvGraphicFramePr/>
          <p:nvPr>
            <p:extLst>
              <p:ext uri="{D42A27DB-BD31-4B8C-83A1-F6EECF244321}">
                <p14:modId xmlns:p14="http://schemas.microsoft.com/office/powerpoint/2010/main" val="3227629140"/>
              </p:ext>
            </p:extLst>
          </p:nvPr>
        </p:nvGraphicFramePr>
        <p:xfrm>
          <a:off x="838200" y="365125"/>
          <a:ext cx="10515600" cy="132556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graphicFrame>
        <p:nvGraphicFramePr>
          <p:cNvPr id="5" name="Content Placeholder 2">
            <a:extLst>
              <a:ext uri="{FF2B5EF4-FFF2-40B4-BE49-F238E27FC236}">
                <a16:creationId xmlns:a16="http://schemas.microsoft.com/office/drawing/2014/main" id="{9DF44E60-03CB-C21E-1052-04C0334B4C6A}"/>
              </a:ext>
            </a:extLst>
          </p:cNvPr>
          <p:cNvGraphicFramePr>
            <a:graphicFrameLocks noGrp="1"/>
          </p:cNvGraphicFramePr>
          <p:nvPr>
            <p:ph idx="1"/>
            <p:extLst>
              <p:ext uri="{D42A27DB-BD31-4B8C-83A1-F6EECF244321}">
                <p14:modId xmlns:p14="http://schemas.microsoft.com/office/powerpoint/2010/main" val="3927519561"/>
              </p:ext>
            </p:extLst>
          </p:nvPr>
        </p:nvGraphicFramePr>
        <p:xfrm>
          <a:off x="838200" y="2304287"/>
          <a:ext cx="10515600" cy="418858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7" name="TextBox 6">
            <a:extLst>
              <a:ext uri="{FF2B5EF4-FFF2-40B4-BE49-F238E27FC236}">
                <a16:creationId xmlns:a16="http://schemas.microsoft.com/office/drawing/2014/main" id="{6AF6A19E-59CC-24E5-FE3F-75C8ABC52D6B}"/>
              </a:ext>
            </a:extLst>
          </p:cNvPr>
          <p:cNvSpPr txBox="1"/>
          <p:nvPr/>
        </p:nvSpPr>
        <p:spPr>
          <a:xfrm>
            <a:off x="838200" y="1812821"/>
            <a:ext cx="7772400" cy="369332"/>
          </a:xfrm>
          <a:prstGeom prst="rect">
            <a:avLst/>
          </a:prstGeom>
          <a:noFill/>
        </p:spPr>
        <p:txBody>
          <a:bodyPr wrap="square" rtlCol="0">
            <a:spAutoFit/>
          </a:bodyPr>
          <a:lstStyle/>
          <a:p>
            <a:pPr lvl="0"/>
            <a:r>
              <a:rPr lang="el-GR" b="1" dirty="0"/>
              <a:t>Για να αξιολογήσουμε την απόδοση, συλλέξαμε 4 βασικές μετρικές:</a:t>
            </a:r>
            <a:endParaRPr lang="en-US" b="1" dirty="0"/>
          </a:p>
        </p:txBody>
      </p:sp>
    </p:spTree>
    <p:extLst>
      <p:ext uri="{BB962C8B-B14F-4D97-AF65-F5344CB8AC3E}">
        <p14:creationId xmlns:p14="http://schemas.microsoft.com/office/powerpoint/2010/main" val="3734183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29C8495-E3B2-9A61-57C1-80E4364B0A3B}"/>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Ανάλυση Συμφόρησης (1 Mbps)</a:t>
            </a:r>
          </a:p>
        </p:txBody>
      </p:sp>
      <p:sp>
        <p:nvSpPr>
          <p:cNvPr id="3" name="Subtitle 2">
            <a:extLst>
              <a:ext uri="{FF2B5EF4-FFF2-40B4-BE49-F238E27FC236}">
                <a16:creationId xmlns:a16="http://schemas.microsoft.com/office/drawing/2014/main" id="{DF362391-C794-2225-C6B3-117B23D1A279}"/>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algn="l"/>
            <a:r>
              <a:rPr lang="en-US" sz="1900" b="1" dirty="0"/>
              <a:t>Queue Size </a:t>
            </a:r>
            <a:r>
              <a:rPr lang="en-US" sz="1900" dirty="0"/>
              <a:t>(</a:t>
            </a:r>
            <a:r>
              <a:rPr lang="en-US" sz="1900" dirty="0" err="1"/>
              <a:t>Μέγεθος</a:t>
            </a:r>
            <a:r>
              <a:rPr lang="en-US" sz="1900" dirty="0"/>
              <a:t> </a:t>
            </a:r>
            <a:r>
              <a:rPr lang="en-US" sz="1900" dirty="0" err="1"/>
              <a:t>Ουράς</a:t>
            </a:r>
            <a:r>
              <a:rPr lang="en-US" sz="1900" dirty="0"/>
              <a:t>):  Η </a:t>
            </a:r>
            <a:r>
              <a:rPr lang="en-US" sz="1900" dirty="0" err="1"/>
              <a:t>γρ</a:t>
            </a:r>
            <a:r>
              <a:rPr lang="en-US" sz="1900" dirty="0"/>
              <a:t>αμμή ανεβαίνει αμέσως και "καρφώνεται" στο 10 (Μέγιστο).  </a:t>
            </a:r>
            <a:r>
              <a:rPr lang="en-US" sz="1900" dirty="0" err="1"/>
              <a:t>Αιτί</a:t>
            </a:r>
            <a:r>
              <a:rPr lang="en-US" sz="1900" dirty="0"/>
              <a:t>α: Ο ρυθμός άφιξης (200 pkts/s) είναι μεγαλύτερος από τον ρυθμό που ο Router μπορεί να διώξει τα πακέτα (125 pkts/s). Η </a:t>
            </a:r>
            <a:r>
              <a:rPr lang="en-US" sz="1900" dirty="0" err="1"/>
              <a:t>ουρά</a:t>
            </a:r>
            <a:r>
              <a:rPr lang="en-US" sz="1900" dirty="0"/>
              <a:t> </a:t>
            </a:r>
            <a:r>
              <a:rPr lang="en-US" sz="1900" dirty="0" err="1"/>
              <a:t>γεμίζει</a:t>
            </a:r>
            <a:r>
              <a:rPr lang="en-US" sz="1900" dirty="0"/>
              <a:t> και </a:t>
            </a:r>
            <a:r>
              <a:rPr lang="en-US" sz="1900" dirty="0" err="1"/>
              <a:t>δεν</a:t>
            </a:r>
            <a:r>
              <a:rPr lang="en-US" sz="1900" dirty="0"/>
              <a:t> α</a:t>
            </a:r>
            <a:r>
              <a:rPr lang="en-US" sz="1900" dirty="0" err="1"/>
              <a:t>δειάζει</a:t>
            </a:r>
            <a:r>
              <a:rPr lang="en-US" sz="1900" dirty="0"/>
              <a:t> π</a:t>
            </a:r>
            <a:r>
              <a:rPr lang="en-US" sz="1900" dirty="0" err="1"/>
              <a:t>οτέ</a:t>
            </a:r>
            <a:r>
              <a:rPr lang="en-US" sz="1900" dirty="0"/>
              <a:t>.  </a:t>
            </a:r>
            <a:br>
              <a:rPr lang="en-US" sz="1900" dirty="0"/>
            </a:br>
            <a:br>
              <a:rPr lang="en-US" sz="1900" dirty="0"/>
            </a:br>
            <a:r>
              <a:rPr lang="en-US" sz="1900" b="1" dirty="0"/>
              <a:t>End-to-End Delay </a:t>
            </a:r>
            <a:r>
              <a:rPr lang="en-US" sz="1900" dirty="0"/>
              <a:t>(Κα</a:t>
            </a:r>
            <a:r>
              <a:rPr lang="en-US" sz="1900" dirty="0" err="1"/>
              <a:t>θυστέρηση</a:t>
            </a:r>
            <a:r>
              <a:rPr lang="en-US" sz="1900" dirty="0"/>
              <a:t>):  </a:t>
            </a:r>
            <a:r>
              <a:rPr lang="en-US" sz="1900" dirty="0" err="1"/>
              <a:t>Στ</a:t>
            </a:r>
            <a:r>
              <a:rPr lang="en-US" sz="1900" dirty="0"/>
              <a:t>αθεροποιείται στα 0.188s.  Μα</a:t>
            </a:r>
            <a:r>
              <a:rPr lang="en-US" sz="1900" dirty="0" err="1"/>
              <a:t>θημ</a:t>
            </a:r>
            <a:r>
              <a:rPr lang="en-US" sz="1900" dirty="0"/>
              <a:t>ατική Εξήγηση: Είναι το άθροισμα της ελάχιστης καθυστέρησης (0.108s) συν τον χρόνο αναμονής στην ουρά για 10 πακέτα (10×0.008s=0.08s).  </a:t>
            </a:r>
            <a:br>
              <a:rPr lang="en-US" sz="1900" dirty="0"/>
            </a:br>
            <a:br>
              <a:rPr lang="en-US" sz="1900" dirty="0"/>
            </a:br>
            <a:r>
              <a:rPr lang="en-US" sz="1900" b="1" dirty="0"/>
              <a:t>Packet Loss </a:t>
            </a:r>
            <a:r>
              <a:rPr lang="en-US" sz="1900" dirty="0"/>
              <a:t>(Απ</a:t>
            </a:r>
            <a:r>
              <a:rPr lang="en-US" sz="1900" dirty="0" err="1"/>
              <a:t>ώλειες</a:t>
            </a:r>
            <a:r>
              <a:rPr lang="en-US" sz="1900" dirty="0"/>
              <a:t>):  </a:t>
            </a:r>
            <a:r>
              <a:rPr lang="en-US" sz="1900" dirty="0" err="1"/>
              <a:t>Το</a:t>
            </a:r>
            <a:r>
              <a:rPr lang="en-US" sz="1900" dirty="0"/>
              <a:t> π</a:t>
            </a:r>
            <a:r>
              <a:rPr lang="en-US" sz="1900" dirty="0" err="1"/>
              <a:t>οσοστό</a:t>
            </a:r>
            <a:r>
              <a:rPr lang="en-US" sz="1900" dirty="0"/>
              <a:t> </a:t>
            </a:r>
            <a:r>
              <a:rPr lang="en-US" sz="1900" dirty="0" err="1"/>
              <a:t>είν</a:t>
            </a:r>
            <a:r>
              <a:rPr lang="en-US" sz="1900" dirty="0"/>
              <a:t>αι ~37.5%,γιατί ο Router απορρίπτει αναγκαστικά τα 75 από τα 200 πακέτα που έρχονται κάθε δευτερόλεπτο, καθώς δεν χωράνε στην ουρά.  </a:t>
            </a:r>
            <a:br>
              <a:rPr lang="en-US" sz="1900" dirty="0"/>
            </a:br>
            <a:br>
              <a:rPr lang="en-US" sz="1900" dirty="0"/>
            </a:br>
            <a:r>
              <a:rPr lang="en-US" sz="1900" b="1" dirty="0"/>
              <a:t>Throughput</a:t>
            </a:r>
            <a:r>
              <a:rPr lang="en-US" sz="1900" dirty="0"/>
              <a:t> (</a:t>
            </a:r>
            <a:r>
              <a:rPr lang="en-US" sz="1900" dirty="0" err="1"/>
              <a:t>Ρυθμ</a:t>
            </a:r>
            <a:r>
              <a:rPr lang="en-US" sz="1900" dirty="0"/>
              <a:t>απόδοση):  Η γραμμή είναι σταθερή στο 1.0 Mbps.  </a:t>
            </a:r>
            <a:r>
              <a:rPr lang="en-US" sz="1900" dirty="0" err="1"/>
              <a:t>Το</a:t>
            </a:r>
            <a:r>
              <a:rPr lang="en-US" sz="1900" dirty="0"/>
              <a:t> </a:t>
            </a:r>
            <a:r>
              <a:rPr lang="en-US" sz="1900" dirty="0" err="1"/>
              <a:t>δίκτυο</a:t>
            </a:r>
            <a:r>
              <a:rPr lang="en-US" sz="1900" dirty="0"/>
              <a:t> </a:t>
            </a:r>
            <a:r>
              <a:rPr lang="en-US" sz="1900" dirty="0" err="1"/>
              <a:t>δουλεύει</a:t>
            </a:r>
            <a:r>
              <a:rPr lang="en-US" sz="1900" dirty="0"/>
              <a:t> </a:t>
            </a:r>
            <a:r>
              <a:rPr lang="en-US" sz="1900" dirty="0" err="1"/>
              <a:t>στο</a:t>
            </a:r>
            <a:r>
              <a:rPr lang="en-US" sz="1900" dirty="0"/>
              <a:t> 100% </a:t>
            </a:r>
            <a:r>
              <a:rPr lang="en-US" sz="1900" dirty="0" err="1"/>
              <a:t>της</a:t>
            </a:r>
            <a:r>
              <a:rPr lang="en-US" sz="1900" dirty="0"/>
              <a:t> </a:t>
            </a:r>
            <a:r>
              <a:rPr lang="en-US" sz="1900" dirty="0" err="1"/>
              <a:t>χωρητικότητάς</a:t>
            </a:r>
            <a:r>
              <a:rPr lang="en-US" sz="1900" dirty="0"/>
              <a:t> </a:t>
            </a:r>
            <a:r>
              <a:rPr lang="en-US" sz="1900" dirty="0" err="1"/>
              <a:t>του</a:t>
            </a:r>
            <a:r>
              <a:rPr lang="en-US" sz="1900" dirty="0"/>
              <a:t>, α</a:t>
            </a:r>
            <a:r>
              <a:rPr lang="en-US" sz="1900" dirty="0" err="1"/>
              <a:t>λλά</a:t>
            </a:r>
            <a:r>
              <a:rPr lang="en-US" sz="1900" dirty="0"/>
              <a:t> α</a:t>
            </a:r>
            <a:r>
              <a:rPr lang="en-US" sz="1900" dirty="0" err="1"/>
              <a:t>υτό</a:t>
            </a:r>
            <a:r>
              <a:rPr lang="en-US" sz="1900" dirty="0"/>
              <a:t> </a:t>
            </a:r>
            <a:r>
              <a:rPr lang="en-US" sz="1900" dirty="0" err="1"/>
              <a:t>δεν</a:t>
            </a:r>
            <a:r>
              <a:rPr lang="en-US" sz="1900" dirty="0"/>
              <a:t> α</a:t>
            </a:r>
            <a:r>
              <a:rPr lang="en-US" sz="1900" dirty="0" err="1"/>
              <a:t>ρκεί</a:t>
            </a:r>
            <a:r>
              <a:rPr lang="en-US" sz="1900" dirty="0"/>
              <a:t> </a:t>
            </a:r>
            <a:r>
              <a:rPr lang="en-US" sz="1900" dirty="0" err="1"/>
              <a:t>γι</a:t>
            </a:r>
            <a:r>
              <a:rPr lang="en-US" sz="1900" dirty="0"/>
              <a:t>α να εξυπηρετήσει την κίνηση.</a:t>
            </a:r>
          </a:p>
        </p:txBody>
      </p:sp>
    </p:spTree>
    <p:extLst>
      <p:ext uri="{BB962C8B-B14F-4D97-AF65-F5344CB8AC3E}">
        <p14:creationId xmlns:p14="http://schemas.microsoft.com/office/powerpoint/2010/main" val="29623841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4E41B41-3FB9-A14F-70E5-BB5AB91F3255}"/>
              </a:ext>
            </a:extLst>
          </p:cNvPr>
          <p:cNvPicPr>
            <a:picLocks noChangeAspect="1"/>
          </p:cNvPicPr>
          <p:nvPr/>
        </p:nvPicPr>
        <p:blipFill>
          <a:blip r:embed="rId2"/>
          <a:stretch>
            <a:fillRect/>
          </a:stretch>
        </p:blipFill>
        <p:spPr>
          <a:xfrm>
            <a:off x="0" y="-1"/>
            <a:ext cx="12192002" cy="6858001"/>
          </a:xfrm>
          <a:prstGeom prst="rect">
            <a:avLst/>
          </a:prstGeom>
        </p:spPr>
      </p:pic>
      <p:sp>
        <p:nvSpPr>
          <p:cNvPr id="19" name="TextBox 18">
            <a:extLst>
              <a:ext uri="{FF2B5EF4-FFF2-40B4-BE49-F238E27FC236}">
                <a16:creationId xmlns:a16="http://schemas.microsoft.com/office/drawing/2014/main" id="{6943F694-D939-467F-2D02-3159F6DC662D}"/>
              </a:ext>
            </a:extLst>
          </p:cNvPr>
          <p:cNvSpPr txBox="1"/>
          <p:nvPr/>
        </p:nvSpPr>
        <p:spPr>
          <a:xfrm>
            <a:off x="0" y="118872"/>
            <a:ext cx="1783080" cy="400110"/>
          </a:xfrm>
          <a:prstGeom prst="rect">
            <a:avLst/>
          </a:prstGeom>
          <a:noFill/>
        </p:spPr>
        <p:txBody>
          <a:bodyPr wrap="square" rtlCol="0">
            <a:spAutoFit/>
          </a:bodyPr>
          <a:lstStyle/>
          <a:p>
            <a:r>
              <a:rPr lang="el-GR" sz="2000" b="1" dirty="0"/>
              <a:t>1</a:t>
            </a:r>
            <a:r>
              <a:rPr lang="en-US" sz="2000" b="1" dirty="0"/>
              <a:t>Mbps</a:t>
            </a:r>
          </a:p>
        </p:txBody>
      </p:sp>
    </p:spTree>
    <p:extLst>
      <p:ext uri="{BB962C8B-B14F-4D97-AF65-F5344CB8AC3E}">
        <p14:creationId xmlns:p14="http://schemas.microsoft.com/office/powerpoint/2010/main" val="18710294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C5213E8-E166-AFF4-1D07-72C335AB1FD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b="1" kern="1200" dirty="0" err="1">
                <a:solidFill>
                  <a:srgbClr val="FFFFFF"/>
                </a:solidFill>
                <a:latin typeface="+mj-lt"/>
                <a:ea typeface="+mj-ea"/>
                <a:cs typeface="+mj-cs"/>
              </a:rPr>
              <a:t>Ανάλυση</a:t>
            </a:r>
            <a:r>
              <a:rPr lang="en-US" sz="4000" b="1" kern="1200" dirty="0">
                <a:solidFill>
                  <a:srgbClr val="FFFFFF"/>
                </a:solidFill>
                <a:latin typeface="+mj-lt"/>
                <a:ea typeface="+mj-ea"/>
                <a:cs typeface="+mj-cs"/>
              </a:rPr>
              <a:t> </a:t>
            </a:r>
            <a:r>
              <a:rPr lang="en-US" sz="4000" b="1" kern="1200" dirty="0" err="1">
                <a:solidFill>
                  <a:srgbClr val="FFFFFF"/>
                </a:solidFill>
                <a:latin typeface="+mj-lt"/>
                <a:ea typeface="+mj-ea"/>
                <a:cs typeface="+mj-cs"/>
              </a:rPr>
              <a:t>Στ</a:t>
            </a:r>
            <a:r>
              <a:rPr lang="en-US" sz="4000" b="1" kern="1200" dirty="0">
                <a:solidFill>
                  <a:srgbClr val="FFFFFF"/>
                </a:solidFill>
                <a:latin typeface="+mj-lt"/>
                <a:ea typeface="+mj-ea"/>
                <a:cs typeface="+mj-cs"/>
              </a:rPr>
              <a:t>αθερότητας (10 Mbps)</a:t>
            </a:r>
          </a:p>
        </p:txBody>
      </p:sp>
      <p:sp>
        <p:nvSpPr>
          <p:cNvPr id="3" name="Subtitle 2">
            <a:extLst>
              <a:ext uri="{FF2B5EF4-FFF2-40B4-BE49-F238E27FC236}">
                <a16:creationId xmlns:a16="http://schemas.microsoft.com/office/drawing/2014/main" id="{1B133BE4-4F36-C7BB-3F03-82CA1054143D}"/>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algn="l"/>
            <a:r>
              <a:rPr lang="en-US" sz="1700" b="1" dirty="0"/>
              <a:t>Queue Size </a:t>
            </a:r>
            <a:r>
              <a:rPr lang="en-US" sz="1700" dirty="0"/>
              <a:t>(</a:t>
            </a:r>
            <a:r>
              <a:rPr lang="en-US" sz="1700" dirty="0" err="1"/>
              <a:t>Μέγεθος</a:t>
            </a:r>
            <a:r>
              <a:rPr lang="en-US" sz="1700" dirty="0"/>
              <a:t> </a:t>
            </a:r>
            <a:r>
              <a:rPr lang="en-US" sz="1700" dirty="0" err="1"/>
              <a:t>Ουράς</a:t>
            </a:r>
            <a:r>
              <a:rPr lang="en-US" sz="1700" dirty="0"/>
              <a:t>):  Η </a:t>
            </a:r>
            <a:r>
              <a:rPr lang="en-US" sz="1700" dirty="0" err="1"/>
              <a:t>γρ</a:t>
            </a:r>
            <a:r>
              <a:rPr lang="en-US" sz="1700" dirty="0"/>
              <a:t>αμμή είναι "επίπεδη" στο 0. Με 10 Mbps, ο Router στέλνει ένα πακέτο σε μόλις 0.8ms. Επ</a:t>
            </a:r>
            <a:r>
              <a:rPr lang="en-US" sz="1700" dirty="0" err="1"/>
              <a:t>ειδή</a:t>
            </a:r>
            <a:r>
              <a:rPr lang="en-US" sz="1700" dirty="0"/>
              <a:t> </a:t>
            </a:r>
            <a:r>
              <a:rPr lang="en-US" sz="1700" dirty="0" err="1"/>
              <a:t>το</a:t>
            </a:r>
            <a:r>
              <a:rPr lang="en-US" sz="1700" dirty="0"/>
              <a:t> επ</a:t>
            </a:r>
            <a:r>
              <a:rPr lang="en-US" sz="1700" dirty="0" err="1"/>
              <a:t>όμενο</a:t>
            </a:r>
            <a:r>
              <a:rPr lang="en-US" sz="1700" dirty="0"/>
              <a:t> πα</a:t>
            </a:r>
            <a:r>
              <a:rPr lang="en-US" sz="1700" dirty="0" err="1"/>
              <a:t>κέτο</a:t>
            </a:r>
            <a:r>
              <a:rPr lang="en-US" sz="1700" dirty="0"/>
              <a:t> </a:t>
            </a:r>
            <a:r>
              <a:rPr lang="en-US" sz="1700" dirty="0" err="1"/>
              <a:t>έρχετ</a:t>
            </a:r>
            <a:r>
              <a:rPr lang="en-US" sz="1700" dirty="0"/>
              <a:t>αι σε 5ms, ο Router προλαβαίνει άνετα να αδειάσει την ουρά.  </a:t>
            </a:r>
            <a:br>
              <a:rPr lang="en-US" sz="1700" dirty="0"/>
            </a:br>
            <a:br>
              <a:rPr lang="en-US" sz="1700" dirty="0"/>
            </a:br>
            <a:r>
              <a:rPr lang="en-US" sz="1700" b="1" dirty="0"/>
              <a:t>End-to-End Delay </a:t>
            </a:r>
            <a:r>
              <a:rPr lang="en-US" sz="1700" dirty="0"/>
              <a:t>(Κα</a:t>
            </a:r>
            <a:r>
              <a:rPr lang="en-US" sz="1700" dirty="0" err="1"/>
              <a:t>θυστέρηση</a:t>
            </a:r>
            <a:r>
              <a:rPr lang="en-US" sz="1700" dirty="0"/>
              <a:t>):  </a:t>
            </a:r>
            <a:r>
              <a:rPr lang="en-US" sz="1700" dirty="0" err="1"/>
              <a:t>Μι</a:t>
            </a:r>
            <a:r>
              <a:rPr lang="en-US" sz="1700" dirty="0"/>
              <a:t>α ευθεία γραμμή στο ελάχιστο (~0.10s).  </a:t>
            </a:r>
            <a:r>
              <a:rPr lang="en-US" sz="1700" dirty="0" err="1"/>
              <a:t>Δεν</a:t>
            </a:r>
            <a:r>
              <a:rPr lang="en-US" sz="1700" dirty="0"/>
              <a:t> υπ</a:t>
            </a:r>
            <a:r>
              <a:rPr lang="en-US" sz="1700" dirty="0" err="1"/>
              <a:t>άρχει</a:t>
            </a:r>
            <a:r>
              <a:rPr lang="en-US" sz="1700" dirty="0"/>
              <a:t> κα</a:t>
            </a:r>
            <a:r>
              <a:rPr lang="en-US" sz="1700" dirty="0" err="1"/>
              <a:t>θυστέρηση</a:t>
            </a:r>
            <a:r>
              <a:rPr lang="en-US" sz="1700" dirty="0"/>
              <a:t> ανα</a:t>
            </a:r>
            <a:r>
              <a:rPr lang="en-US" sz="1700" dirty="0" err="1"/>
              <a:t>μονής</a:t>
            </a:r>
            <a:r>
              <a:rPr lang="en-US" sz="1700" dirty="0"/>
              <a:t> (Queuing Delay = 0), α</a:t>
            </a:r>
            <a:r>
              <a:rPr lang="en-US" sz="1700" dirty="0" err="1"/>
              <a:t>φού</a:t>
            </a:r>
            <a:r>
              <a:rPr lang="en-US" sz="1700" dirty="0"/>
              <a:t> </a:t>
            </a:r>
            <a:r>
              <a:rPr lang="en-US" sz="1700" dirty="0" err="1"/>
              <a:t>το</a:t>
            </a:r>
            <a:r>
              <a:rPr lang="en-US" sz="1700" dirty="0"/>
              <a:t> πα</a:t>
            </a:r>
            <a:r>
              <a:rPr lang="en-US" sz="1700" dirty="0" err="1"/>
              <a:t>κέτο</a:t>
            </a:r>
            <a:r>
              <a:rPr lang="en-US" sz="1700" dirty="0"/>
              <a:t> β</a:t>
            </a:r>
            <a:r>
              <a:rPr lang="en-US" sz="1700" dirty="0" err="1"/>
              <a:t>ρίσκει</a:t>
            </a:r>
            <a:r>
              <a:rPr lang="en-US" sz="1700" dirty="0"/>
              <a:t> </a:t>
            </a:r>
            <a:r>
              <a:rPr lang="en-US" sz="1700" dirty="0" err="1"/>
              <a:t>τον</a:t>
            </a:r>
            <a:r>
              <a:rPr lang="en-US" sz="1700" dirty="0"/>
              <a:t> Router </a:t>
            </a:r>
            <a:r>
              <a:rPr lang="en-US" sz="1700" dirty="0" err="1"/>
              <a:t>ελεύθερο</a:t>
            </a:r>
            <a:r>
              <a:rPr lang="en-US" sz="1700" dirty="0"/>
              <a:t> και </a:t>
            </a:r>
            <a:r>
              <a:rPr lang="en-US" sz="1700" dirty="0" err="1"/>
              <a:t>εξυ</a:t>
            </a:r>
            <a:r>
              <a:rPr lang="en-US" sz="1700" dirty="0"/>
              <a:t>πηρετείται αμέσως.  </a:t>
            </a:r>
            <a:br>
              <a:rPr lang="en-US" sz="1700" dirty="0"/>
            </a:br>
            <a:br>
              <a:rPr lang="en-US" sz="1700" dirty="0"/>
            </a:br>
            <a:r>
              <a:rPr lang="en-US" sz="1700" b="1" dirty="0"/>
              <a:t>Packet Loss </a:t>
            </a:r>
            <a:r>
              <a:rPr lang="en-US" sz="1700" dirty="0"/>
              <a:t>(Απ</a:t>
            </a:r>
            <a:r>
              <a:rPr lang="en-US" sz="1700" dirty="0" err="1"/>
              <a:t>ώλειες</a:t>
            </a:r>
            <a:r>
              <a:rPr lang="en-US" sz="1700" dirty="0"/>
              <a:t>):  </a:t>
            </a:r>
            <a:r>
              <a:rPr lang="en-US" sz="1700" dirty="0" err="1"/>
              <a:t>Μηδενικό</a:t>
            </a:r>
            <a:r>
              <a:rPr lang="en-US" sz="1700" dirty="0"/>
              <a:t> (0%). Κα</a:t>
            </a:r>
            <a:r>
              <a:rPr lang="en-US" sz="1700" dirty="0" err="1"/>
              <a:t>νέν</a:t>
            </a:r>
            <a:r>
              <a:rPr lang="en-US" sz="1700" dirty="0"/>
              <a:t>α πακέτο δεν χάνεται, καθώς η ουρά δεν γεμίζει ποτέ. </a:t>
            </a:r>
            <a:br>
              <a:rPr lang="en-US" sz="1700" dirty="0"/>
            </a:br>
            <a:br>
              <a:rPr lang="en-US" sz="1700" dirty="0"/>
            </a:br>
            <a:r>
              <a:rPr lang="en-US" sz="1700" dirty="0"/>
              <a:t> </a:t>
            </a:r>
            <a:r>
              <a:rPr lang="en-US" sz="1700" b="1" dirty="0"/>
              <a:t>Throughput</a:t>
            </a:r>
            <a:r>
              <a:rPr lang="en-US" sz="1700" dirty="0"/>
              <a:t> (</a:t>
            </a:r>
            <a:r>
              <a:rPr lang="en-US" sz="1700" dirty="0" err="1"/>
              <a:t>Ρυθμ</a:t>
            </a:r>
            <a:r>
              <a:rPr lang="en-US" sz="1700" dirty="0"/>
              <a:t>απόδοση):  Σταθεροποιείται στα 1.6 Mbps.  </a:t>
            </a:r>
            <a:r>
              <a:rPr lang="en-US" sz="1700" dirty="0" err="1"/>
              <a:t>Προσοχή</a:t>
            </a:r>
            <a:r>
              <a:rPr lang="en-US" sz="1700" dirty="0"/>
              <a:t>: </a:t>
            </a:r>
            <a:r>
              <a:rPr lang="en-US" sz="1700" dirty="0" err="1"/>
              <a:t>Δεν</a:t>
            </a:r>
            <a:r>
              <a:rPr lang="en-US" sz="1700" dirty="0"/>
              <a:t> </a:t>
            </a:r>
            <a:r>
              <a:rPr lang="en-US" sz="1700" dirty="0" err="1"/>
              <a:t>φτάνει</a:t>
            </a:r>
            <a:r>
              <a:rPr lang="en-US" sz="1700" dirty="0"/>
              <a:t> τα 10 Mbps </a:t>
            </a:r>
            <a:r>
              <a:rPr lang="en-US" sz="1700" dirty="0" err="1"/>
              <a:t>γι</a:t>
            </a:r>
            <a:r>
              <a:rPr lang="en-US" sz="1700" dirty="0"/>
              <a:t>ατί η πηγή στέλνει μόνο 1.6 Mbps. </a:t>
            </a:r>
            <a:r>
              <a:rPr lang="en-US" sz="1700" dirty="0" err="1"/>
              <a:t>Το</a:t>
            </a:r>
            <a:r>
              <a:rPr lang="en-US" sz="1700" dirty="0"/>
              <a:t> </a:t>
            </a:r>
            <a:r>
              <a:rPr lang="en-US" sz="1700" dirty="0" err="1"/>
              <a:t>δίκτυο</a:t>
            </a:r>
            <a:r>
              <a:rPr lang="en-US" sz="1700" dirty="0"/>
              <a:t> απ</a:t>
            </a:r>
            <a:r>
              <a:rPr lang="en-US" sz="1700" dirty="0" err="1"/>
              <a:t>λά</a:t>
            </a:r>
            <a:r>
              <a:rPr lang="en-US" sz="1700" dirty="0"/>
              <a:t> </a:t>
            </a:r>
            <a:r>
              <a:rPr lang="en-US" sz="1700" dirty="0" err="1"/>
              <a:t>μετ</a:t>
            </a:r>
            <a:r>
              <a:rPr lang="en-US" sz="1700" dirty="0"/>
              <a:t>αφέρει ό,τι του δίνουμε χωρίς πρόβλημα.</a:t>
            </a:r>
          </a:p>
        </p:txBody>
      </p:sp>
    </p:spTree>
    <p:extLst>
      <p:ext uri="{BB962C8B-B14F-4D97-AF65-F5344CB8AC3E}">
        <p14:creationId xmlns:p14="http://schemas.microsoft.com/office/powerpoint/2010/main" val="32428675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F2BB33B-B297-857B-49F3-0DC33B4044EE}"/>
              </a:ext>
            </a:extLst>
          </p:cNvPr>
          <p:cNvPicPr>
            <a:picLocks noChangeAspect="1"/>
          </p:cNvPicPr>
          <p:nvPr/>
        </p:nvPicPr>
        <p:blipFill>
          <a:blip r:embed="rId2"/>
          <a:stretch>
            <a:fillRect/>
          </a:stretch>
        </p:blipFill>
        <p:spPr>
          <a:xfrm>
            <a:off x="0" y="76200"/>
            <a:ext cx="12192000" cy="6781800"/>
          </a:xfrm>
          <a:prstGeom prst="rect">
            <a:avLst/>
          </a:prstGeom>
        </p:spPr>
      </p:pic>
      <p:sp>
        <p:nvSpPr>
          <p:cNvPr id="4" name="TextBox 3">
            <a:extLst>
              <a:ext uri="{FF2B5EF4-FFF2-40B4-BE49-F238E27FC236}">
                <a16:creationId xmlns:a16="http://schemas.microsoft.com/office/drawing/2014/main" id="{C0533C2F-0057-6547-E25C-E0B42CA2C574}"/>
              </a:ext>
            </a:extLst>
          </p:cNvPr>
          <p:cNvSpPr txBox="1"/>
          <p:nvPr/>
        </p:nvSpPr>
        <p:spPr>
          <a:xfrm>
            <a:off x="0" y="210312"/>
            <a:ext cx="2907792" cy="400110"/>
          </a:xfrm>
          <a:prstGeom prst="rect">
            <a:avLst/>
          </a:prstGeom>
          <a:noFill/>
        </p:spPr>
        <p:txBody>
          <a:bodyPr wrap="square" rtlCol="0">
            <a:spAutoFit/>
          </a:bodyPr>
          <a:lstStyle/>
          <a:p>
            <a:r>
              <a:rPr lang="en-US" sz="2000" b="1" dirty="0"/>
              <a:t>10Mbps</a:t>
            </a:r>
          </a:p>
        </p:txBody>
      </p:sp>
    </p:spTree>
    <p:extLst>
      <p:ext uri="{BB962C8B-B14F-4D97-AF65-F5344CB8AC3E}">
        <p14:creationId xmlns:p14="http://schemas.microsoft.com/office/powerpoint/2010/main" val="10777831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A3F646D-4ED9-CA9E-6A41-FA4BE504B1A6}"/>
            </a:ext>
          </a:extLst>
        </p:cNvPr>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AA9BA0-05C2-009C-A665-C1B575593739}"/>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b="1" kern="1200">
                <a:solidFill>
                  <a:srgbClr val="FFFFFF"/>
                </a:solidFill>
                <a:latin typeface="+mj-lt"/>
                <a:ea typeface="+mj-ea"/>
                <a:cs typeface="+mj-cs"/>
              </a:rPr>
              <a:t>Ανάλυση Υπερ-επάρκειας</a:t>
            </a:r>
            <a:br>
              <a:rPr lang="en-US" sz="3400" b="1" kern="1200">
                <a:solidFill>
                  <a:srgbClr val="FFFFFF"/>
                </a:solidFill>
                <a:latin typeface="+mj-lt"/>
                <a:ea typeface="+mj-ea"/>
                <a:cs typeface="+mj-cs"/>
              </a:rPr>
            </a:br>
            <a:r>
              <a:rPr lang="en-US" sz="3400" b="1" kern="1200">
                <a:solidFill>
                  <a:srgbClr val="FFFFFF"/>
                </a:solidFill>
                <a:latin typeface="+mj-lt"/>
                <a:ea typeface="+mj-ea"/>
                <a:cs typeface="+mj-cs"/>
              </a:rPr>
              <a:t>(100 Mbps)</a:t>
            </a:r>
          </a:p>
        </p:txBody>
      </p:sp>
      <p:sp>
        <p:nvSpPr>
          <p:cNvPr id="3" name="Subtitle 2">
            <a:extLst>
              <a:ext uri="{FF2B5EF4-FFF2-40B4-BE49-F238E27FC236}">
                <a16:creationId xmlns:a16="http://schemas.microsoft.com/office/drawing/2014/main" id="{9D413A8B-CC5B-0D79-B52F-5DE0490B63CF}"/>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b="1"/>
              <a:t>Queue Size </a:t>
            </a:r>
            <a:r>
              <a:rPr lang="en-US" sz="2000"/>
              <a:t>(Μέγεθος Ουράς):  Η γραμμή είναι "νεκρή" στο 0.  Στα 100 Mbps, ο Router σπρώχνει το πακέτο σε μόλις 0.08ms. Η ουρά είναι άδεια το 99.9% του χρόνου.  </a:t>
            </a:r>
            <a:br>
              <a:rPr lang="en-US" sz="2000"/>
            </a:br>
            <a:br>
              <a:rPr lang="en-US" sz="2000"/>
            </a:br>
            <a:r>
              <a:rPr lang="en-US" sz="2000" b="1"/>
              <a:t>End-to-End Delay </a:t>
            </a:r>
            <a:r>
              <a:rPr lang="en-US" sz="2000"/>
              <a:t>(Καθυστέρηση):  Παραμένει σταθερή στο ελάχιστο (~0.10s).  Παρατήρηση: Δεν υπάρχει ορατή διαφορά από τα 10 Mbps, καθώς η καθυστέρηση μετάδοσης (0.08ms) είναι πλέον αμελητέα σε σχέση με την καθυστέρηση διάδοσης (100ms).  </a:t>
            </a:r>
            <a:br>
              <a:rPr lang="en-US" sz="2000"/>
            </a:br>
            <a:br>
              <a:rPr lang="en-US" sz="2000"/>
            </a:br>
            <a:r>
              <a:rPr lang="en-US" sz="2000" b="1"/>
              <a:t>Packet Loss </a:t>
            </a:r>
            <a:r>
              <a:rPr lang="en-US" sz="2000"/>
              <a:t>(Απώλειες):  Απόλυτο 0%. Το δίκτυο είναι εξαιρετικά άνετο.  </a:t>
            </a:r>
            <a:br>
              <a:rPr lang="en-US" sz="2000"/>
            </a:br>
            <a:br>
              <a:rPr lang="en-US" sz="2000"/>
            </a:br>
            <a:r>
              <a:rPr lang="en-US" sz="2000" b="1"/>
              <a:t>Throughput</a:t>
            </a:r>
            <a:r>
              <a:rPr lang="en-US" sz="2000"/>
              <a:t> (Ρυθμαπόδοση):  Σταθεροποιείται στα 1.6 Mbps.  Συμπέρασμα: Το δίκτυο έχει τεράστιο περιθώριο (αντέχει 100 Mbps), αλλά αξιοποιούμε μόνο το 1.6% της χωρητικότητάς του</a:t>
            </a:r>
            <a:r>
              <a:rPr lang="en-US" sz="2000" b="1"/>
              <a:t>.</a:t>
            </a:r>
            <a:endParaRPr lang="en-US" sz="2000"/>
          </a:p>
        </p:txBody>
      </p:sp>
    </p:spTree>
    <p:extLst>
      <p:ext uri="{BB962C8B-B14F-4D97-AF65-F5344CB8AC3E}">
        <p14:creationId xmlns:p14="http://schemas.microsoft.com/office/powerpoint/2010/main" val="7739824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83AF4F3-C589-D9F9-B886-588A1922966D}"/>
              </a:ext>
            </a:extLst>
          </p:cNvPr>
          <p:cNvPicPr>
            <a:picLocks noChangeAspect="1"/>
          </p:cNvPicPr>
          <p:nvPr/>
        </p:nvPicPr>
        <p:blipFill>
          <a:blip r:embed="rId2"/>
          <a:stretch>
            <a:fillRect/>
          </a:stretch>
        </p:blipFill>
        <p:spPr>
          <a:xfrm>
            <a:off x="0" y="0"/>
            <a:ext cx="12192000" cy="6705600"/>
          </a:xfrm>
          <a:prstGeom prst="rect">
            <a:avLst/>
          </a:prstGeom>
        </p:spPr>
      </p:pic>
      <p:sp>
        <p:nvSpPr>
          <p:cNvPr id="4" name="TextBox 3">
            <a:extLst>
              <a:ext uri="{FF2B5EF4-FFF2-40B4-BE49-F238E27FC236}">
                <a16:creationId xmlns:a16="http://schemas.microsoft.com/office/drawing/2014/main" id="{2A4C1C95-B4D5-79A5-F7CD-93317DB4AA8B}"/>
              </a:ext>
            </a:extLst>
          </p:cNvPr>
          <p:cNvSpPr txBox="1"/>
          <p:nvPr/>
        </p:nvSpPr>
        <p:spPr>
          <a:xfrm>
            <a:off x="0" y="152400"/>
            <a:ext cx="2066925" cy="400110"/>
          </a:xfrm>
          <a:prstGeom prst="rect">
            <a:avLst/>
          </a:prstGeom>
          <a:noFill/>
        </p:spPr>
        <p:txBody>
          <a:bodyPr wrap="square" rtlCol="0">
            <a:spAutoFit/>
          </a:bodyPr>
          <a:lstStyle/>
          <a:p>
            <a:r>
              <a:rPr lang="en-US" sz="2000" b="1" dirty="0"/>
              <a:t>100Mbps</a:t>
            </a:r>
          </a:p>
        </p:txBody>
      </p:sp>
    </p:spTree>
    <p:extLst>
      <p:ext uri="{BB962C8B-B14F-4D97-AF65-F5344CB8AC3E}">
        <p14:creationId xmlns:p14="http://schemas.microsoft.com/office/powerpoint/2010/main" val="36832874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B44253C-2660-3A6A-F9B0-04D09B7E9C4D}"/>
              </a:ext>
            </a:extLst>
          </p:cNvPr>
          <p:cNvSpPr>
            <a:spLocks noGrp="1"/>
          </p:cNvSpPr>
          <p:nvPr>
            <p:ph type="ctrTitle"/>
          </p:nvPr>
        </p:nvSpPr>
        <p:spPr>
          <a:xfrm>
            <a:off x="645065" y="1463040"/>
            <a:ext cx="3796306" cy="2690949"/>
          </a:xfrm>
        </p:spPr>
        <p:txBody>
          <a:bodyPr vert="horz" lIns="91440" tIns="45720" rIns="91440" bIns="45720" rtlCol="0" anchor="t">
            <a:normAutofit/>
          </a:bodyPr>
          <a:lstStyle/>
          <a:p>
            <a:pPr algn="l"/>
            <a:r>
              <a:rPr lang="en-US" sz="4400" b="1" kern="1200" dirty="0" err="1">
                <a:solidFill>
                  <a:schemeClr val="tx1"/>
                </a:solidFill>
                <a:latin typeface="+mj-lt"/>
                <a:ea typeface="+mj-ea"/>
                <a:cs typeface="+mj-cs"/>
              </a:rPr>
              <a:t>Σύγκριση</a:t>
            </a:r>
            <a:r>
              <a:rPr lang="en-US" sz="4400" b="1" kern="1200" dirty="0">
                <a:solidFill>
                  <a:schemeClr val="tx1"/>
                </a:solidFill>
                <a:latin typeface="+mj-lt"/>
                <a:ea typeface="+mj-ea"/>
                <a:cs typeface="+mj-cs"/>
              </a:rPr>
              <a:t> </a:t>
            </a:r>
            <a:r>
              <a:rPr lang="en-US" sz="4400" b="1" kern="1200" dirty="0" err="1">
                <a:solidFill>
                  <a:schemeClr val="tx1"/>
                </a:solidFill>
                <a:latin typeface="+mj-lt"/>
                <a:ea typeface="+mj-ea"/>
                <a:cs typeface="+mj-cs"/>
              </a:rPr>
              <a:t>Σεν</a:t>
            </a:r>
            <a:r>
              <a:rPr lang="en-US" sz="4400" b="1" kern="1200" dirty="0">
                <a:solidFill>
                  <a:schemeClr val="tx1"/>
                </a:solidFill>
                <a:latin typeface="+mj-lt"/>
                <a:ea typeface="+mj-ea"/>
                <a:cs typeface="+mj-cs"/>
              </a:rPr>
              <a:t>αρίων &amp; Συμπεράσματα</a:t>
            </a:r>
          </a:p>
        </p:txBody>
      </p:sp>
      <p:grpSp>
        <p:nvGrpSpPr>
          <p:cNvPr id="11" name="Group 10">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2" name="Rectangle 1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5" name="Rectangle 1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12A3B4F0-F903-374B-AD31-0488F604F8DE}"/>
              </a:ext>
            </a:extLst>
          </p:cNvPr>
          <p:cNvSpPr>
            <a:spLocks noGrp="1" noChangeArrowheads="1"/>
          </p:cNvSpPr>
          <p:nvPr>
            <p:ph type="subTitle" idx="1"/>
          </p:nvPr>
        </p:nvSpPr>
        <p:spPr bwMode="auto">
          <a:xfrm>
            <a:off x="5656218" y="1463039"/>
            <a:ext cx="5542387" cy="43004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t" anchorCtr="0" compatLnSpc="1">
            <a:prstTxWarp prst="textNoShape">
              <a:avLst/>
            </a:prstTxWarp>
            <a:normAutofit lnSpcReduction="10000"/>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a:ln>
                  <a:noFill/>
                </a:ln>
                <a:effectLst/>
              </a:rPr>
              <a:t>1 Mbps vs.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α</a:t>
            </a:r>
            <a:r>
              <a:rPr kumimoji="0" lang="en-US" altLang="en-US" sz="1500" b="0" i="0" u="none" strike="noStrike" cap="none" normalizeH="0" baseline="0" dirty="0" err="1">
                <a:ln>
                  <a:noFill/>
                </a:ln>
                <a:effectLst/>
              </a:rPr>
              <a:t>ύξηση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του</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έλυσε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ρό</a:t>
            </a:r>
            <a:r>
              <a:rPr kumimoji="0" lang="en-US" altLang="en-US" sz="1500" b="0" i="0" u="none" strike="noStrike" cap="none" normalizeH="0" baseline="0" dirty="0">
                <a:ln>
                  <a:noFill/>
                </a:ln>
                <a:effectLst/>
              </a:rPr>
              <a:t>βλημα του "Bottleneck".</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err="1">
                <a:ln>
                  <a:noFill/>
                </a:ln>
                <a:effectLst/>
              </a:rPr>
              <a:t>Περάσ</a:t>
            </a:r>
            <a:r>
              <a:rPr kumimoji="0" lang="en-US" altLang="en-US" sz="1500" b="0" i="0" u="none" strike="noStrike" cap="none" normalizeH="0" baseline="0" dirty="0">
                <a:ln>
                  <a:noFill/>
                </a:ln>
                <a:effectLst/>
              </a:rPr>
              <a:t>αμε από ένα ασταθές δίκτυο (με απώλειες) σε ένα πλήρως λειτουργικό δίκτυο.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Γι</a:t>
            </a:r>
            <a:r>
              <a:rPr kumimoji="0" lang="en-US" altLang="en-US" sz="1500" b="1" i="0" u="none" strike="noStrike" cap="none" normalizeH="0" baseline="0" dirty="0">
                <a:ln>
                  <a:noFill/>
                </a:ln>
                <a:effectLst/>
              </a:rPr>
              <a:t>ατί τα 100 Mbps είναι ίδια με τα 10 Mbps;</a:t>
            </a: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Τα </a:t>
            </a:r>
            <a:r>
              <a:rPr kumimoji="0" lang="en-US" altLang="en-US" sz="1500" b="0" i="0" u="none" strike="noStrike" cap="none" normalizeH="0" baseline="0" dirty="0" err="1">
                <a:ln>
                  <a:noFill/>
                </a:ln>
                <a:effectLst/>
              </a:rPr>
              <a:t>γρ</a:t>
            </a:r>
            <a:r>
              <a:rPr kumimoji="0" lang="en-US" altLang="en-US" sz="1500" b="0" i="0" u="none" strike="noStrike" cap="none" normalizeH="0" baseline="0" dirty="0">
                <a:ln>
                  <a:noFill/>
                </a:ln>
                <a:effectLst/>
              </a:rPr>
              <a:t>αφήματα είναι πανομοιότυπα.</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Από </a:t>
            </a:r>
            <a:r>
              <a:rPr kumimoji="0" lang="en-US" altLang="en-US" sz="1500" b="0" i="0" u="none" strike="noStrike" cap="none" normalizeH="0" baseline="0" dirty="0" err="1">
                <a:ln>
                  <a:noFill/>
                </a:ln>
                <a:effectLst/>
              </a:rPr>
              <a:t>τη</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στιγμή</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ου</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το</a:t>
            </a:r>
            <a:r>
              <a:rPr kumimoji="0" lang="en-US" altLang="en-US" sz="1500" b="0" i="0" u="none" strike="noStrike" cap="none" normalizeH="0" baseline="0" dirty="0">
                <a:ln>
                  <a:noFill/>
                </a:ln>
                <a:effectLst/>
              </a:rPr>
              <a:t> Bandwidth </a:t>
            </a:r>
            <a:r>
              <a:rPr kumimoji="0" lang="en-US" altLang="en-US" sz="1500" b="0" i="0" u="none" strike="noStrike" cap="none" normalizeH="0" baseline="0" dirty="0" err="1">
                <a:ln>
                  <a:noFill/>
                </a:ln>
                <a:effectLst/>
              </a:rPr>
              <a:t>κάλυψε</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τις</a:t>
            </a:r>
            <a:r>
              <a:rPr kumimoji="0" lang="en-US" altLang="en-US" sz="1500" b="0" i="0" u="none" strike="noStrike" cap="none" normalizeH="0" baseline="0" dirty="0">
                <a:ln>
                  <a:noFill/>
                </a:ln>
                <a:effectLst/>
              </a:rPr>
              <a:t> α</a:t>
            </a:r>
            <a:r>
              <a:rPr kumimoji="0" lang="en-US" altLang="en-US" sz="1500" b="0" i="0" u="none" strike="noStrike" cap="none" normalizeH="0" baseline="0" dirty="0" err="1">
                <a:ln>
                  <a:noFill/>
                </a:ln>
                <a:effectLst/>
              </a:rPr>
              <a:t>νάγκες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της</a:t>
            </a:r>
            <a:r>
              <a:rPr kumimoji="0" lang="en-US" altLang="en-US" sz="1500" b="0" i="0" u="none" strike="noStrike" cap="none" normalizeH="0" baseline="0" dirty="0">
                <a:ln>
                  <a:noFill/>
                </a:ln>
                <a:effectLst/>
              </a:rPr>
              <a:t> π</a:t>
            </a:r>
            <a:r>
              <a:rPr kumimoji="0" lang="en-US" altLang="en-US" sz="1500" b="0" i="0" u="none" strike="noStrike" cap="none" normalizeH="0" baseline="0" dirty="0" err="1">
                <a:ln>
                  <a:noFill/>
                </a:ln>
                <a:effectLst/>
              </a:rPr>
              <a:t>ηγής</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στ</a:t>
            </a:r>
            <a:r>
              <a:rPr kumimoji="0" lang="en-US" altLang="en-US" sz="1500" b="0" i="0" u="none" strike="noStrike" cap="none" normalizeH="0" baseline="0" dirty="0">
                <a:ln>
                  <a:noFill/>
                </a:ln>
                <a:effectLst/>
              </a:rPr>
              <a:t>α 10 Mbps), οποιαδήποτε περαιτέρω αύξηση (100 Mbps) παραμένει ανεκμετάλλευτη για τον συγκεκριμένο φόρτο.</a:t>
            </a:r>
            <a:br>
              <a:rPr kumimoji="0" lang="el-GR" altLang="en-US" sz="1500" b="0"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1" i="0" u="none" strike="noStrike" cap="none" normalizeH="0" baseline="0" dirty="0" err="1">
                <a:ln>
                  <a:noFill/>
                </a:ln>
                <a:effectLst/>
              </a:rPr>
              <a:t>Τελικό</a:t>
            </a:r>
            <a:r>
              <a:rPr kumimoji="0" lang="en-US" altLang="en-US" sz="1500" b="1" i="0" u="none" strike="noStrike" cap="none" normalizeH="0" baseline="0" dirty="0">
                <a:ln>
                  <a:noFill/>
                </a:ln>
                <a:effectLst/>
              </a:rPr>
              <a:t> </a:t>
            </a:r>
            <a:r>
              <a:rPr kumimoji="0" lang="en-US" altLang="en-US" sz="1500" b="1" i="0" u="none" strike="noStrike" cap="none" normalizeH="0" baseline="0" dirty="0" err="1">
                <a:ln>
                  <a:noFill/>
                </a:ln>
                <a:effectLst/>
              </a:rPr>
              <a:t>Συμ</a:t>
            </a:r>
            <a:r>
              <a:rPr kumimoji="0" lang="en-US" altLang="en-US" sz="1500" b="1" i="0" u="none" strike="noStrike" cap="none" normalizeH="0" baseline="0" dirty="0">
                <a:ln>
                  <a:noFill/>
                </a:ln>
                <a:effectLst/>
              </a:rPr>
              <a:t>πέρασμα:</a:t>
            </a:r>
            <a:br>
              <a:rPr kumimoji="0" lang="el-GR" altLang="en-US" sz="1500" b="1" i="0" u="none" strike="noStrike" cap="none" normalizeH="0" baseline="0" dirty="0">
                <a:ln>
                  <a:noFill/>
                </a:ln>
                <a:effectLst/>
              </a:rPr>
            </a:br>
            <a:endParaRPr kumimoji="0" lang="en-US" altLang="en-US" sz="1500" b="0" i="0" u="none" strike="noStrike" cap="none" normalizeH="0" baseline="0" dirty="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συμφόρηση</a:t>
            </a:r>
            <a:r>
              <a:rPr kumimoji="0" lang="en-US" altLang="en-US" sz="1500" b="0" i="0" u="none" strike="noStrike" cap="none" normalizeH="0" baseline="0" dirty="0">
                <a:ln>
                  <a:noFill/>
                </a:ln>
                <a:effectLst/>
              </a:rPr>
              <a:t> (Congestion) </a:t>
            </a:r>
            <a:r>
              <a:rPr kumimoji="0" lang="en-US" altLang="en-US" sz="1500" b="0" i="0" u="none" strike="noStrike" cap="none" normalizeH="0" baseline="0" dirty="0" err="1">
                <a:ln>
                  <a:noFill/>
                </a:ln>
                <a:effectLst/>
              </a:rPr>
              <a:t>δημιουργείτ</a:t>
            </a:r>
            <a:r>
              <a:rPr kumimoji="0" lang="en-US" altLang="en-US" sz="1500" b="0" i="0" u="none" strike="noStrike" cap="none" normalizeH="0" baseline="0" dirty="0">
                <a:ln>
                  <a:noFill/>
                </a:ln>
                <a:effectLst/>
              </a:rPr>
              <a:t>αι </a:t>
            </a:r>
            <a:r>
              <a:rPr kumimoji="0" lang="en-US" altLang="en-US" sz="1500" b="1" i="0" u="none" strike="noStrike" cap="none" normalizeH="0" baseline="0" dirty="0">
                <a:ln>
                  <a:noFill/>
                </a:ln>
                <a:effectLst/>
              </a:rPr>
              <a:t>μόνο</a:t>
            </a:r>
            <a:r>
              <a:rPr kumimoji="0" lang="en-US" altLang="en-US" sz="1500" b="0" i="0" u="none" strike="noStrike" cap="none" normalizeH="0" baseline="0" dirty="0">
                <a:ln>
                  <a:noFill/>
                </a:ln>
                <a:effectLst/>
              </a:rPr>
              <a:t> όταν ο ρυθμός άφιξης δεδομένων ξεπερνά τον ρυθμό εξυπηρέτησης (Bandwidth) του δικτύου.</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1500" b="0" i="0" u="none" strike="noStrike" cap="none" normalizeH="0" baseline="0" dirty="0">
                <a:ln>
                  <a:noFill/>
                </a:ln>
                <a:effectLst/>
              </a:rPr>
              <a:t>Η </a:t>
            </a:r>
            <a:r>
              <a:rPr kumimoji="0" lang="en-US" altLang="en-US" sz="1500" b="0" i="0" u="none" strike="noStrike" cap="none" normalizeH="0" baseline="0" dirty="0" err="1">
                <a:ln>
                  <a:noFill/>
                </a:ln>
                <a:effectLst/>
              </a:rPr>
              <a:t>σωστή</a:t>
            </a:r>
            <a:r>
              <a:rPr kumimoji="0" lang="en-US" altLang="en-US" sz="1500" b="0" i="0" u="none" strike="noStrike" cap="none" normalizeH="0" baseline="0" dirty="0">
                <a:ln>
                  <a:noFill/>
                </a:ln>
                <a:effectLst/>
              </a:rPr>
              <a:t> </a:t>
            </a:r>
            <a:r>
              <a:rPr kumimoji="0" lang="en-US" altLang="en-US" sz="1500" b="0" i="0" u="none" strike="noStrike" cap="none" normalizeH="0" baseline="0" dirty="0" err="1">
                <a:ln>
                  <a:noFill/>
                </a:ln>
                <a:effectLst/>
              </a:rPr>
              <a:t>δι</a:t>
            </a:r>
            <a:r>
              <a:rPr kumimoji="0" lang="en-US" altLang="en-US" sz="1500" b="0" i="0" u="none" strike="noStrike" cap="none" normalizeH="0" baseline="0" dirty="0">
                <a:ln>
                  <a:noFill/>
                </a:ln>
                <a:effectLst/>
              </a:rPr>
              <a:t>αστασιολόγηση του Bandwidth είναι κρίσιμη για την αποφυγή απωλειών και καθυστερήσεων.</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1500" b="0" i="0" u="none" strike="noStrike" cap="none" normalizeH="0" baseline="0" dirty="0">
              <a:ln>
                <a:noFill/>
              </a:ln>
              <a:effectLst/>
            </a:endParaRPr>
          </a:p>
        </p:txBody>
      </p:sp>
    </p:spTree>
    <p:extLst>
      <p:ext uri="{BB962C8B-B14F-4D97-AF65-F5344CB8AC3E}">
        <p14:creationId xmlns:p14="http://schemas.microsoft.com/office/powerpoint/2010/main" val="33360018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78DF5BE9-FDD7-CDBB-5A97-B0B6AACBBB65}"/>
              </a:ext>
            </a:extLst>
          </p:cNvPr>
          <p:cNvSpPr>
            <a:spLocks noGrp="1"/>
          </p:cNvSpPr>
          <p:nvPr>
            <p:ph type="ctr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Πακέτου (Packet Size)</a:t>
            </a:r>
          </a:p>
        </p:txBody>
      </p:sp>
      <p:sp>
        <p:nvSpPr>
          <p:cNvPr id="3" name="Subtitle 2">
            <a:extLst>
              <a:ext uri="{FF2B5EF4-FFF2-40B4-BE49-F238E27FC236}">
                <a16:creationId xmlns:a16="http://schemas.microsoft.com/office/drawing/2014/main" id="{DC323905-E22C-E29C-C2A3-C05E0FF14B0E}"/>
              </a:ext>
            </a:extLst>
          </p:cNvPr>
          <p:cNvSpPr>
            <a:spLocks noGrp="1"/>
          </p:cNvSpPr>
          <p:nvPr>
            <p:ph type="subTitle" idx="1"/>
          </p:nvPr>
        </p:nvSpPr>
        <p:spPr>
          <a:xfrm>
            <a:off x="6503158" y="649480"/>
            <a:ext cx="4862447" cy="5546047"/>
          </a:xfrm>
        </p:spPr>
        <p:txBody>
          <a:bodyPr vert="horz" lIns="91440" tIns="45720" rIns="91440" bIns="45720" rtlCol="0" anchor="ctr">
            <a:normAutofit/>
          </a:bodyPr>
          <a:lstStyle/>
          <a:p>
            <a:pPr algn="l"/>
            <a:r>
              <a:rPr lang="en-US" sz="2000" b="1" dirty="0"/>
              <a:t>Η </a:t>
            </a:r>
            <a:r>
              <a:rPr lang="en-US" sz="2000" b="1" dirty="0" err="1"/>
              <a:t>Μεθοδολογί</a:t>
            </a:r>
            <a:r>
              <a:rPr lang="en-US" sz="2000" b="1" dirty="0"/>
              <a:t>α:  </a:t>
            </a:r>
            <a:br>
              <a:rPr lang="en-US" sz="2000" dirty="0"/>
            </a:br>
            <a:r>
              <a:rPr lang="en-US" sz="2000" dirty="0"/>
              <a:t>Κρατάμε σταθερά: Bandwidth (1 Mbps) και Ρυθμό Άφιξης (200 pkts/s).  </a:t>
            </a:r>
            <a:r>
              <a:rPr lang="en-US" sz="2000" dirty="0" err="1"/>
              <a:t>Μετ</a:t>
            </a:r>
            <a:r>
              <a:rPr lang="en-US" sz="2000" dirty="0"/>
              <a:t>αβάλλουμε το Packet Size: 100, 1000, 3000, 5000 Bytes.</a:t>
            </a:r>
            <a:br>
              <a:rPr lang="en-US" sz="2000" dirty="0"/>
            </a:br>
            <a:br>
              <a:rPr lang="en-US" sz="2000" dirty="0"/>
            </a:br>
            <a:r>
              <a:rPr lang="en-US" sz="2000" dirty="0"/>
              <a:t>  </a:t>
            </a:r>
            <a:r>
              <a:rPr lang="en-US" sz="2000" b="1" dirty="0" err="1"/>
              <a:t>Γι</a:t>
            </a:r>
            <a:r>
              <a:rPr lang="en-US" sz="2000" b="1" dirty="0"/>
              <a:t>ατί το κάνουμε αυτό;  </a:t>
            </a:r>
            <a:br>
              <a:rPr lang="en-US" sz="2000" dirty="0"/>
            </a:br>
            <a:r>
              <a:rPr lang="en-US" sz="2000" dirty="0"/>
              <a:t>Το μέγεθος πακέτου επηρεάζει άμεσα τον φόρτο (Load) και τον Χρόνο Μετάδοσης (Transmission Delay).  Load=Packet </a:t>
            </a:r>
            <a:r>
              <a:rPr lang="en-US" sz="2000" dirty="0" err="1"/>
              <a:t>Size×Rate</a:t>
            </a:r>
            <a:r>
              <a:rPr lang="en-US" sz="2000" dirty="0"/>
              <a:t>. </a:t>
            </a:r>
            <a:br>
              <a:rPr lang="en-US" sz="2000" dirty="0"/>
            </a:br>
            <a:br>
              <a:rPr lang="en-US" sz="2000" dirty="0"/>
            </a:br>
            <a:r>
              <a:rPr lang="en-US" sz="2000" dirty="0"/>
              <a:t> </a:t>
            </a:r>
            <a:r>
              <a:rPr lang="en-US" sz="2000" b="1" dirty="0" err="1"/>
              <a:t>Θεωρητική</a:t>
            </a:r>
            <a:r>
              <a:rPr lang="en-US" sz="2000" b="1" dirty="0"/>
              <a:t> </a:t>
            </a:r>
            <a:r>
              <a:rPr lang="en-US" sz="2000" b="1" dirty="0" err="1"/>
              <a:t>Πρό</a:t>
            </a:r>
            <a:r>
              <a:rPr lang="en-US" sz="2000" b="1" dirty="0"/>
              <a:t>βλεψη:  </a:t>
            </a:r>
            <a:br>
              <a:rPr lang="el-GR" sz="2000" b="1" dirty="0"/>
            </a:br>
            <a:r>
              <a:rPr lang="en-US" sz="2000" dirty="0"/>
              <a:t>100 Bytes: Load 0.16 Mbps (Άνετο).  5000 Bytes: Load 8.0 Mbps (</a:t>
            </a:r>
            <a:r>
              <a:rPr lang="en-US" sz="2000" dirty="0" err="1"/>
              <a:t>Ακρ</a:t>
            </a:r>
            <a:r>
              <a:rPr lang="en-US" sz="2000" dirty="0"/>
              <a:t>αία Συμφόρηση).</a:t>
            </a:r>
          </a:p>
        </p:txBody>
      </p:sp>
    </p:spTree>
    <p:extLst>
      <p:ext uri="{BB962C8B-B14F-4D97-AF65-F5344CB8AC3E}">
        <p14:creationId xmlns:p14="http://schemas.microsoft.com/office/powerpoint/2010/main" val="137445128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24CCF7B-6909-711E-0280-2DC3690FF0C1}"/>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3400" kern="1200" dirty="0" err="1">
                <a:solidFill>
                  <a:srgbClr val="FFFFFF"/>
                </a:solidFill>
                <a:latin typeface="+mj-lt"/>
                <a:ea typeface="+mj-ea"/>
                <a:cs typeface="+mj-cs"/>
              </a:rPr>
              <a:t>Μικρά</a:t>
            </a:r>
            <a:r>
              <a:rPr lang="en-US" sz="3400" kern="1200" dirty="0">
                <a:solidFill>
                  <a:srgbClr val="FFFFFF"/>
                </a:solidFill>
                <a:latin typeface="+mj-lt"/>
                <a:ea typeface="+mj-ea"/>
                <a:cs typeface="+mj-cs"/>
              </a:rPr>
              <a:t>(100bytes) </a:t>
            </a:r>
            <a:r>
              <a:rPr lang="en-US" sz="3400" kern="1200" dirty="0" err="1">
                <a:solidFill>
                  <a:srgbClr val="FFFFFF"/>
                </a:solidFill>
                <a:latin typeface="+mj-lt"/>
                <a:ea typeface="+mj-ea"/>
                <a:cs typeface="+mj-cs"/>
              </a:rPr>
              <a:t>ενάντι</a:t>
            </a:r>
            <a:r>
              <a:rPr lang="en-US" sz="3400" kern="1200" dirty="0">
                <a:solidFill>
                  <a:srgbClr val="FFFFFF"/>
                </a:solidFill>
                <a:latin typeface="+mj-lt"/>
                <a:ea typeface="+mj-ea"/>
                <a:cs typeface="+mj-cs"/>
              </a:rPr>
              <a:t>ας Μεσαία Πακέτα(1000bytes)</a:t>
            </a:r>
          </a:p>
        </p:txBody>
      </p:sp>
      <p:sp>
        <p:nvSpPr>
          <p:cNvPr id="4" name="Rectangle 1">
            <a:extLst>
              <a:ext uri="{FF2B5EF4-FFF2-40B4-BE49-F238E27FC236}">
                <a16:creationId xmlns:a16="http://schemas.microsoft.com/office/drawing/2014/main" id="{A69C52CF-8706-E878-135C-CC7540AD8A31}"/>
              </a:ext>
            </a:extLst>
          </p:cNvPr>
          <p:cNvSpPr>
            <a:spLocks noGrp="1" noChangeArrowheads="1"/>
          </p:cNvSpPr>
          <p:nvPr>
            <p:ph type="subTitle" idx="1"/>
          </p:nvPr>
        </p:nvSpPr>
        <p:spPr bwMode="auto">
          <a:xfrm>
            <a:off x="1371599" y="2318197"/>
            <a:ext cx="9724031" cy="3683358"/>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err="1">
                <a:ln>
                  <a:noFill/>
                </a:ln>
                <a:effectLst/>
              </a:rPr>
              <a:t>Μικρά</a:t>
            </a:r>
            <a:r>
              <a:rPr kumimoji="0" lang="en-US" altLang="en-US" sz="2000" b="1" i="0" u="none" strike="noStrike" cap="none" normalizeH="0" baseline="0" dirty="0">
                <a:ln>
                  <a:noFill/>
                </a:ln>
                <a:effectLst/>
              </a:rPr>
              <a:t>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Το δίκτυο υπολειτουργεί.</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a:t>
            </a:r>
            <a:r>
              <a:rPr kumimoji="0" lang="en-US" altLang="en-US" b="0" i="0" u="none" strike="noStrike" cap="none" normalizeH="0" baseline="0" dirty="0" err="1">
                <a:ln>
                  <a:noFill/>
                </a:ln>
                <a:effectLst/>
              </a:rPr>
              <a:t>Μόλις</a:t>
            </a:r>
            <a:r>
              <a:rPr kumimoji="0" lang="en-US" altLang="en-US" b="0" i="0" u="none" strike="noStrike" cap="none" normalizeH="0" baseline="0" dirty="0">
                <a:ln>
                  <a:noFill/>
                </a:ln>
                <a:effectLst/>
              </a:rPr>
              <a:t> 0.16 Mbps (</a:t>
            </a:r>
            <a:r>
              <a:rPr kumimoji="0" lang="en-US" altLang="en-US" b="0" i="0" u="none" strike="noStrike" cap="none" normalizeH="0" baseline="0" dirty="0" err="1">
                <a:ln>
                  <a:noFill/>
                </a:ln>
                <a:effectLst/>
              </a:rPr>
              <a:t>σε</a:t>
            </a:r>
            <a:r>
              <a:rPr kumimoji="0" lang="en-US" altLang="en-US" b="0" i="0" u="none" strike="noStrike" cap="none" normalizeH="0" baseline="0" dirty="0">
                <a:ln>
                  <a:noFill/>
                </a:ln>
                <a:effectLst/>
              </a:rPr>
              <a:t> κα</a:t>
            </a:r>
            <a:r>
              <a:rPr kumimoji="0" lang="en-US" altLang="en-US" b="0" i="0" u="none" strike="noStrike" cap="none" normalizeH="0" baseline="0" dirty="0" err="1">
                <a:ln>
                  <a:noFill/>
                </a:ln>
                <a:effectLst/>
              </a:rPr>
              <a:t>νάλι</a:t>
            </a:r>
            <a:r>
              <a:rPr kumimoji="0" lang="en-US" altLang="en-US" b="0" i="0" u="none" strike="noStrike" cap="none" normalizeH="0" baseline="0" dirty="0">
                <a:ln>
                  <a:noFill/>
                </a:ln>
                <a:effectLst/>
              </a:rPr>
              <a:t> 1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Ουρά άδεια, Απώλειες </a:t>
            </a:r>
            <a:r>
              <a:rPr kumimoji="0" lang="en-US" altLang="en-US" b="1" i="0" u="none" strike="noStrike" cap="none" normalizeH="0" baseline="0" dirty="0">
                <a:ln>
                  <a:noFill/>
                </a:ln>
                <a:effectLst/>
              </a:rPr>
              <a:t>0%</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Standard Πα</a:t>
            </a:r>
            <a:r>
              <a:rPr kumimoji="0" lang="en-US" altLang="en-US" sz="2000" b="1" i="0" u="none" strike="noStrike" cap="none" normalizeH="0" baseline="0" dirty="0" err="1">
                <a:ln>
                  <a:noFill/>
                </a:ln>
                <a:effectLst/>
              </a:rPr>
              <a:t>κέτ</a:t>
            </a:r>
            <a:r>
              <a:rPr kumimoji="0" lang="en-US" altLang="en-US" sz="2000" b="1" i="0" u="none" strike="noStrike" cap="none" normalizeH="0" baseline="0" dirty="0">
                <a:ln>
                  <a:noFill/>
                </a:ln>
                <a:effectLst/>
              </a:rPr>
              <a:t>α (1000 Bytes):</a:t>
            </a:r>
            <a:endParaRPr kumimoji="0" lang="en-US" altLang="en-US" sz="2000" b="0" i="0" u="none" strike="noStrike" cap="none" normalizeH="0" baseline="0" dirty="0">
              <a:ln>
                <a:noFill/>
              </a:ln>
              <a:effectLst/>
            </a:endParaRP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Κα</a:t>
            </a:r>
            <a:r>
              <a:rPr kumimoji="0" lang="en-US" altLang="en-US" b="1" i="0" u="none" strike="noStrike" cap="none" normalizeH="0" baseline="0" dirty="0" err="1">
                <a:ln>
                  <a:noFill/>
                </a:ln>
                <a:effectLst/>
              </a:rPr>
              <a:t>τάστ</a:t>
            </a:r>
            <a:r>
              <a:rPr kumimoji="0" lang="en-US" altLang="en-US" b="1" i="0" u="none" strike="noStrike" cap="none" normalizeH="0" baseline="0" dirty="0">
                <a:ln>
                  <a:noFill/>
                </a:ln>
                <a:effectLst/>
              </a:rPr>
              <a:t>αση:</a:t>
            </a:r>
            <a:r>
              <a:rPr kumimoji="0" lang="en-US" altLang="en-US" b="0" i="0" u="none" strike="noStrike" cap="none" normalizeH="0" baseline="0" dirty="0">
                <a:ln>
                  <a:noFill/>
                </a:ln>
                <a:effectLst/>
              </a:rPr>
              <a:t> Συμφόρηση (όπως είδαμε στο Ερώτημα 4).</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Load:</a:t>
            </a:r>
            <a:r>
              <a:rPr kumimoji="0" lang="en-US" altLang="en-US" b="0" i="0" u="none" strike="noStrike" cap="none" normalizeH="0" baseline="0" dirty="0">
                <a:ln>
                  <a:noFill/>
                </a:ln>
                <a:effectLst/>
              </a:rPr>
              <a:t> 1.6  Mbps.</a:t>
            </a:r>
          </a:p>
          <a:p>
            <a:pPr marL="457200" marR="0" lvl="1" indent="-228600" algn="l" fontAlgn="base">
              <a:spcBef>
                <a:spcPct val="0"/>
              </a:spcBef>
              <a:spcAft>
                <a:spcPts val="600"/>
              </a:spcAft>
              <a:buClrTx/>
              <a:buSzTx/>
              <a:buFont typeface="Arial" panose="020B0604020202020204" pitchFamily="34" charset="0"/>
              <a:buChar char="•"/>
              <a:tabLst/>
            </a:pPr>
            <a:r>
              <a:rPr kumimoji="0" lang="en-US" altLang="en-US" b="1" i="0" u="none" strike="noStrike" cap="none" normalizeH="0" baseline="0" dirty="0">
                <a:ln>
                  <a:noFill/>
                </a:ln>
                <a:effectLst/>
              </a:rPr>
              <a:t>Απ</a:t>
            </a:r>
            <a:r>
              <a:rPr kumimoji="0" lang="en-US" altLang="en-US" b="1" i="0" u="none" strike="noStrike" cap="none" normalizeH="0" baseline="0" dirty="0" err="1">
                <a:ln>
                  <a:noFill/>
                </a:ln>
                <a:effectLst/>
              </a:rPr>
              <a:t>οτέλεσμ</a:t>
            </a:r>
            <a:r>
              <a:rPr kumimoji="0" lang="en-US" altLang="en-US" b="1" i="0" u="none" strike="noStrike" cap="none" normalizeH="0" baseline="0" dirty="0">
                <a:ln>
                  <a:noFill/>
                </a:ln>
                <a:effectLst/>
              </a:rPr>
              <a:t>α:</a:t>
            </a:r>
            <a:r>
              <a:rPr kumimoji="0" lang="en-US" altLang="en-US" b="0" i="0" u="none" strike="noStrike" cap="none" normalizeH="0" baseline="0" dirty="0">
                <a:ln>
                  <a:noFill/>
                </a:ln>
                <a:effectLst/>
              </a:rPr>
              <a:t> Η ουρά γεμίζει, Απώλειες </a:t>
            </a:r>
            <a:r>
              <a:rPr kumimoji="0" lang="en-US" altLang="en-US" b="1" i="0" u="none" strike="noStrike" cap="none" normalizeH="0" baseline="0" dirty="0">
                <a:ln>
                  <a:noFill/>
                </a:ln>
                <a:effectLst/>
              </a:rPr>
              <a:t>~37.5%</a:t>
            </a:r>
            <a:r>
              <a:rPr kumimoji="0" lang="en-US" altLang="en-US" b="0" i="0" u="none" strike="noStrike" cap="none" normalizeH="0" baseline="0" dirty="0">
                <a:ln>
                  <a:noFill/>
                </a:ln>
                <a:effectLst/>
              </a:rPr>
              <a:t>.</a:t>
            </a:r>
          </a:p>
          <a:p>
            <a:pPr marL="0" marR="0" lvl="0" indent="-228600" algn="l"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23443490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5A58B3AD-66A5-AA91-0771-5E26A15C5762}"/>
              </a:ext>
            </a:extLst>
          </p:cNvPr>
          <p:cNvPicPr>
            <a:picLocks noChangeAspect="1"/>
          </p:cNvPicPr>
          <p:nvPr/>
        </p:nvPicPr>
        <p:blipFill>
          <a:blip r:embed="rId2"/>
          <a:stretch>
            <a:fillRect/>
          </a:stretch>
        </p:blipFill>
        <p:spPr>
          <a:xfrm>
            <a:off x="0" y="0"/>
            <a:ext cx="12106275" cy="6857999"/>
          </a:xfrm>
          <a:prstGeom prst="rect">
            <a:avLst/>
          </a:prstGeom>
        </p:spPr>
      </p:pic>
      <p:sp>
        <p:nvSpPr>
          <p:cNvPr id="3" name="TextBox 2">
            <a:extLst>
              <a:ext uri="{FF2B5EF4-FFF2-40B4-BE49-F238E27FC236}">
                <a16:creationId xmlns:a16="http://schemas.microsoft.com/office/drawing/2014/main" id="{77DBD750-C384-58B9-52AB-25EC39E83CE5}"/>
              </a:ext>
            </a:extLst>
          </p:cNvPr>
          <p:cNvSpPr txBox="1"/>
          <p:nvPr/>
        </p:nvSpPr>
        <p:spPr>
          <a:xfrm>
            <a:off x="0" y="114300"/>
            <a:ext cx="2981325" cy="461665"/>
          </a:xfrm>
          <a:prstGeom prst="rect">
            <a:avLst/>
          </a:prstGeom>
          <a:noFill/>
        </p:spPr>
        <p:txBody>
          <a:bodyPr wrap="square" rtlCol="0">
            <a:spAutoFit/>
          </a:bodyPr>
          <a:lstStyle/>
          <a:p>
            <a:r>
              <a:rPr lang="en-US" sz="2400" b="1" dirty="0"/>
              <a:t>100Bytes</a:t>
            </a:r>
          </a:p>
        </p:txBody>
      </p:sp>
    </p:spTree>
    <p:extLst>
      <p:ext uri="{BB962C8B-B14F-4D97-AF65-F5344CB8AC3E}">
        <p14:creationId xmlns:p14="http://schemas.microsoft.com/office/powerpoint/2010/main" val="9767181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08BBB8-F199-B08C-581D-D0AFD4126077}"/>
              </a:ext>
            </a:extLst>
          </p:cNvPr>
          <p:cNvSpPr>
            <a:spLocks noGrp="1"/>
          </p:cNvSpPr>
          <p:nvPr>
            <p:ph type="ctrTitle"/>
          </p:nvPr>
        </p:nvSpPr>
        <p:spPr>
          <a:xfrm>
            <a:off x="1371599" y="294538"/>
            <a:ext cx="9895951" cy="1033669"/>
          </a:xfrm>
        </p:spPr>
        <p:txBody>
          <a:bodyPr vert="horz" lIns="91440" tIns="45720" rIns="91440" bIns="45720" rtlCol="0" anchor="ctr">
            <a:normAutofit/>
          </a:bodyPr>
          <a:lstStyle/>
          <a:p>
            <a:pPr algn="l"/>
            <a:r>
              <a:rPr lang="en-US" sz="4000" kern="1200">
                <a:solidFill>
                  <a:srgbClr val="FFFFFF"/>
                </a:solidFill>
                <a:latin typeface="+mj-lt"/>
                <a:ea typeface="+mj-ea"/>
                <a:cs typeface="+mj-cs"/>
              </a:rPr>
              <a:t>Μεγάλα Πακέτα &amp; Ακραία Συμφόρηση</a:t>
            </a:r>
          </a:p>
        </p:txBody>
      </p:sp>
      <p:sp>
        <p:nvSpPr>
          <p:cNvPr id="3" name="Subtitle 2">
            <a:extLst>
              <a:ext uri="{FF2B5EF4-FFF2-40B4-BE49-F238E27FC236}">
                <a16:creationId xmlns:a16="http://schemas.microsoft.com/office/drawing/2014/main" id="{770C7CCB-6718-A6B8-3230-98460FD758E0}"/>
              </a:ext>
            </a:extLst>
          </p:cNvPr>
          <p:cNvSpPr>
            <a:spLocks noGrp="1"/>
          </p:cNvSpPr>
          <p:nvPr>
            <p:ph type="subTitle" idx="1"/>
          </p:nvPr>
        </p:nvSpPr>
        <p:spPr>
          <a:xfrm>
            <a:off x="1371599" y="2318197"/>
            <a:ext cx="9724031" cy="3683358"/>
          </a:xfrm>
        </p:spPr>
        <p:txBody>
          <a:bodyPr vert="horz" lIns="91440" tIns="45720" rIns="91440" bIns="45720" rtlCol="0" anchor="ctr">
            <a:normAutofit/>
          </a:bodyPr>
          <a:lstStyle/>
          <a:p>
            <a:pPr indent="-228600" algn="l">
              <a:buFont typeface="Arial" panose="020B0604020202020204" pitchFamily="34" charset="0"/>
              <a:buChar char="•"/>
            </a:pPr>
            <a:r>
              <a:rPr lang="en-US" sz="2000"/>
              <a:t>Το Πρόβλημα των Μεγάλων Πακέτων:  Όσο μεγαλώνει το πακέτο, τόσο περισσότερο χρόνο "μπλοκάρει" τον Router για να μεταδοθεί.  </a:t>
            </a:r>
            <a:br>
              <a:rPr lang="en-US" sz="2000"/>
            </a:br>
            <a:br>
              <a:rPr lang="en-US" sz="2000" b="1"/>
            </a:br>
            <a:r>
              <a:rPr lang="en-US" sz="2000" b="1"/>
              <a:t>3000 Bytes:  </a:t>
            </a:r>
            <a:br>
              <a:rPr lang="en-US" sz="2000"/>
            </a:br>
            <a:r>
              <a:rPr lang="en-US" sz="2000" b="1"/>
              <a:t>Transmission</a:t>
            </a:r>
            <a:r>
              <a:rPr lang="en-US" sz="2000"/>
              <a:t> Delay: 24 ms.  </a:t>
            </a:r>
            <a:br>
              <a:rPr lang="en-US" sz="2000"/>
            </a:br>
            <a:r>
              <a:rPr lang="en-US" sz="2000" b="1"/>
              <a:t>Loss</a:t>
            </a:r>
            <a:r>
              <a:rPr lang="en-US" sz="2000"/>
              <a:t>: Εκτοξεύεται στο 79%.  </a:t>
            </a:r>
            <a:br>
              <a:rPr lang="en-US" sz="2000"/>
            </a:br>
            <a:r>
              <a:rPr lang="en-US" sz="2000" b="1"/>
              <a:t>Delay</a:t>
            </a:r>
            <a:r>
              <a:rPr lang="en-US" sz="2000"/>
              <a:t>: Αυξάνεται στα 0.36s.  </a:t>
            </a:r>
            <a:br>
              <a:rPr lang="en-US" sz="2000"/>
            </a:br>
            <a:br>
              <a:rPr lang="en-US" sz="2000"/>
            </a:br>
            <a:r>
              <a:rPr lang="en-US" sz="2000" b="1"/>
              <a:t>5000 Bytes </a:t>
            </a:r>
            <a:r>
              <a:rPr lang="en-US" sz="2000"/>
              <a:t>(Ακραίο Σενάριο): </a:t>
            </a:r>
            <a:br>
              <a:rPr lang="en-US" sz="2000"/>
            </a:br>
            <a:r>
              <a:rPr lang="en-US" sz="2000" b="1"/>
              <a:t>Transmission Delay</a:t>
            </a:r>
            <a:r>
              <a:rPr lang="en-US" sz="2000"/>
              <a:t>: 40 ms ανά πακέτο!  </a:t>
            </a:r>
            <a:br>
              <a:rPr lang="en-US" sz="2000"/>
            </a:br>
            <a:r>
              <a:rPr lang="en-US" sz="2000" b="1"/>
              <a:t>Loss</a:t>
            </a:r>
            <a:r>
              <a:rPr lang="en-US" sz="2000"/>
              <a:t>: Χάνουμε το 87.5% των δεδομένων.  </a:t>
            </a:r>
            <a:br>
              <a:rPr lang="en-US" sz="2000"/>
            </a:br>
            <a:r>
              <a:rPr lang="en-US" sz="2000" b="1"/>
              <a:t>Delay</a:t>
            </a:r>
            <a:r>
              <a:rPr lang="en-US" sz="2000"/>
              <a:t>: Πάνω από 0.54s. Ο Router είναι συνεχώς απασχολημένος.</a:t>
            </a:r>
          </a:p>
        </p:txBody>
      </p:sp>
    </p:spTree>
    <p:extLst>
      <p:ext uri="{BB962C8B-B14F-4D97-AF65-F5344CB8AC3E}">
        <p14:creationId xmlns:p14="http://schemas.microsoft.com/office/powerpoint/2010/main" val="24709783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E66F4F5B-D24C-9960-804E-562B9D0A7EDC}"/>
              </a:ext>
            </a:extLst>
          </p:cNvPr>
          <p:cNvPicPr>
            <a:picLocks noChangeAspect="1"/>
          </p:cNvPicPr>
          <p:nvPr/>
        </p:nvPicPr>
        <p:blipFill>
          <a:blip r:embed="rId2"/>
          <a:stretch>
            <a:fillRect/>
          </a:stretch>
        </p:blipFill>
        <p:spPr>
          <a:xfrm>
            <a:off x="95250" y="0"/>
            <a:ext cx="12096750" cy="6858000"/>
          </a:xfrm>
          <a:prstGeom prst="rect">
            <a:avLst/>
          </a:prstGeom>
        </p:spPr>
      </p:pic>
      <p:sp>
        <p:nvSpPr>
          <p:cNvPr id="3" name="TextBox 2">
            <a:extLst>
              <a:ext uri="{FF2B5EF4-FFF2-40B4-BE49-F238E27FC236}">
                <a16:creationId xmlns:a16="http://schemas.microsoft.com/office/drawing/2014/main" id="{419130F5-FD99-74CB-6AC8-69A3A539B04A}"/>
              </a:ext>
            </a:extLst>
          </p:cNvPr>
          <p:cNvSpPr txBox="1"/>
          <p:nvPr/>
        </p:nvSpPr>
        <p:spPr>
          <a:xfrm>
            <a:off x="0" y="133350"/>
            <a:ext cx="1457325" cy="400110"/>
          </a:xfrm>
          <a:prstGeom prst="rect">
            <a:avLst/>
          </a:prstGeom>
          <a:noFill/>
        </p:spPr>
        <p:txBody>
          <a:bodyPr wrap="square" rtlCol="0">
            <a:spAutoFit/>
          </a:bodyPr>
          <a:lstStyle/>
          <a:p>
            <a:r>
              <a:rPr lang="en-US" sz="2000" b="1" dirty="0"/>
              <a:t>3000Bytes</a:t>
            </a:r>
          </a:p>
        </p:txBody>
      </p:sp>
    </p:spTree>
    <p:extLst>
      <p:ext uri="{BB962C8B-B14F-4D97-AF65-F5344CB8AC3E}">
        <p14:creationId xmlns:p14="http://schemas.microsoft.com/office/powerpoint/2010/main" val="35607855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9F1DB88C-1D81-7386-5057-880B0D427434}"/>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3FDFCE5-DC48-97D1-FA38-48937609852F}"/>
              </a:ext>
            </a:extLst>
          </p:cNvPr>
          <p:cNvSpPr txBox="1"/>
          <p:nvPr/>
        </p:nvSpPr>
        <p:spPr>
          <a:xfrm>
            <a:off x="0" y="104775"/>
            <a:ext cx="2152650" cy="400110"/>
          </a:xfrm>
          <a:prstGeom prst="rect">
            <a:avLst/>
          </a:prstGeom>
          <a:noFill/>
        </p:spPr>
        <p:txBody>
          <a:bodyPr wrap="square" rtlCol="0">
            <a:spAutoFit/>
          </a:bodyPr>
          <a:lstStyle/>
          <a:p>
            <a:r>
              <a:rPr lang="en-US" sz="2000" b="1" dirty="0"/>
              <a:t>5000Bytes</a:t>
            </a:r>
          </a:p>
        </p:txBody>
      </p:sp>
    </p:spTree>
    <p:extLst>
      <p:ext uri="{BB962C8B-B14F-4D97-AF65-F5344CB8AC3E}">
        <p14:creationId xmlns:p14="http://schemas.microsoft.com/office/powerpoint/2010/main" val="11256185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84C79D-78DA-F1B6-E65F-040916201A9F}"/>
              </a:ext>
            </a:extLst>
          </p:cNvPr>
          <p:cNvSpPr>
            <a:spLocks noGrp="1"/>
          </p:cNvSpPr>
          <p:nvPr>
            <p:ph type="title"/>
          </p:nvPr>
        </p:nvSpPr>
        <p:spPr>
          <a:xfrm>
            <a:off x="838200" y="768349"/>
            <a:ext cx="10515600" cy="1069595"/>
          </a:xfrm>
        </p:spPr>
        <p:txBody>
          <a:bodyPr/>
          <a:lstStyle/>
          <a:p>
            <a:pPr algn="ctr"/>
            <a:r>
              <a:rPr lang="el-GR" dirty="0"/>
              <a:t>Επέκταση Δικτύου</a:t>
            </a:r>
            <a:endParaRPr lang="en-US" dirty="0"/>
          </a:p>
        </p:txBody>
      </p:sp>
      <p:graphicFrame>
        <p:nvGraphicFramePr>
          <p:cNvPr id="5" name="Text Placeholder 2">
            <a:extLst>
              <a:ext uri="{FF2B5EF4-FFF2-40B4-BE49-F238E27FC236}">
                <a16:creationId xmlns:a16="http://schemas.microsoft.com/office/drawing/2014/main" id="{F9D12417-309A-C674-5A34-E20935D1B1D2}"/>
              </a:ext>
            </a:extLst>
          </p:cNvPr>
          <p:cNvGraphicFramePr/>
          <p:nvPr/>
        </p:nvGraphicFramePr>
        <p:xfrm>
          <a:off x="831850" y="2706624"/>
          <a:ext cx="10515600" cy="338302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087617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7" name="Rectangle 26">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Rectangle 36">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9CC3DE-63A2-A107-A5FF-DCE92A5D79B2}"/>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Το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Σημείο</a:t>
            </a:r>
            <a:r>
              <a:rPr lang="en-US" sz="4000" kern="1200" dirty="0">
                <a:solidFill>
                  <a:srgbClr val="FFFFFF"/>
                </a:solidFill>
                <a:latin typeface="+mj-lt"/>
                <a:ea typeface="+mj-ea"/>
                <a:cs typeface="+mj-cs"/>
              </a:rPr>
              <a:t> </a:t>
            </a:r>
            <a:r>
              <a:rPr lang="en-US" sz="4000" kern="1200">
                <a:solidFill>
                  <a:srgbClr val="FFFFFF"/>
                </a:solidFill>
                <a:latin typeface="+mj-lt"/>
                <a:ea typeface="+mj-ea"/>
                <a:cs typeface="+mj-cs"/>
              </a:rPr>
              <a:t>Συμφόρησης</a:t>
            </a:r>
            <a:r>
              <a:rPr lang="en-US" sz="4000" kern="1200" dirty="0">
                <a:solidFill>
                  <a:srgbClr val="FFFFFF"/>
                </a:solidFill>
                <a:latin typeface="+mj-lt"/>
                <a:ea typeface="+mj-ea"/>
                <a:cs typeface="+mj-cs"/>
              </a:rPr>
              <a:t> (1 Mbps)</a:t>
            </a:r>
            <a:endParaRPr lang="en-US" sz="4000" kern="1200">
              <a:solidFill>
                <a:srgbClr val="FFFFFF"/>
              </a:solidFill>
              <a:latin typeface="+mj-lt"/>
              <a:ea typeface="+mj-ea"/>
              <a:cs typeface="+mj-cs"/>
            </a:endParaRPr>
          </a:p>
        </p:txBody>
      </p:sp>
      <p:sp>
        <p:nvSpPr>
          <p:cNvPr id="4" name="Rectangle 1">
            <a:extLst>
              <a:ext uri="{FF2B5EF4-FFF2-40B4-BE49-F238E27FC236}">
                <a16:creationId xmlns:a16="http://schemas.microsoft.com/office/drawing/2014/main" id="{7C336C72-4F60-C2CA-47AF-2880B7031ECA}"/>
              </a:ext>
            </a:extLst>
          </p:cNvPr>
          <p:cNvSpPr>
            <a:spLocks noGrp="1" noChangeArrowheads="1"/>
          </p:cNvSpPr>
          <p:nvPr>
            <p:ph type="body" sz="half" idx="2"/>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Το</a:t>
            </a:r>
            <a:r>
              <a:rPr kumimoji="0" lang="en-US" altLang="en-US" sz="2000" b="1" i="0" u="none" strike="noStrike" cap="none" normalizeH="0" baseline="0" dirty="0">
                <a:ln>
                  <a:noFill/>
                </a:ln>
                <a:effectLst/>
              </a:rPr>
              <a:t> Φα</a:t>
            </a:r>
            <a:r>
              <a:rPr kumimoji="0" lang="en-US" altLang="en-US" sz="2000" b="1" i="0" u="none" strike="noStrike" cap="none" normalizeH="0" baseline="0">
                <a:ln>
                  <a:noFill/>
                </a:ln>
                <a:effectLst/>
              </a:rPr>
              <a:t>ινόμενο</a:t>
            </a:r>
            <a:r>
              <a:rPr kumimoji="0" lang="en-US" altLang="en-US" sz="2000" b="1" i="0" u="none" strike="noStrike" cap="none" normalizeH="0" baseline="0" dirty="0">
                <a:ln>
                  <a:noFill/>
                </a:ln>
                <a:effectLst/>
              </a:rPr>
              <a:t> </a:t>
            </a:r>
            <a:r>
              <a:rPr kumimoji="0" lang="en-US" altLang="en-US" sz="2000" b="1" i="0" u="none" strike="noStrike" cap="none" normalizeH="0" baseline="0">
                <a:ln>
                  <a:noFill/>
                </a:ln>
                <a:effectLst/>
              </a:rPr>
              <a:t>του</a:t>
            </a:r>
            <a:r>
              <a:rPr kumimoji="0" lang="en-US" altLang="en-US" sz="2000" b="1" i="0" u="none" strike="noStrike" cap="none" normalizeH="0" baseline="0" dirty="0">
                <a:ln>
                  <a:noFill/>
                </a:ln>
                <a:effectLst/>
              </a:rPr>
              <a:t> Bottleneck:</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Input Rate 400 pkts/s &gt; Service Rate125  pkts/s.</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dirty="0">
                <a:ln>
                  <a:noFill/>
                </a:ln>
                <a:effectLst/>
              </a:rPr>
              <a:t>Ο Router 1 "π</a:t>
            </a:r>
            <a:r>
              <a:rPr kumimoji="0" lang="en-US" altLang="en-US" sz="2000" b="0" i="0" u="none" strike="noStrike" cap="none" normalizeH="0" baseline="0">
                <a:ln>
                  <a:noFill/>
                </a:ln>
                <a:effectLst/>
              </a:rPr>
              <a:t>νίγετ</a:t>
            </a:r>
            <a:r>
              <a:rPr kumimoji="0" lang="en-US" altLang="en-US" sz="2000" b="0" i="0" u="none" strike="noStrike" cap="none" normalizeH="0" baseline="0" dirty="0">
                <a:ln>
                  <a:noFill/>
                </a:ln>
                <a:effectLst/>
              </a:rPr>
              <a:t>αι" από την κίνηση.</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Απ</a:t>
            </a:r>
            <a:r>
              <a:rPr kumimoji="0" lang="en-US" altLang="en-US" sz="2000" b="1" i="0" u="none" strike="noStrike" cap="none" normalizeH="0" baseline="0">
                <a:ln>
                  <a:noFill/>
                </a:ln>
                <a:effectLst/>
              </a:rPr>
              <a:t>οτελέσμ</a:t>
            </a:r>
            <a:r>
              <a:rPr kumimoji="0" lang="en-US" altLang="en-US" sz="2000" b="1" i="0" u="none" strike="noStrike" cap="none" normalizeH="0" baseline="0" dirty="0">
                <a:ln>
                  <a:noFill/>
                </a:ln>
                <a:effectLst/>
              </a:rPr>
              <a:t>ατα:</a:t>
            </a:r>
            <a:endParaRPr kumimoji="0" lang="en-US" altLang="en-US" sz="2000" b="0" i="0" u="none" strike="noStrike" cap="none" normalizeH="0" baseline="0" dirty="0">
              <a:ln>
                <a:noFill/>
              </a:ln>
              <a:effectLst/>
            </a:endParaRP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Packet Loss:</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Εκτοξεύετ</a:t>
            </a:r>
            <a:r>
              <a:rPr kumimoji="0" lang="en-US" altLang="en-US" sz="2000" b="0" i="0" u="none" strike="noStrike" cap="none" normalizeH="0" baseline="0" dirty="0">
                <a:ln>
                  <a:noFill/>
                </a:ln>
                <a:effectLst/>
              </a:rPr>
              <a:t>αι στο </a:t>
            </a:r>
            <a:r>
              <a:rPr kumimoji="0" lang="en-US" altLang="en-US" sz="2000" b="1" i="0" u="none" strike="noStrike" cap="none" normalizeH="0" baseline="0" dirty="0">
                <a:ln>
                  <a:noFill/>
                </a:ln>
                <a:effectLst/>
              </a:rPr>
              <a:t>~68%</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Χάνουμε</a:t>
            </a:r>
            <a:r>
              <a:rPr kumimoji="0" lang="en-US" altLang="en-US" sz="2000" b="0" i="0" u="none" strike="noStrike" cap="none" normalizeH="0" baseline="0" dirty="0">
                <a:ln>
                  <a:noFill/>
                </a:ln>
                <a:effectLst/>
              </a:rPr>
              <a:t> τα 2/3 </a:t>
            </a:r>
            <a:r>
              <a:rPr kumimoji="0" lang="en-US" altLang="en-US" sz="2000" b="0" i="0" u="none" strike="noStrike" cap="none" normalizeH="0" baseline="0">
                <a:ln>
                  <a:noFill/>
                </a:ln>
                <a:effectLst/>
              </a:rPr>
              <a:t>των</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δεδομένων</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Queue Size:</a:t>
            </a:r>
            <a:endParaRPr kumimoji="0" lang="en-US" altLang="en-US" sz="2000" b="0" i="0" u="none" strike="noStrike" cap="none" normalizeH="0" baseline="0" dirty="0">
              <a:ln>
                <a:noFill/>
              </a:ln>
              <a:effectLst/>
            </a:endParaRP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1:</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γεμάτη (πορτοκαλί γραμμή).</a:t>
            </a:r>
          </a:p>
          <a:p>
            <a:pPr marL="457200" marR="0" lvl="1"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Router 2:</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Μόνιμ</a:t>
            </a:r>
            <a:r>
              <a:rPr kumimoji="0" lang="en-US" altLang="en-US" sz="2000" b="0" i="0" u="none" strike="noStrike" cap="none" normalizeH="0" baseline="0" dirty="0">
                <a:ln>
                  <a:noFill/>
                </a:ln>
                <a:effectLst/>
              </a:rPr>
              <a:t>α άδεια (μπλε γραμμή). Ο R2 υπ</a:t>
            </a:r>
            <a:r>
              <a:rPr kumimoji="0" lang="en-US" altLang="en-US" sz="2000" b="0" i="0" u="none" strike="noStrike" cap="none" normalizeH="0" baseline="0">
                <a:ln>
                  <a:noFill/>
                </a:ln>
                <a:effectLst/>
              </a:rPr>
              <a:t>ολειτουργεί</a:t>
            </a:r>
            <a:r>
              <a:rPr kumimoji="0" lang="en-US" altLang="en-US" sz="2000" b="0" i="0" u="none" strike="noStrike" cap="none" normalizeH="0" baseline="0" dirty="0">
                <a:ln>
                  <a:noFill/>
                </a:ln>
                <a:effectLst/>
              </a:rPr>
              <a:t>.</a:t>
            </a:r>
          </a:p>
          <a:p>
            <a:pPr marL="0" marR="0" lvl="0" indent="-228600"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dirty="0">
                <a:ln>
                  <a:noFill/>
                </a:ln>
                <a:effectLst/>
              </a:rPr>
              <a:t>Delay:</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Αυξήθηκε</a:t>
            </a:r>
            <a:r>
              <a:rPr kumimoji="0" lang="en-US" altLang="en-US" sz="2000" b="0" i="0" u="none" strike="noStrike" cap="none" normalizeH="0" baseline="0" dirty="0">
                <a:ln>
                  <a:noFill/>
                </a:ln>
                <a:effectLst/>
              </a:rPr>
              <a:t> </a:t>
            </a:r>
            <a:r>
              <a:rPr kumimoji="0" lang="en-US" altLang="en-US" sz="2000" b="0" i="0" u="none" strike="noStrike" cap="none" normalizeH="0" baseline="0">
                <a:ln>
                  <a:noFill/>
                </a:ln>
                <a:effectLst/>
              </a:rPr>
              <a:t>στ</a:t>
            </a:r>
            <a:r>
              <a:rPr kumimoji="0" lang="en-US" altLang="en-US" sz="2000" b="0" i="0" u="none" strike="noStrike" cap="none" normalizeH="0" baseline="0" dirty="0">
                <a:ln>
                  <a:noFill/>
                </a:ln>
                <a:effectLst/>
              </a:rPr>
              <a:t>α </a:t>
            </a:r>
            <a:r>
              <a:rPr kumimoji="0" lang="en-US" altLang="en-US" sz="2000" b="1" i="0" u="none" strike="noStrike" cap="none" normalizeH="0" baseline="0" dirty="0">
                <a:ln>
                  <a:noFill/>
                </a:ln>
                <a:effectLst/>
              </a:rPr>
              <a:t>0.25s</a:t>
            </a:r>
            <a:r>
              <a:rPr kumimoji="0" lang="en-US" altLang="en-US" sz="2000" b="0" i="0" u="none" strike="noStrike" cap="none" normalizeH="0" baseline="0" dirty="0">
                <a:ln>
                  <a:noFill/>
                </a:ln>
                <a:effectLst/>
              </a:rPr>
              <a:t> λόγω των επιπλέον hops.</a:t>
            </a:r>
          </a:p>
          <a:p>
            <a:pPr marL="0" marR="0" lvl="0" indent="-228600" fontAlgn="base">
              <a:spcBef>
                <a:spcPct val="0"/>
              </a:spcBef>
              <a:spcAft>
                <a:spcPts val="600"/>
              </a:spcAft>
              <a:buClrTx/>
              <a:buSzTx/>
              <a:buFont typeface="Arial" panose="020B0604020202020204" pitchFamily="34" charset="0"/>
              <a:buChar char="•"/>
              <a:tabLst/>
            </a:pPr>
            <a:endParaRPr kumimoji="0" lang="en-US" altLang="en-US" sz="2000" b="0" i="0" u="none" strike="noStrike" cap="none" normalizeH="0" baseline="0" dirty="0">
              <a:ln>
                <a:noFill/>
              </a:ln>
              <a:effectLst/>
            </a:endParaRPr>
          </a:p>
        </p:txBody>
      </p:sp>
    </p:spTree>
    <p:extLst>
      <p:ext uri="{BB962C8B-B14F-4D97-AF65-F5344CB8AC3E}">
        <p14:creationId xmlns:p14="http://schemas.microsoft.com/office/powerpoint/2010/main" val="3203761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E1D3E65-2F89-F016-ECF0-AFF4AC8D6301}"/>
              </a:ext>
            </a:extLst>
          </p:cNvPr>
          <p:cNvPicPr>
            <a:picLocks noChangeAspect="1"/>
          </p:cNvPicPr>
          <p:nvPr/>
        </p:nvPicPr>
        <p:blipFill>
          <a:blip r:embed="rId2"/>
          <a:stretch>
            <a:fillRect/>
          </a:stretch>
        </p:blipFill>
        <p:spPr>
          <a:xfrm>
            <a:off x="262" y="0"/>
            <a:ext cx="12102874" cy="6857999"/>
          </a:xfrm>
          <a:prstGeom prst="rect">
            <a:avLst/>
          </a:prstGeom>
        </p:spPr>
      </p:pic>
      <p:sp>
        <p:nvSpPr>
          <p:cNvPr id="3" name="TextBox 2">
            <a:extLst>
              <a:ext uri="{FF2B5EF4-FFF2-40B4-BE49-F238E27FC236}">
                <a16:creationId xmlns:a16="http://schemas.microsoft.com/office/drawing/2014/main" id="{581D285E-9598-3DE7-081E-5B394A9B43AB}"/>
              </a:ext>
            </a:extLst>
          </p:cNvPr>
          <p:cNvSpPr txBox="1"/>
          <p:nvPr/>
        </p:nvSpPr>
        <p:spPr>
          <a:xfrm>
            <a:off x="0" y="104775"/>
            <a:ext cx="2211888" cy="400110"/>
          </a:xfrm>
          <a:prstGeom prst="rect">
            <a:avLst/>
          </a:prstGeom>
          <a:noFill/>
        </p:spPr>
        <p:txBody>
          <a:bodyPr wrap="none" rtlCol="0">
            <a:spAutoFit/>
          </a:bodyPr>
          <a:lstStyle/>
          <a:p>
            <a:r>
              <a:rPr lang="el-GR" sz="2000" b="1" dirty="0"/>
              <a:t>1</a:t>
            </a:r>
            <a:r>
              <a:rPr lang="en-US" sz="2000" b="1" dirty="0"/>
              <a:t>Mbps 1000Bytes</a:t>
            </a:r>
          </a:p>
        </p:txBody>
      </p:sp>
    </p:spTree>
    <p:extLst>
      <p:ext uri="{BB962C8B-B14F-4D97-AF65-F5344CB8AC3E}">
        <p14:creationId xmlns:p14="http://schemas.microsoft.com/office/powerpoint/2010/main" val="33267722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E2CC403-21CD-41DF-BAC4-329D7FF03C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2CF064-855B-2E4B-00C5-749A510AB718}"/>
              </a:ext>
            </a:extLst>
          </p:cNvPr>
          <p:cNvSpPr>
            <a:spLocks noGrp="1"/>
          </p:cNvSpPr>
          <p:nvPr>
            <p:ph type="title"/>
          </p:nvPr>
        </p:nvSpPr>
        <p:spPr>
          <a:xfrm>
            <a:off x="1078828" y="1147158"/>
            <a:ext cx="6038470" cy="4713316"/>
          </a:xfrm>
        </p:spPr>
        <p:txBody>
          <a:bodyPr vert="horz" lIns="91440" tIns="45720" rIns="91440" bIns="45720" rtlCol="0" anchor="ctr">
            <a:normAutofit/>
          </a:bodyPr>
          <a:lstStyle/>
          <a:p>
            <a:r>
              <a:rPr lang="en-US" kern="1200" dirty="0">
                <a:solidFill>
                  <a:schemeClr val="tx1"/>
                </a:solidFill>
                <a:latin typeface="+mj-lt"/>
                <a:ea typeface="+mj-ea"/>
                <a:cs typeface="+mj-cs"/>
              </a:rPr>
              <a:t>Η </a:t>
            </a:r>
            <a:r>
              <a:rPr lang="en-US" kern="1200" dirty="0" err="1">
                <a:solidFill>
                  <a:schemeClr val="tx1"/>
                </a:solidFill>
                <a:latin typeface="+mj-lt"/>
                <a:ea typeface="+mj-ea"/>
                <a:cs typeface="+mj-cs"/>
              </a:rPr>
              <a:t>Λύση</a:t>
            </a:r>
            <a:r>
              <a:rPr lang="en-US" kern="1200" dirty="0">
                <a:solidFill>
                  <a:schemeClr val="tx1"/>
                </a:solidFill>
                <a:latin typeface="+mj-lt"/>
                <a:ea typeface="+mj-ea"/>
                <a:cs typeface="+mj-cs"/>
              </a:rPr>
              <a:t> </a:t>
            </a:r>
            <a:r>
              <a:rPr lang="en-US" kern="1200" dirty="0" err="1">
                <a:solidFill>
                  <a:schemeClr val="tx1"/>
                </a:solidFill>
                <a:latin typeface="+mj-lt"/>
                <a:ea typeface="+mj-ea"/>
                <a:cs typeface="+mj-cs"/>
              </a:rPr>
              <a:t>του</a:t>
            </a:r>
            <a:r>
              <a:rPr lang="en-US" kern="1200" dirty="0">
                <a:solidFill>
                  <a:schemeClr val="tx1"/>
                </a:solidFill>
                <a:latin typeface="+mj-lt"/>
                <a:ea typeface="+mj-ea"/>
                <a:cs typeface="+mj-cs"/>
              </a:rPr>
              <a:t> Bandwidth (10 &amp; 100 Mbps)</a:t>
            </a:r>
          </a:p>
        </p:txBody>
      </p:sp>
      <p:grpSp>
        <p:nvGrpSpPr>
          <p:cNvPr id="11" name="Group 10">
            <a:extLst>
              <a:ext uri="{FF2B5EF4-FFF2-40B4-BE49-F238E27FC236}">
                <a16:creationId xmlns:a16="http://schemas.microsoft.com/office/drawing/2014/main" id="{B13AA5FE-3FFC-4725-9ADD-E428544EC61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154317"/>
            <a:ext cx="731521" cy="673460"/>
            <a:chOff x="3940602" y="308034"/>
            <a:chExt cx="2116791" cy="3428999"/>
          </a:xfrm>
          <a:solidFill>
            <a:schemeClr val="accent4"/>
          </a:solidFill>
        </p:grpSpPr>
        <p:sp>
          <p:nvSpPr>
            <p:cNvPr id="12" name="Rectangle 11">
              <a:extLst>
                <a:ext uri="{FF2B5EF4-FFF2-40B4-BE49-F238E27FC236}">
                  <a16:creationId xmlns:a16="http://schemas.microsoft.com/office/drawing/2014/main" id="{4FA70700-3F72-44D4-8175-FEB2B9B23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7093C0F6-5741-4C9D-90FF-A25824BFC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21B2E1B-E962-432C-ADA1-2934CE3C54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Rectangle 15">
            <a:extLst>
              <a:ext uri="{FF2B5EF4-FFF2-40B4-BE49-F238E27FC236}">
                <a16:creationId xmlns:a16="http://schemas.microsoft.com/office/drawing/2014/main" id="{7653717E-6F8C-43E0-9893-C03AE87D18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35BB14B4-EC3F-47C7-9AF3-B0E017B75C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666160" y="391886"/>
            <a:ext cx="402901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1">
            <a:extLst>
              <a:ext uri="{FF2B5EF4-FFF2-40B4-BE49-F238E27FC236}">
                <a16:creationId xmlns:a16="http://schemas.microsoft.com/office/drawing/2014/main" id="{B401548B-12FE-F3AC-7252-4BD25E053FB3}"/>
              </a:ext>
            </a:extLst>
          </p:cNvPr>
          <p:cNvSpPr>
            <a:spLocks noGrp="1" noChangeArrowheads="1"/>
          </p:cNvSpPr>
          <p:nvPr>
            <p:ph type="body" idx="1"/>
          </p:nvPr>
        </p:nvSpPr>
        <p:spPr bwMode="auto">
          <a:xfrm>
            <a:off x="8030590" y="449035"/>
            <a:ext cx="3300156" cy="5808889"/>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 Mbps - </a:t>
            </a:r>
            <a:r>
              <a:rPr kumimoji="0" lang="en-US" altLang="en-US" sz="1400" b="1" i="0" u="none" strike="noStrike" kern="1200" cap="none" normalizeH="0" baseline="0" dirty="0" err="1">
                <a:ln>
                  <a:noFill/>
                </a:ln>
                <a:solidFill>
                  <a:schemeClr val="tx1"/>
                </a:solidFill>
                <a:effectLst/>
                <a:latin typeface="+mn-lt"/>
                <a:ea typeface="+mn-ea"/>
                <a:cs typeface="+mn-cs"/>
              </a:rPr>
              <a:t>Εξάλειψη</a:t>
            </a:r>
            <a:r>
              <a:rPr kumimoji="0" lang="en-US" altLang="en-US" sz="1400" b="1" i="0" u="none" strike="noStrike" kern="1200" cap="none" normalizeH="0" baseline="0" dirty="0">
                <a:ln>
                  <a:noFill/>
                </a:ln>
                <a:solidFill>
                  <a:schemeClr val="tx1"/>
                </a:solidFill>
                <a:effectLst/>
                <a:latin typeface="+mn-lt"/>
                <a:ea typeface="+mn-ea"/>
                <a:cs typeface="+mn-cs"/>
              </a:rPr>
              <a:t> </a:t>
            </a:r>
            <a:r>
              <a:rPr kumimoji="0" lang="en-US" altLang="en-US" sz="1400" b="1" i="0" u="none" strike="noStrike" kern="1200" cap="none" normalizeH="0" baseline="0" dirty="0" err="1">
                <a:ln>
                  <a:noFill/>
                </a:ln>
                <a:solidFill>
                  <a:schemeClr val="tx1"/>
                </a:solidFill>
                <a:effectLst/>
                <a:latin typeface="+mn-lt"/>
                <a:ea typeface="+mn-ea"/>
                <a:cs typeface="+mn-cs"/>
              </a:rPr>
              <a:t>Συμφόρησης</a:t>
            </a:r>
            <a:r>
              <a:rPr kumimoji="0" lang="en-US" altLang="en-US" sz="1400" b="1" i="0" u="none" strike="noStrike" kern="1200" cap="none" normalizeH="0" baseline="0" dirty="0">
                <a:ln>
                  <a:noFill/>
                </a:ln>
                <a:solidFill>
                  <a:schemeClr val="tx1"/>
                </a:solidFill>
                <a:effectLst/>
                <a:latin typeface="+mn-lt"/>
                <a:ea typeface="+mn-ea"/>
                <a:cs typeface="+mn-cs"/>
              </a:rPr>
              <a:t>:</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Φόρτος</a:t>
            </a:r>
            <a:r>
              <a:rPr kumimoji="0" lang="en-US" altLang="en-US" sz="1400" b="0" i="0" u="none" strike="noStrike" kern="1200" cap="none" normalizeH="0" baseline="0" dirty="0">
                <a:ln>
                  <a:noFill/>
                </a:ln>
                <a:solidFill>
                  <a:schemeClr val="tx1"/>
                </a:solidFill>
                <a:effectLst/>
                <a:latin typeface="+mn-lt"/>
                <a:ea typeface="+mn-ea"/>
                <a:cs typeface="+mn-cs"/>
              </a:rPr>
              <a:t>: 3.2 Mbps (400 </a:t>
            </a:r>
            <a:r>
              <a:rPr lang="en-US" altLang="en-US" sz="1400" kern="1200" dirty="0">
                <a:solidFill>
                  <a:schemeClr val="tx1"/>
                </a:solidFill>
                <a:latin typeface="+mn-lt"/>
                <a:ea typeface="+mn-ea"/>
                <a:cs typeface="+mn-cs"/>
              </a:rPr>
              <a:t>x </a:t>
            </a:r>
            <a:r>
              <a:rPr kumimoji="0" lang="en-US" altLang="en-US" sz="1400" b="0" i="0" u="none" strike="noStrike" kern="1200" cap="none" normalizeH="0" baseline="0" dirty="0">
                <a:ln>
                  <a:noFill/>
                </a:ln>
                <a:solidFill>
                  <a:schemeClr val="tx1"/>
                </a:solidFill>
                <a:effectLst/>
                <a:latin typeface="+mn-lt"/>
                <a:ea typeface="+mn-ea"/>
                <a:cs typeface="+mn-cs"/>
              </a:rPr>
              <a:t>8000).</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Χωρητικότητ</a:t>
            </a:r>
            <a:r>
              <a:rPr kumimoji="0" lang="en-US" altLang="en-US" sz="1400" b="0" i="0" u="none" strike="noStrike" kern="1200" cap="none" normalizeH="0" baseline="0" dirty="0">
                <a:ln>
                  <a:noFill/>
                </a:ln>
                <a:solidFill>
                  <a:schemeClr val="tx1"/>
                </a:solidFill>
                <a:effectLst/>
                <a:latin typeface="+mn-lt"/>
                <a:ea typeface="+mn-ea"/>
                <a:cs typeface="+mn-cs"/>
              </a:rPr>
              <a:t>α: 10 Mbps.</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Απ</a:t>
            </a:r>
            <a:r>
              <a:rPr kumimoji="0" lang="en-US" altLang="en-US" sz="1400" b="1" i="0" u="none" strike="noStrike" kern="1200" cap="none" normalizeH="0" baseline="0" dirty="0" err="1">
                <a:ln>
                  <a:noFill/>
                </a:ln>
                <a:solidFill>
                  <a:schemeClr val="tx1"/>
                </a:solidFill>
                <a:effectLst/>
                <a:latin typeface="+mn-lt"/>
                <a:ea typeface="+mn-ea"/>
                <a:cs typeface="+mn-cs"/>
              </a:rPr>
              <a:t>οτέλεσμ</a:t>
            </a:r>
            <a:r>
              <a:rPr kumimoji="0" lang="en-US" altLang="en-US" sz="1400" b="1" i="0" u="none" strike="noStrike" kern="1200" cap="none" normalizeH="0" baseline="0" dirty="0">
                <a:ln>
                  <a:noFill/>
                </a:ln>
                <a:solidFill>
                  <a:schemeClr val="tx1"/>
                </a:solidFill>
                <a:effectLst/>
                <a:latin typeface="+mn-lt"/>
                <a:ea typeface="+mn-ea"/>
                <a:cs typeface="+mn-cs"/>
              </a:rPr>
              <a:t>α:</a:t>
            </a:r>
            <a:r>
              <a:rPr kumimoji="0" lang="en-US" altLang="en-US" sz="1400" b="0" i="0" u="none" strike="noStrike" kern="1200" cap="none" normalizeH="0" baseline="0" dirty="0">
                <a:ln>
                  <a:noFill/>
                </a:ln>
                <a:solidFill>
                  <a:schemeClr val="tx1"/>
                </a:solidFill>
                <a:effectLst/>
                <a:latin typeface="+mn-lt"/>
                <a:ea typeface="+mn-ea"/>
                <a:cs typeface="+mn-cs"/>
              </a:rPr>
              <a:t> Απώλειες </a:t>
            </a:r>
            <a:r>
              <a:rPr kumimoji="0" lang="en-US" altLang="en-US" sz="1400" b="1" i="0" u="none" strike="noStrike" kern="1200" cap="none" normalizeH="0" baseline="0" dirty="0">
                <a:ln>
                  <a:noFill/>
                </a:ln>
                <a:solidFill>
                  <a:schemeClr val="tx1"/>
                </a:solidFill>
                <a:effectLst/>
                <a:latin typeface="+mn-lt"/>
                <a:ea typeface="+mn-ea"/>
                <a:cs typeface="+mn-cs"/>
              </a:rPr>
              <a:t>0%</a:t>
            </a:r>
            <a:r>
              <a:rPr kumimoji="0" lang="en-US" altLang="en-US" sz="1400" b="0" i="0" u="none" strike="noStrike" kern="1200" cap="none" normalizeH="0" baseline="0" dirty="0">
                <a:ln>
                  <a:noFill/>
                </a:ln>
                <a:solidFill>
                  <a:schemeClr val="tx1"/>
                </a:solidFill>
                <a:effectLst/>
                <a:latin typeface="+mn-lt"/>
                <a:ea typeface="+mn-ea"/>
                <a:cs typeface="+mn-cs"/>
              </a:rPr>
              <a:t>, Ουρές άδειες.</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Delay:</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Ελάχιστο</a:t>
            </a:r>
            <a:r>
              <a:rPr kumimoji="0" lang="en-US" altLang="en-US" sz="1400" b="0" i="0" u="none" strike="noStrike" kern="1200" cap="none" normalizeH="0" baseline="0" dirty="0">
                <a:ln>
                  <a:noFill/>
                </a:ln>
                <a:solidFill>
                  <a:schemeClr val="tx1"/>
                </a:solidFill>
                <a:effectLst/>
                <a:latin typeface="+mn-lt"/>
                <a:ea typeface="+mn-ea"/>
                <a:cs typeface="+mn-cs"/>
              </a:rPr>
              <a:t> (~0.15s), β</a:t>
            </a:r>
            <a:r>
              <a:rPr kumimoji="0" lang="en-US" altLang="en-US" sz="1400" b="0" i="0" u="none" strike="noStrike" kern="1200" cap="none" normalizeH="0" baseline="0" dirty="0" err="1">
                <a:ln>
                  <a:noFill/>
                </a:ln>
                <a:solidFill>
                  <a:schemeClr val="tx1"/>
                </a:solidFill>
                <a:effectLst/>
                <a:latin typeface="+mn-lt"/>
                <a:ea typeface="+mn-ea"/>
                <a:cs typeface="+mn-cs"/>
              </a:rPr>
              <a:t>λέ</a:t>
            </a:r>
            <a:r>
              <a:rPr kumimoji="0" lang="en-US" altLang="en-US" sz="1400" b="0" i="0" u="none" strike="noStrike" kern="1200" cap="none" normalizeH="0" baseline="0" dirty="0">
                <a:ln>
                  <a:noFill/>
                </a:ln>
                <a:solidFill>
                  <a:schemeClr val="tx1"/>
                </a:solidFill>
                <a:effectLst/>
                <a:latin typeface="+mn-lt"/>
                <a:ea typeface="+mn-ea"/>
                <a:cs typeface="+mn-cs"/>
              </a:rPr>
              <a:t>πουμε την καθυστέρηση μετάδοσης λόγω ταυτόχρονης άφιξης πακέτων.</a:t>
            </a:r>
          </a:p>
          <a:p>
            <a:pPr marR="0" lvl="0" fontAlgn="base">
              <a:spcAft>
                <a:spcPct val="0"/>
              </a:spcAft>
              <a:buClrTx/>
              <a:buSzTx/>
              <a:tabLst/>
            </a:pPr>
            <a:r>
              <a:rPr kumimoji="0" lang="en-US" altLang="en-US" sz="1400" b="1" i="0" u="none" strike="noStrike" kern="1200" cap="none" normalizeH="0" baseline="0" dirty="0">
                <a:ln>
                  <a:noFill/>
                </a:ln>
                <a:solidFill>
                  <a:schemeClr val="tx1"/>
                </a:solidFill>
                <a:effectLst/>
                <a:latin typeface="+mn-lt"/>
                <a:ea typeface="+mn-ea"/>
                <a:cs typeface="+mn-cs"/>
              </a:rPr>
              <a:t>100 Mbps - Υπ</a:t>
            </a:r>
            <a:r>
              <a:rPr kumimoji="0" lang="en-US" altLang="en-US" sz="1400" b="1" i="0" u="none" strike="noStrike" kern="1200" cap="none" normalizeH="0" baseline="0" dirty="0" err="1">
                <a:ln>
                  <a:noFill/>
                </a:ln>
                <a:solidFill>
                  <a:schemeClr val="tx1"/>
                </a:solidFill>
                <a:effectLst/>
                <a:latin typeface="+mn-lt"/>
                <a:ea typeface="+mn-ea"/>
                <a:cs typeface="+mn-cs"/>
              </a:rPr>
              <a:t>ερ</a:t>
            </a:r>
            <a:r>
              <a:rPr kumimoji="0" lang="en-US" altLang="en-US" sz="1400" b="1" i="0" u="none" strike="noStrike" kern="1200" cap="none" normalizeH="0" baseline="0" dirty="0">
                <a:ln>
                  <a:noFill/>
                </a:ln>
                <a:solidFill>
                  <a:schemeClr val="tx1"/>
                </a:solidFill>
                <a:effectLst/>
                <a:latin typeface="+mn-lt"/>
                <a:ea typeface="+mn-ea"/>
                <a:cs typeface="+mn-cs"/>
              </a:rPr>
              <a:t>-επ</a:t>
            </a:r>
            <a:r>
              <a:rPr kumimoji="0" lang="en-US" altLang="en-US" sz="1400" b="1" i="0" u="none" strike="noStrike" kern="1200" cap="none" normalizeH="0" baseline="0" dirty="0" err="1">
                <a:ln>
                  <a:noFill/>
                </a:ln>
                <a:solidFill>
                  <a:schemeClr val="tx1"/>
                </a:solidFill>
                <a:effectLst/>
                <a:latin typeface="+mn-lt"/>
                <a:ea typeface="+mn-ea"/>
                <a:cs typeface="+mn-cs"/>
              </a:rPr>
              <a:t>άρκει</a:t>
            </a:r>
            <a:r>
              <a:rPr kumimoji="0" lang="en-US" altLang="en-US" sz="1400" b="1" i="0" u="none" strike="noStrike" kern="1200" cap="none" normalizeH="0" baseline="0" dirty="0">
                <a:ln>
                  <a:noFill/>
                </a:ln>
                <a:solidFill>
                  <a:schemeClr val="tx1"/>
                </a:solidFill>
                <a:effectLst/>
                <a:latin typeface="+mn-lt"/>
                <a:ea typeface="+mn-ea"/>
                <a:cs typeface="+mn-cs"/>
              </a:rPr>
              <a:t>α:</a:t>
            </a:r>
            <a:endParaRPr kumimoji="0" lang="en-US" altLang="en-US" sz="1400" b="0" i="0" u="none" strike="noStrike" kern="1200" cap="none" normalizeH="0" baseline="0" dirty="0">
              <a:ln>
                <a:noFill/>
              </a:ln>
              <a:solidFill>
                <a:schemeClr val="tx1"/>
              </a:solidFill>
              <a:effectLst/>
              <a:latin typeface="+mn-lt"/>
              <a:ea typeface="+mn-ea"/>
              <a:cs typeface="+mn-cs"/>
            </a:endParaRP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Δεν</a:t>
            </a:r>
            <a:r>
              <a:rPr kumimoji="0" lang="en-US" altLang="en-US" sz="1400" b="0" i="0" u="none" strike="noStrike" kern="1200" cap="none" normalizeH="0" baseline="0" dirty="0">
                <a:ln>
                  <a:noFill/>
                </a:ln>
                <a:solidFill>
                  <a:schemeClr val="tx1"/>
                </a:solidFill>
                <a:effectLst/>
                <a:latin typeface="+mn-lt"/>
                <a:ea typeface="+mn-ea"/>
                <a:cs typeface="+mn-cs"/>
              </a:rPr>
              <a:t> υπ</a:t>
            </a:r>
            <a:r>
              <a:rPr kumimoji="0" lang="en-US" altLang="en-US" sz="1400" b="0" i="0" u="none" strike="noStrike" kern="1200" cap="none" normalizeH="0" baseline="0" dirty="0" err="1">
                <a:ln>
                  <a:noFill/>
                </a:ln>
                <a:solidFill>
                  <a:schemeClr val="tx1"/>
                </a:solidFill>
                <a:effectLst/>
                <a:latin typeface="+mn-lt"/>
                <a:ea typeface="+mn-ea"/>
                <a:cs typeface="+mn-cs"/>
              </a:rPr>
              <a:t>άρχει</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ορ</a:t>
            </a:r>
            <a:r>
              <a:rPr kumimoji="0" lang="en-US" altLang="en-US" sz="1400" b="0" i="0" u="none" strike="noStrike" kern="1200" cap="none" normalizeH="0" baseline="0" dirty="0">
                <a:ln>
                  <a:noFill/>
                </a:ln>
                <a:solidFill>
                  <a:schemeClr val="tx1"/>
                </a:solidFill>
                <a:effectLst/>
                <a:latin typeface="+mn-lt"/>
                <a:ea typeface="+mn-ea"/>
                <a:cs typeface="+mn-cs"/>
              </a:rPr>
              <a:t>ατή διαφορά από τα 10 Mbps.</a:t>
            </a:r>
          </a:p>
          <a:p>
            <a:pPr marR="0" lvl="0" fontAlgn="base">
              <a:spcAft>
                <a:spcPct val="0"/>
              </a:spcAft>
              <a:buClrTx/>
              <a:buSzTx/>
              <a:tabLst/>
            </a:pPr>
            <a:r>
              <a:rPr kumimoji="0" lang="en-US" altLang="en-US" sz="1400" b="0" i="0" u="none" strike="noStrike" kern="1200" cap="none" normalizeH="0" baseline="0" dirty="0" err="1">
                <a:ln>
                  <a:noFill/>
                </a:ln>
                <a:solidFill>
                  <a:schemeClr val="tx1"/>
                </a:solidFill>
                <a:effectLst/>
                <a:latin typeface="+mn-lt"/>
                <a:ea typeface="+mn-ea"/>
                <a:cs typeface="+mn-cs"/>
              </a:rPr>
              <a:t>Το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δίκτυο</a:t>
            </a:r>
            <a:r>
              <a:rPr kumimoji="0" lang="en-US" altLang="en-US" sz="1400" b="0" i="0" u="none" strike="noStrike" kern="1200" cap="none" normalizeH="0" baseline="0" dirty="0">
                <a:ln>
                  <a:noFill/>
                </a:ln>
                <a:solidFill>
                  <a:schemeClr val="tx1"/>
                </a:solidFill>
                <a:effectLst/>
                <a:latin typeface="+mn-lt"/>
                <a:ea typeface="+mn-ea"/>
                <a:cs typeface="+mn-cs"/>
              </a:rPr>
              <a:t> </a:t>
            </a:r>
            <a:r>
              <a:rPr kumimoji="0" lang="en-US" altLang="en-US" sz="1400" b="0" i="0" u="none" strike="noStrike" kern="1200" cap="none" normalizeH="0" baseline="0" dirty="0" err="1">
                <a:ln>
                  <a:noFill/>
                </a:ln>
                <a:solidFill>
                  <a:schemeClr val="tx1"/>
                </a:solidFill>
                <a:effectLst/>
                <a:latin typeface="+mn-lt"/>
                <a:ea typeface="+mn-ea"/>
                <a:cs typeface="+mn-cs"/>
              </a:rPr>
              <a:t>είν</a:t>
            </a:r>
            <a:r>
              <a:rPr kumimoji="0" lang="en-US" altLang="en-US" sz="1400" b="0" i="0" u="none" strike="noStrike" kern="1200" cap="none" normalizeH="0" baseline="0" dirty="0">
                <a:ln>
                  <a:noFill/>
                </a:ln>
                <a:solidFill>
                  <a:schemeClr val="tx1"/>
                </a:solidFill>
                <a:effectLst/>
                <a:latin typeface="+mn-lt"/>
                <a:ea typeface="+mn-ea"/>
                <a:cs typeface="+mn-cs"/>
              </a:rPr>
              <a:t>αι "άνετο" και περιορίζεται μόνο από την ταχύτητα των πηγών.</a:t>
            </a:r>
          </a:p>
          <a:p>
            <a:pPr marR="0" lvl="0" fontAlgn="base">
              <a:spcAft>
                <a:spcPct val="0"/>
              </a:spcAft>
              <a:buClrTx/>
              <a:buSzTx/>
              <a:tabLst/>
            </a:pPr>
            <a:endParaRPr kumimoji="0" lang="en-US" altLang="en-US" sz="1300" b="0" i="0" u="none" strike="noStrike" kern="1200" cap="none" normalizeH="0" baseline="0" dirty="0">
              <a:ln>
                <a:noFill/>
              </a:ln>
              <a:solidFill>
                <a:schemeClr val="tx1"/>
              </a:solidFill>
              <a:effectLst/>
              <a:latin typeface="+mn-lt"/>
              <a:ea typeface="+mn-ea"/>
              <a:cs typeface="+mn-cs"/>
            </a:endParaRPr>
          </a:p>
        </p:txBody>
      </p:sp>
    </p:spTree>
    <p:extLst>
      <p:ext uri="{BB962C8B-B14F-4D97-AF65-F5344CB8AC3E}">
        <p14:creationId xmlns:p14="http://schemas.microsoft.com/office/powerpoint/2010/main" val="14170202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FB176907-7F05-4D96-94CB-5FBEA3305219}"/>
              </a:ext>
            </a:extLst>
          </p:cNvPr>
          <p:cNvPicPr>
            <a:picLocks noChangeAspect="1"/>
          </p:cNvPicPr>
          <p:nvPr/>
        </p:nvPicPr>
        <p:blipFill>
          <a:blip r:embed="rId2"/>
          <a:stretch>
            <a:fillRect/>
          </a:stretch>
        </p:blipFill>
        <p:spPr>
          <a:xfrm>
            <a:off x="0" y="0"/>
            <a:ext cx="12192000" cy="6858000"/>
          </a:xfrm>
          <a:prstGeom prst="rect">
            <a:avLst/>
          </a:prstGeom>
        </p:spPr>
      </p:pic>
      <p:sp>
        <p:nvSpPr>
          <p:cNvPr id="3" name="TextBox 2">
            <a:extLst>
              <a:ext uri="{FF2B5EF4-FFF2-40B4-BE49-F238E27FC236}">
                <a16:creationId xmlns:a16="http://schemas.microsoft.com/office/drawing/2014/main" id="{8AFF1912-A0C7-413F-BA59-B197EBAFE16C}"/>
              </a:ext>
            </a:extLst>
          </p:cNvPr>
          <p:cNvSpPr txBox="1"/>
          <p:nvPr/>
        </p:nvSpPr>
        <p:spPr>
          <a:xfrm>
            <a:off x="0" y="142875"/>
            <a:ext cx="1101584" cy="400110"/>
          </a:xfrm>
          <a:prstGeom prst="rect">
            <a:avLst/>
          </a:prstGeom>
          <a:noFill/>
        </p:spPr>
        <p:txBody>
          <a:bodyPr wrap="none" rtlCol="0">
            <a:spAutoFit/>
          </a:bodyPr>
          <a:lstStyle/>
          <a:p>
            <a:r>
              <a:rPr lang="en-US" sz="2000" b="1" dirty="0"/>
              <a:t>10Mbps</a:t>
            </a:r>
          </a:p>
        </p:txBody>
      </p:sp>
    </p:spTree>
    <p:extLst>
      <p:ext uri="{BB962C8B-B14F-4D97-AF65-F5344CB8AC3E}">
        <p14:creationId xmlns:p14="http://schemas.microsoft.com/office/powerpoint/2010/main" val="68518504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E1BA2A-1E36-01F1-6DE1-614E7ED6AB3F}"/>
              </a:ext>
            </a:extLst>
          </p:cNvPr>
          <p:cNvPicPr>
            <a:picLocks noChangeAspect="1"/>
          </p:cNvPicPr>
          <p:nvPr/>
        </p:nvPicPr>
        <p:blipFill>
          <a:blip r:embed="rId2"/>
          <a:stretch>
            <a:fillRect/>
          </a:stretch>
        </p:blipFill>
        <p:spPr>
          <a:xfrm>
            <a:off x="0" y="0"/>
            <a:ext cx="12191999" cy="6858000"/>
          </a:xfrm>
          <a:prstGeom prst="rect">
            <a:avLst/>
          </a:prstGeom>
        </p:spPr>
      </p:pic>
      <p:sp>
        <p:nvSpPr>
          <p:cNvPr id="3" name="TextBox 2">
            <a:extLst>
              <a:ext uri="{FF2B5EF4-FFF2-40B4-BE49-F238E27FC236}">
                <a16:creationId xmlns:a16="http://schemas.microsoft.com/office/drawing/2014/main" id="{AB358E77-8653-30BA-225A-642CD5CF7A1B}"/>
              </a:ext>
            </a:extLst>
          </p:cNvPr>
          <p:cNvSpPr txBox="1"/>
          <p:nvPr/>
        </p:nvSpPr>
        <p:spPr>
          <a:xfrm>
            <a:off x="0" y="152400"/>
            <a:ext cx="1237839" cy="400110"/>
          </a:xfrm>
          <a:prstGeom prst="rect">
            <a:avLst/>
          </a:prstGeom>
          <a:noFill/>
        </p:spPr>
        <p:txBody>
          <a:bodyPr wrap="none" rtlCol="0">
            <a:spAutoFit/>
          </a:bodyPr>
          <a:lstStyle/>
          <a:p>
            <a:r>
              <a:rPr lang="en-US" sz="2000" b="1" dirty="0"/>
              <a:t>100Mbps</a:t>
            </a:r>
          </a:p>
        </p:txBody>
      </p:sp>
    </p:spTree>
    <p:extLst>
      <p:ext uri="{BB962C8B-B14F-4D97-AF65-F5344CB8AC3E}">
        <p14:creationId xmlns:p14="http://schemas.microsoft.com/office/powerpoint/2010/main" val="33056770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58822FB-AC4A-9C90-E4AB-7C5FA06DCBEC}"/>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Επίδραση Μεγέθους: Μικρά Πακέτα (100 Bytes)</a:t>
            </a:r>
          </a:p>
        </p:txBody>
      </p:sp>
      <p:sp>
        <p:nvSpPr>
          <p:cNvPr id="4" name="Rectangle 1">
            <a:extLst>
              <a:ext uri="{FF2B5EF4-FFF2-40B4-BE49-F238E27FC236}">
                <a16:creationId xmlns:a16="http://schemas.microsoft.com/office/drawing/2014/main" id="{6A346B39-7FFF-E3C7-22AC-0BED4254DAF7}"/>
              </a:ext>
            </a:extLst>
          </p:cNvPr>
          <p:cNvSpPr>
            <a:spLocks noGrp="1" noChangeArrowheads="1"/>
          </p:cNvSpPr>
          <p:nvPr>
            <p:ph type="subTitle" idx="1"/>
          </p:nvPr>
        </p:nvSpPr>
        <p:spPr bwMode="auto">
          <a:xfrm>
            <a:off x="4810259" y="649480"/>
            <a:ext cx="6555347" cy="5546047"/>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rtlCol="0" anchor="ctr" anchorCtr="0" compatLnSpc="1">
            <a:prstTxWarp prst="textNoShape">
              <a:avLst/>
            </a:prstTxWarp>
            <a:normAutofit/>
          </a:bodyPr>
          <a:lstStyle/>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Μείωση Φόρτου:</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Παρόλο που έχουμε 400 πακέτα/sec, ο όγκος είναι μικρός 100B</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Συνολικός Φόρτος: </a:t>
            </a:r>
            <a:r>
              <a:rPr kumimoji="0" lang="en-US" altLang="en-US" sz="2000" b="1" i="0" u="none" strike="noStrike" cap="none" normalizeH="0" baseline="0">
                <a:ln>
                  <a:noFill/>
                </a:ln>
                <a:effectLst/>
              </a:rPr>
              <a:t>0.32 Mbps</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Αποτέλεσμα στα 1 Mbps:</a:t>
            </a:r>
            <a:endParaRPr kumimoji="0" lang="en-US" altLang="en-US" sz="2000" b="0" i="0" u="none" strike="noStrike" cap="none" normalizeH="0" baseline="0">
              <a:ln>
                <a:noFill/>
              </a:ln>
              <a:effectLst/>
            </a:endParaRP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0" i="0" u="none" strike="noStrike" cap="none" normalizeH="0" baseline="0">
                <a:ln>
                  <a:noFill/>
                </a:ln>
                <a:effectLst/>
              </a:rPr>
              <a:t>Το δίκτυο "ανασαίνει" ξανά.</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Packet Loss:</a:t>
            </a:r>
            <a:r>
              <a:rPr kumimoji="0" lang="en-US" altLang="en-US" sz="2000" b="0" i="0" u="none" strike="noStrike" cap="none" normalizeH="0" baseline="0">
                <a:ln>
                  <a:noFill/>
                </a:ln>
                <a:effectLst/>
              </a:rPr>
              <a:t> </a:t>
            </a:r>
            <a:r>
              <a:rPr kumimoji="0" lang="en-US" altLang="en-US" sz="2000" b="1" i="0" u="none" strike="noStrike" cap="none" normalizeH="0" baseline="0">
                <a:ln>
                  <a:noFill/>
                </a:ln>
                <a:effectLst/>
              </a:rPr>
              <a:t>0%</a:t>
            </a:r>
            <a:r>
              <a:rPr kumimoji="0" lang="en-US" altLang="en-US" sz="2000" b="0" i="0" u="none" strike="noStrike" cap="none" normalizeH="0" baseline="0">
                <a:ln>
                  <a:noFill/>
                </a:ln>
                <a:effectLst/>
              </a:rPr>
              <a:t>.</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Queue:</a:t>
            </a:r>
            <a:r>
              <a:rPr kumimoji="0" lang="en-US" altLang="en-US" sz="2000" b="0" i="0" u="none" strike="noStrike" cap="none" normalizeH="0" baseline="0">
                <a:ln>
                  <a:noFill/>
                </a:ln>
                <a:effectLst/>
              </a:rPr>
              <a:t> Στιγμιαία spikes που αδειάζουν αμέσως.</a:t>
            </a:r>
          </a:p>
          <a:p>
            <a:pPr marL="0" marR="0" lvl="0" indent="-228600" algn="l" fontAlgn="base">
              <a:spcBef>
                <a:spcPct val="0"/>
              </a:spcBef>
              <a:spcAft>
                <a:spcPts val="600"/>
              </a:spcAft>
              <a:buClrTx/>
              <a:buSzTx/>
              <a:buFont typeface="Arial" panose="020B0604020202020204" pitchFamily="34" charset="0"/>
              <a:buChar char="•"/>
              <a:tabLst/>
            </a:pPr>
            <a:r>
              <a:rPr kumimoji="0" lang="en-US" altLang="en-US" sz="2000" b="1" i="0" u="none" strike="noStrike" cap="none" normalizeH="0" baseline="0">
                <a:ln>
                  <a:noFill/>
                </a:ln>
                <a:effectLst/>
              </a:rPr>
              <a:t>Συμπέρασμα:</a:t>
            </a:r>
            <a:r>
              <a:rPr kumimoji="0" lang="en-US" altLang="en-US" sz="2000" b="0" i="0" u="none" strike="noStrike" cap="none" normalizeH="0" baseline="0">
                <a:ln>
                  <a:noFill/>
                </a:ln>
                <a:effectLst/>
              </a:rPr>
              <a:t> Μικρότερα πακέτα = Μεγαλύτερη αντοχή σε traffic storms.</a:t>
            </a:r>
          </a:p>
        </p:txBody>
      </p:sp>
    </p:spTree>
    <p:extLst>
      <p:ext uri="{BB962C8B-B14F-4D97-AF65-F5344CB8AC3E}">
        <p14:creationId xmlns:p14="http://schemas.microsoft.com/office/powerpoint/2010/main" val="387775515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
            <a:extLst>
              <a:ext uri="{FF2B5EF4-FFF2-40B4-BE49-F238E27FC236}">
                <a16:creationId xmlns:a16="http://schemas.microsoft.com/office/drawing/2014/main" id="{C6C9C20D-6300-080A-44F6-8342DF6391A7}"/>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B4487F4A-7AE8-564B-FE5B-E84B1505441A}"/>
              </a:ext>
            </a:extLst>
          </p:cNvPr>
          <p:cNvSpPr txBox="1"/>
          <p:nvPr/>
        </p:nvSpPr>
        <p:spPr>
          <a:xfrm>
            <a:off x="0" y="171450"/>
            <a:ext cx="1242071" cy="400110"/>
          </a:xfrm>
          <a:prstGeom prst="rect">
            <a:avLst/>
          </a:prstGeom>
          <a:noFill/>
        </p:spPr>
        <p:txBody>
          <a:bodyPr wrap="none" rtlCol="0">
            <a:spAutoFit/>
          </a:bodyPr>
          <a:lstStyle/>
          <a:p>
            <a:r>
              <a:rPr lang="en-US" sz="2000" b="1" dirty="0"/>
              <a:t>100Bytes</a:t>
            </a:r>
          </a:p>
        </p:txBody>
      </p:sp>
    </p:spTree>
    <p:extLst>
      <p:ext uri="{BB962C8B-B14F-4D97-AF65-F5344CB8AC3E}">
        <p14:creationId xmlns:p14="http://schemas.microsoft.com/office/powerpoint/2010/main" val="351299974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1E0CB0-8EFD-8751-D0A9-98ED4280411A}"/>
              </a:ext>
            </a:extLst>
          </p:cNvPr>
          <p:cNvSpPr>
            <a:spLocks noGrp="1"/>
          </p:cNvSpPr>
          <p:nvPr>
            <p:ph type="ctrTitle"/>
          </p:nvPr>
        </p:nvSpPr>
        <p:spPr>
          <a:xfrm>
            <a:off x="466722" y="586855"/>
            <a:ext cx="3201366"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Καταστροφική Συμφόρηση (3000B &amp; 5000B)</a:t>
            </a:r>
          </a:p>
        </p:txBody>
      </p:sp>
      <p:sp>
        <p:nvSpPr>
          <p:cNvPr id="3" name="Subtitle 2">
            <a:extLst>
              <a:ext uri="{FF2B5EF4-FFF2-40B4-BE49-F238E27FC236}">
                <a16:creationId xmlns:a16="http://schemas.microsoft.com/office/drawing/2014/main" id="{189FA43A-FED2-B5E4-7CCB-E37133EC033A}"/>
              </a:ext>
            </a:extLst>
          </p:cNvPr>
          <p:cNvSpPr>
            <a:spLocks noGrp="1"/>
          </p:cNvSpPr>
          <p:nvPr>
            <p:ph type="subTitle" idx="1"/>
          </p:nvPr>
        </p:nvSpPr>
        <p:spPr>
          <a:xfrm>
            <a:off x="4810259" y="649480"/>
            <a:ext cx="6555347" cy="5546047"/>
          </a:xfrm>
        </p:spPr>
        <p:txBody>
          <a:bodyPr vert="horz" lIns="91440" tIns="45720" rIns="91440" bIns="45720" rtlCol="0" anchor="ctr">
            <a:normAutofit/>
          </a:bodyPr>
          <a:lstStyle/>
          <a:p>
            <a:pPr indent="-228600" algn="l">
              <a:buFont typeface="Arial" panose="020B0604020202020204" pitchFamily="34" charset="0"/>
              <a:buChar char="•"/>
            </a:pPr>
            <a:r>
              <a:rPr lang="en-US" sz="2000" b="1" dirty="0" err="1"/>
              <a:t>Το</a:t>
            </a:r>
            <a:r>
              <a:rPr lang="en-US" sz="2000" b="1" dirty="0"/>
              <a:t> </a:t>
            </a:r>
            <a:r>
              <a:rPr lang="en-US" sz="2000" b="1" dirty="0" err="1"/>
              <a:t>Πρό</a:t>
            </a:r>
            <a:r>
              <a:rPr lang="en-US" sz="2000" b="1" dirty="0"/>
              <a:t>βλημα:</a:t>
            </a:r>
            <a:endParaRPr lang="en-US" sz="2000" dirty="0"/>
          </a:p>
          <a:p>
            <a:pPr lvl="1" indent="-228600" algn="l">
              <a:buFont typeface="Arial" panose="020B0604020202020204" pitchFamily="34" charset="0"/>
              <a:buChar char="•"/>
            </a:pPr>
            <a:r>
              <a:rPr lang="en-US" dirty="0"/>
              <a:t>Ο Router 1 μπ</a:t>
            </a:r>
            <a:r>
              <a:rPr lang="en-US" dirty="0" err="1"/>
              <a:t>λοκάρει</a:t>
            </a:r>
            <a:r>
              <a:rPr lang="en-US" dirty="0"/>
              <a:t> </a:t>
            </a:r>
            <a:r>
              <a:rPr lang="en-US" dirty="0" err="1"/>
              <a:t>γι</a:t>
            </a:r>
            <a:r>
              <a:rPr lang="en-US" dirty="0"/>
              <a:t>α μεγάλο διάστημα (24ms - 40ms) για να στείλει κάθε "γίγαντα" πακέτο.</a:t>
            </a:r>
          </a:p>
          <a:p>
            <a:pPr indent="-228600" algn="l">
              <a:buFont typeface="Arial" panose="020B0604020202020204" pitchFamily="34" charset="0"/>
              <a:buChar char="•"/>
            </a:pPr>
            <a:r>
              <a:rPr lang="en-US" sz="2000" b="1" dirty="0"/>
              <a:t>3000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9.6 Mbps</a:t>
            </a:r>
            <a:r>
              <a:rPr lang="en-US" dirty="0"/>
              <a:t> (</a:t>
            </a:r>
            <a:r>
              <a:rPr lang="en-US" dirty="0" err="1"/>
              <a:t>σε</a:t>
            </a:r>
            <a:r>
              <a:rPr lang="en-US" dirty="0"/>
              <a:t> κα</a:t>
            </a:r>
            <a:r>
              <a:rPr lang="en-US" dirty="0" err="1"/>
              <a:t>νάλι</a:t>
            </a:r>
            <a:r>
              <a:rPr lang="en-US" dirty="0"/>
              <a:t> 1 Mbps).</a:t>
            </a:r>
          </a:p>
          <a:p>
            <a:pPr lvl="1" indent="-228600" algn="l">
              <a:buFont typeface="Arial" panose="020B0604020202020204" pitchFamily="34" charset="0"/>
              <a:buChar char="•"/>
            </a:pPr>
            <a:r>
              <a:rPr lang="en-US" b="1" dirty="0"/>
              <a:t>Packet Loss:</a:t>
            </a:r>
            <a:r>
              <a:rPr lang="en-US" dirty="0"/>
              <a:t> </a:t>
            </a:r>
            <a:r>
              <a:rPr lang="en-US" b="1" dirty="0"/>
              <a:t>~89%</a:t>
            </a:r>
            <a:r>
              <a:rPr lang="en-US" dirty="0"/>
              <a:t>.</a:t>
            </a:r>
          </a:p>
          <a:p>
            <a:pPr indent="-228600" algn="l">
              <a:buFont typeface="Arial" panose="020B0604020202020204" pitchFamily="34" charset="0"/>
              <a:buChar char="•"/>
            </a:pPr>
            <a:r>
              <a:rPr lang="en-US" sz="2000" b="1" dirty="0"/>
              <a:t>5000 Bytes:</a:t>
            </a:r>
            <a:endParaRPr lang="en-US" sz="2000" dirty="0"/>
          </a:p>
          <a:p>
            <a:pPr lvl="1" indent="-228600" algn="l">
              <a:buFont typeface="Arial" panose="020B0604020202020204" pitchFamily="34" charset="0"/>
              <a:buChar char="•"/>
            </a:pPr>
            <a:r>
              <a:rPr lang="en-US" dirty="0" err="1"/>
              <a:t>Φόρτος</a:t>
            </a:r>
            <a:r>
              <a:rPr lang="en-US" dirty="0"/>
              <a:t>: </a:t>
            </a:r>
            <a:r>
              <a:rPr lang="en-US" b="1" dirty="0"/>
              <a:t>16 Mbps</a:t>
            </a:r>
            <a:r>
              <a:rPr lang="en-US" dirty="0"/>
              <a:t>.</a:t>
            </a:r>
          </a:p>
          <a:p>
            <a:pPr lvl="1" indent="-228600" algn="l">
              <a:buFont typeface="Arial" panose="020B0604020202020204" pitchFamily="34" charset="0"/>
              <a:buChar char="•"/>
            </a:pPr>
            <a:r>
              <a:rPr lang="en-US" b="1" dirty="0"/>
              <a:t>Packet Loss:</a:t>
            </a:r>
            <a:r>
              <a:rPr lang="en-US" dirty="0"/>
              <a:t> </a:t>
            </a:r>
            <a:r>
              <a:rPr lang="en-US" b="1" dirty="0"/>
              <a:t>~93%</a:t>
            </a:r>
            <a:r>
              <a:rPr lang="en-US" dirty="0"/>
              <a:t>.</a:t>
            </a:r>
          </a:p>
          <a:p>
            <a:pPr lvl="1" indent="-228600" algn="l">
              <a:buFont typeface="Arial" panose="020B0604020202020204" pitchFamily="34" charset="0"/>
              <a:buChar char="•"/>
            </a:pPr>
            <a:r>
              <a:rPr lang="en-US" b="1" dirty="0"/>
              <a:t>Κα</a:t>
            </a:r>
            <a:r>
              <a:rPr lang="en-US" b="1" dirty="0" err="1"/>
              <a:t>τάρρευση</a:t>
            </a:r>
            <a:r>
              <a:rPr lang="en-US" b="1" dirty="0"/>
              <a:t>:</a:t>
            </a:r>
            <a:r>
              <a:rPr lang="en-US" dirty="0"/>
              <a:t> </a:t>
            </a:r>
            <a:r>
              <a:rPr lang="en-US" dirty="0" err="1"/>
              <a:t>Το</a:t>
            </a:r>
            <a:r>
              <a:rPr lang="en-US" dirty="0"/>
              <a:t> </a:t>
            </a:r>
            <a:r>
              <a:rPr lang="en-US" dirty="0" err="1"/>
              <a:t>δίκτυο</a:t>
            </a:r>
            <a:r>
              <a:rPr lang="en-US" dirty="0"/>
              <a:t> </a:t>
            </a:r>
            <a:r>
              <a:rPr lang="en-US" dirty="0" err="1"/>
              <a:t>μετ</a:t>
            </a:r>
            <a:r>
              <a:rPr lang="en-US" dirty="0"/>
              <a:t>αφέρει επιτυχώς λιγότερο από το 7% της πληροφορίας.</a:t>
            </a:r>
          </a:p>
          <a:p>
            <a:pPr indent="-228600" algn="l">
              <a:buFont typeface="Arial" panose="020B0604020202020204" pitchFamily="34" charset="0"/>
              <a:buChar char="•"/>
            </a:pPr>
            <a:endParaRPr lang="en-US" sz="2000" dirty="0"/>
          </a:p>
        </p:txBody>
      </p:sp>
    </p:spTree>
    <p:extLst>
      <p:ext uri="{BB962C8B-B14F-4D97-AF65-F5344CB8AC3E}">
        <p14:creationId xmlns:p14="http://schemas.microsoft.com/office/powerpoint/2010/main" val="233043873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3BCA8BD5-5AE2-44E0-D9E6-2877AECE43B1}"/>
              </a:ext>
            </a:extLst>
          </p:cNvPr>
          <p:cNvPicPr>
            <a:picLocks noChangeAspect="1"/>
          </p:cNvPicPr>
          <p:nvPr/>
        </p:nvPicPr>
        <p:blipFill>
          <a:blip r:embed="rId2"/>
          <a:stretch>
            <a:fillRect/>
          </a:stretch>
        </p:blipFill>
        <p:spPr>
          <a:xfrm>
            <a:off x="-1" y="0"/>
            <a:ext cx="12192001" cy="6857999"/>
          </a:xfrm>
          <a:prstGeom prst="rect">
            <a:avLst/>
          </a:prstGeom>
        </p:spPr>
      </p:pic>
      <p:sp>
        <p:nvSpPr>
          <p:cNvPr id="3" name="TextBox 2">
            <a:extLst>
              <a:ext uri="{FF2B5EF4-FFF2-40B4-BE49-F238E27FC236}">
                <a16:creationId xmlns:a16="http://schemas.microsoft.com/office/drawing/2014/main" id="{B1A3528C-9DBE-2196-2065-FF634219C25C}"/>
              </a:ext>
            </a:extLst>
          </p:cNvPr>
          <p:cNvSpPr txBox="1"/>
          <p:nvPr/>
        </p:nvSpPr>
        <p:spPr>
          <a:xfrm>
            <a:off x="-1" y="123825"/>
            <a:ext cx="1378326" cy="400110"/>
          </a:xfrm>
          <a:prstGeom prst="rect">
            <a:avLst/>
          </a:prstGeom>
          <a:noFill/>
        </p:spPr>
        <p:txBody>
          <a:bodyPr wrap="none" rtlCol="0">
            <a:spAutoFit/>
          </a:bodyPr>
          <a:lstStyle/>
          <a:p>
            <a:r>
              <a:rPr lang="en-US" sz="2000" b="1" dirty="0"/>
              <a:t>3000Bytes</a:t>
            </a:r>
          </a:p>
        </p:txBody>
      </p:sp>
    </p:spTree>
    <p:extLst>
      <p:ext uri="{BB962C8B-B14F-4D97-AF65-F5344CB8AC3E}">
        <p14:creationId xmlns:p14="http://schemas.microsoft.com/office/powerpoint/2010/main" val="8737969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A screenshot of a graph&#10;&#10;AI-generated content may be incorrect.">
            <a:extLst>
              <a:ext uri="{FF2B5EF4-FFF2-40B4-BE49-F238E27FC236}">
                <a16:creationId xmlns:a16="http://schemas.microsoft.com/office/drawing/2014/main" id="{C67C2757-1BD3-354A-DD7D-9A80F2FA1510}"/>
              </a:ext>
            </a:extLst>
          </p:cNvPr>
          <p:cNvPicPr>
            <a:picLocks noChangeAspect="1"/>
          </p:cNvPicPr>
          <p:nvPr/>
        </p:nvPicPr>
        <p:blipFill>
          <a:blip r:embed="rId2"/>
          <a:stretch>
            <a:fillRect/>
          </a:stretch>
        </p:blipFill>
        <p:spPr>
          <a:xfrm>
            <a:off x="0" y="0"/>
            <a:ext cx="12192000" cy="6857999"/>
          </a:xfrm>
          <a:prstGeom prst="rect">
            <a:avLst/>
          </a:prstGeom>
        </p:spPr>
      </p:pic>
      <p:sp>
        <p:nvSpPr>
          <p:cNvPr id="3" name="TextBox 2">
            <a:extLst>
              <a:ext uri="{FF2B5EF4-FFF2-40B4-BE49-F238E27FC236}">
                <a16:creationId xmlns:a16="http://schemas.microsoft.com/office/drawing/2014/main" id="{405B8CC8-55C0-F9A7-C5B6-304D58C7CBF0}"/>
              </a:ext>
            </a:extLst>
          </p:cNvPr>
          <p:cNvSpPr txBox="1"/>
          <p:nvPr/>
        </p:nvSpPr>
        <p:spPr>
          <a:xfrm>
            <a:off x="0" y="123825"/>
            <a:ext cx="1378326" cy="400110"/>
          </a:xfrm>
          <a:prstGeom prst="rect">
            <a:avLst/>
          </a:prstGeom>
          <a:noFill/>
        </p:spPr>
        <p:txBody>
          <a:bodyPr wrap="none" rtlCol="0">
            <a:spAutoFit/>
          </a:bodyPr>
          <a:lstStyle/>
          <a:p>
            <a:r>
              <a:rPr lang="en-US" sz="2000" b="1" dirty="0"/>
              <a:t>5000Bytes</a:t>
            </a:r>
          </a:p>
        </p:txBody>
      </p:sp>
    </p:spTree>
    <p:extLst>
      <p:ext uri="{BB962C8B-B14F-4D97-AF65-F5344CB8AC3E}">
        <p14:creationId xmlns:p14="http://schemas.microsoft.com/office/powerpoint/2010/main" val="404858861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0E30439A-8A5B-46EC-8283-9B6B031D40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27"/>
            <a:ext cx="12192001" cy="6858000"/>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55521" y="-1720"/>
            <a:ext cx="11750040" cy="6840685"/>
          </a:xfrm>
          <a:prstGeom prst="rect">
            <a:avLst/>
          </a:prstGeom>
          <a:gradFill>
            <a:gsLst>
              <a:gs pos="21000">
                <a:schemeClr val="accent1">
                  <a:lumMod val="50000"/>
                  <a:alpha val="61000"/>
                </a:schemeClr>
              </a:gs>
              <a:gs pos="100000">
                <a:schemeClr val="accent1">
                  <a:alpha val="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06054" y="-1291"/>
            <a:ext cx="3608179" cy="6858864"/>
          </a:xfrm>
          <a:prstGeom prst="rect">
            <a:avLst/>
          </a:prstGeom>
          <a:gradFill>
            <a:gsLst>
              <a:gs pos="0">
                <a:schemeClr val="accent1">
                  <a:lumMod val="75000"/>
                  <a:alpha val="0"/>
                </a:schemeClr>
              </a:gs>
              <a:gs pos="99000">
                <a:srgbClr val="000000">
                  <a:alpha val="41000"/>
                </a:srgbClr>
              </a:gs>
            </a:gsLst>
            <a:lin ang="16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274173">
            <a:off x="6059728" y="779270"/>
            <a:ext cx="4967533" cy="4988390"/>
          </a:xfrm>
          <a:prstGeom prst="ellipse">
            <a:avLst/>
          </a:prstGeom>
          <a:gradFill>
            <a:gsLst>
              <a:gs pos="0">
                <a:schemeClr val="accent1">
                  <a:alpha val="24000"/>
                </a:schemeClr>
              </a:gs>
              <a:gs pos="79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657CAE8-535E-E416-9847-2C5FF5FB0FD6}"/>
              </a:ext>
            </a:extLst>
          </p:cNvPr>
          <p:cNvSpPr>
            <a:spLocks noGrp="1"/>
          </p:cNvSpPr>
          <p:nvPr>
            <p:ph type="title"/>
          </p:nvPr>
        </p:nvSpPr>
        <p:spPr>
          <a:xfrm>
            <a:off x="1386865" y="818984"/>
            <a:ext cx="6596245" cy="3268520"/>
          </a:xfrm>
        </p:spPr>
        <p:txBody>
          <a:bodyPr vert="horz" lIns="91440" tIns="45720" rIns="91440" bIns="45720" rtlCol="0" anchor="b">
            <a:normAutofit/>
          </a:bodyPr>
          <a:lstStyle/>
          <a:p>
            <a:pPr algn="r"/>
            <a:r>
              <a:rPr lang="en-US" sz="4800" b="1" kern="1200">
                <a:solidFill>
                  <a:srgbClr val="FFFFFF"/>
                </a:solidFill>
                <a:latin typeface="+mj-lt"/>
                <a:ea typeface="+mj-ea"/>
                <a:cs typeface="+mj-cs"/>
              </a:rPr>
              <a:t>Ευχαριστούμε για τον χρόνο σας!</a:t>
            </a:r>
          </a:p>
        </p:txBody>
      </p:sp>
      <p:sp>
        <p:nvSpPr>
          <p:cNvPr id="53" name="Rectangle 5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6314" y="4480038"/>
            <a:ext cx="12179371" cy="2377962"/>
          </a:xfrm>
          <a:prstGeom prst="rect">
            <a:avLst/>
          </a:prstGeom>
          <a:gradFill>
            <a:gsLst>
              <a:gs pos="0">
                <a:schemeClr val="accent1">
                  <a:lumMod val="75000"/>
                  <a:alpha val="50000"/>
                </a:schemeClr>
              </a:gs>
              <a:gs pos="99000">
                <a:srgbClr val="000000">
                  <a:alpha val="34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ectangle 54">
            <a:extLst>
              <a:ext uri="{FF2B5EF4-FFF2-40B4-BE49-F238E27FC236}">
                <a16:creationId xmlns:a16="http://schemas.microsoft.com/office/drawing/2014/main" id="{53947E58-F088-49F1-A3D1-DEA690192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6967085" y="1632660"/>
            <a:ext cx="6857572" cy="3592258"/>
          </a:xfrm>
          <a:prstGeom prst="rect">
            <a:avLst/>
          </a:prstGeom>
          <a:gradFill>
            <a:gsLst>
              <a:gs pos="0">
                <a:schemeClr val="accent1">
                  <a:lumMod val="75000"/>
                  <a:alpha val="50000"/>
                </a:schemeClr>
              </a:gs>
              <a:gs pos="99000">
                <a:srgbClr val="000000">
                  <a:alpha val="0"/>
                </a:srgb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881389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223</TotalTime>
  <Words>1925</Words>
  <Application>Microsoft Office PowerPoint</Application>
  <PresentationFormat>Widescreen</PresentationFormat>
  <Paragraphs>142</Paragraphs>
  <Slides>31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Aptos</vt:lpstr>
      <vt:lpstr>Aptos Display</vt:lpstr>
      <vt:lpstr>Arial</vt:lpstr>
      <vt:lpstr>Office Theme</vt:lpstr>
      <vt:lpstr>Εργασία 13: Προσομοίωση &amp; Ανάλυση Απόδοσης Δικτύου με Python &amp; SimPy</vt:lpstr>
      <vt:lpstr>Το Πρόβλημα και τα Εργαλεία μας </vt:lpstr>
      <vt:lpstr>Οι Ιδιότητες του Δικτύου &amp; της Κίνησης</vt:lpstr>
      <vt:lpstr>Ανατομία της Συνολικής Καθυστέρησης (End-to-End Delay)</vt:lpstr>
      <vt:lpstr>Διαχείριση της Συμφόρησης</vt:lpstr>
      <vt:lpstr>PowerPoint Presentation</vt:lpstr>
      <vt:lpstr>Ανάλυση Συμφόρησης (1 Mbps)</vt:lpstr>
      <vt:lpstr>PowerPoint Presentation</vt:lpstr>
      <vt:lpstr>Ανάλυση Σταθερότητας (10 Mbps)</vt:lpstr>
      <vt:lpstr>PowerPoint Presentation</vt:lpstr>
      <vt:lpstr>Ανάλυση Υπερ-επάρκειας (100 Mbps)</vt:lpstr>
      <vt:lpstr>PowerPoint Presentation</vt:lpstr>
      <vt:lpstr>Σύγκριση Σεναρίων &amp; Συμπεράσματα</vt:lpstr>
      <vt:lpstr>Επίδραση Μεγέθους Πακέτου (Packet Size)</vt:lpstr>
      <vt:lpstr>Μικρά(100bytes) ενάντιας Μεσαία Πακέτα(1000bytes)</vt:lpstr>
      <vt:lpstr>PowerPoint Presentation</vt:lpstr>
      <vt:lpstr>Μεγάλα Πακέτα &amp; Ακραία Συμφόρηση</vt:lpstr>
      <vt:lpstr>PowerPoint Presentation</vt:lpstr>
      <vt:lpstr>PowerPoint Presentation</vt:lpstr>
      <vt:lpstr>Επέκταση Δικτύου</vt:lpstr>
      <vt:lpstr>Το Σημείο Συμφόρησης (1 Mbps)</vt:lpstr>
      <vt:lpstr>PowerPoint Presentation</vt:lpstr>
      <vt:lpstr>Η Λύση του Bandwidth (10 &amp; 100 Mbps)</vt:lpstr>
      <vt:lpstr>PowerPoint Presentation</vt:lpstr>
      <vt:lpstr>PowerPoint Presentation</vt:lpstr>
      <vt:lpstr>Επίδραση Μεγέθους: Μικρά Πακέτα (100 Bytes)</vt:lpstr>
      <vt:lpstr>PowerPoint Presentation</vt:lpstr>
      <vt:lpstr>Καταστροφική Συμφόρηση (3000B &amp; 5000B)</vt:lpstr>
      <vt:lpstr>PowerPoint Presentation</vt:lpstr>
      <vt:lpstr>PowerPoint Presentation</vt:lpstr>
      <vt:lpstr>Ευχαριστούμε για τον χρόνο σας!</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alex chalampakis</dc:creator>
  <cp:lastModifiedBy>ΧΑΛΑΜΠΑΚΗΣ ΑΛΕΞΑΝΔΡΟΣ - ΓΕΩΡΓΙΟΣ</cp:lastModifiedBy>
  <cp:revision>77</cp:revision>
  <dcterms:created xsi:type="dcterms:W3CDTF">2025-11-03T13:00:07Z</dcterms:created>
  <dcterms:modified xsi:type="dcterms:W3CDTF">2025-11-23T17:10:01Z</dcterms:modified>
</cp:coreProperties>
</file>