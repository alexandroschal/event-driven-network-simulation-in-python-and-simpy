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63" r:id="rId5"/>
    <p:sldId id="260" r:id="rId6"/>
    <p:sldId id="261" r:id="rId7"/>
    <p:sldId id="262" r:id="rId8"/>
    <p:sldId id="265" r:id="rId9"/>
    <p:sldId id="264" r:id="rId10"/>
    <p:sldId id="266" r:id="rId11"/>
    <p:sldId id="268" r:id="rId12"/>
    <p:sldId id="269"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62"/>
            <p14:sldId id="265"/>
            <p14:sldId id="264"/>
            <p14:sldId id="266"/>
            <p14:sldId id="268"/>
            <p14:sldId id="269"/>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a:t>Packet Size:</a:t>
          </a:r>
          <a:r>
            <a:rPr lang="el-GR"/>
            <a:t> 1000 Bytes. Το μέγεθος κάθε πακέτου</a:t>
          </a:r>
          <a:endParaRPr lang="en-US"/>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a:t>1000 Bytes / 125,000 Bytes/sec = 0.008 δευτερόλεπτα</a:t>
          </a:r>
          <a:endParaRPr lang="en-US"/>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872FBD6E-E11E-4DC0-91DE-BB112245BE12}">
      <dgm:prSet/>
      <dgm:spPr/>
      <dgm:t>
        <a:bodyPr/>
        <a:lstStyle/>
        <a:p>
          <a:r>
            <a:rPr lang="el-GR" b="1"/>
            <a:t>Ορίζουμε τον Ρυθμό Αφίξεων (Arrival Rate):</a:t>
          </a:r>
          <a:endParaRPr lang="en-US"/>
        </a:p>
      </dgm:t>
    </dgm:pt>
    <dgm:pt modelId="{9DBF5F8F-5689-4BE4-8256-7395A1551706}" type="parTrans" cxnId="{CB60EE52-9425-45FA-87CC-59FB74B5444F}">
      <dgm:prSet/>
      <dgm:spPr/>
      <dgm:t>
        <a:bodyPr/>
        <a:lstStyle/>
        <a:p>
          <a:endParaRPr lang="en-US"/>
        </a:p>
      </dgm:t>
    </dgm:pt>
    <dgm:pt modelId="{F6496B42-11E7-40F6-BE26-4F92F00B5C8F}" type="sibTrans" cxnId="{CB60EE52-9425-45FA-87CC-59FB74B5444F}">
      <dgm:prSet/>
      <dgm:spPr/>
      <dgm:t>
        <a:bodyPr/>
        <a:lstStyle/>
        <a:p>
          <a:endParaRPr lang="en-US"/>
        </a:p>
      </dgm:t>
    </dgm:pt>
    <dgm:pt modelId="{5816EC2C-D231-48C5-AEFB-1F1898F6C4D8}">
      <dgm:prSet/>
      <dgm:spPr/>
      <dgm:t>
        <a:bodyPr/>
        <a:lstStyle/>
        <a:p>
          <a:r>
            <a:rPr lang="el-GR"/>
            <a:t>Packet Interval = 0.005 δευτερόλεπτα</a:t>
          </a:r>
          <a:endParaRPr lang="en-US"/>
        </a:p>
      </dgm:t>
    </dgm:pt>
    <dgm:pt modelId="{873A91D2-A0F7-4CB8-BA82-D40EE1BF62FC}" type="parTrans" cxnId="{25033150-E7B7-433D-9E9D-FDEAD0CC325B}">
      <dgm:prSet/>
      <dgm:spPr/>
      <dgm:t>
        <a:bodyPr/>
        <a:lstStyle/>
        <a:p>
          <a:endParaRPr lang="en-US"/>
        </a:p>
      </dgm:t>
    </dgm:pt>
    <dgm:pt modelId="{61B898E4-0ADB-4388-A448-7F0DF26673D5}" type="sibTrans" cxnId="{25033150-E7B7-433D-9E9D-FDEAD0CC325B}">
      <dgm:prSet/>
      <dgm:spPr/>
      <dgm:t>
        <a:bodyPr/>
        <a:lstStyle/>
        <a:p>
          <a:endParaRPr lang="en-US"/>
        </a:p>
      </dgm:t>
    </dgm:pt>
    <dgm:pt modelId="{CAEFC759-7ADB-4F8B-A92D-842B5427C5EE}">
      <dgm:prSet/>
      <dgm:spPr/>
      <dgm:t>
        <a:bodyPr/>
        <a:lstStyle/>
        <a:p>
          <a:r>
            <a:rPr lang="el-GR" dirty="0"/>
            <a:t>Η πηγή στέλνει ένα νέο πακέτο κάθε </a:t>
          </a:r>
          <a:r>
            <a:rPr lang="el-GR" b="1" dirty="0"/>
            <a:t>5ms</a:t>
          </a:r>
          <a:r>
            <a:rPr lang="el-GR" dirty="0"/>
            <a:t>.</a:t>
          </a:r>
          <a:endParaRPr lang="en-US" dirty="0"/>
        </a:p>
      </dgm:t>
    </dgm:pt>
    <dgm:pt modelId="{8FF14044-9100-43AB-9AD6-6DF84FBBB50C}" type="parTrans" cxnId="{7C3CBA73-A049-4B09-B301-7A5AF29F8871}">
      <dgm:prSet/>
      <dgm:spPr/>
      <dgm:t>
        <a:bodyPr/>
        <a:lstStyle/>
        <a:p>
          <a:endParaRPr lang="en-US"/>
        </a:p>
      </dgm:t>
    </dgm:pt>
    <dgm:pt modelId="{B3CB2C4A-D201-49B2-8702-7982D2C5BF2D}" type="sibTrans" cxnId="{7C3CBA73-A049-4B09-B301-7A5AF29F8871}">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4">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4">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4">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4">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4">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4">
        <dgm:presLayoutVars>
          <dgm:bulletEnabled val="1"/>
        </dgm:presLayoutVars>
      </dgm:prSet>
      <dgm:spPr/>
    </dgm:pt>
    <dgm:pt modelId="{E6712225-47FD-4783-B181-1F88C49E573F}" type="pres">
      <dgm:prSet presAssocID="{033FCEDA-566C-424C-8AC8-E29B750A5443}" presName="sp" presStyleCnt="0"/>
      <dgm:spPr/>
    </dgm:pt>
    <dgm:pt modelId="{C87277CE-22B8-4641-ACE1-A295B50C25C6}" type="pres">
      <dgm:prSet presAssocID="{872FBD6E-E11E-4DC0-91DE-BB112245BE12}" presName="linNode" presStyleCnt="0"/>
      <dgm:spPr/>
    </dgm:pt>
    <dgm:pt modelId="{4C3C8293-E665-422C-8F53-BB15BCE73427}" type="pres">
      <dgm:prSet presAssocID="{872FBD6E-E11E-4DC0-91DE-BB112245BE12}" presName="parentText" presStyleLbl="node1" presStyleIdx="3" presStyleCnt="4">
        <dgm:presLayoutVars>
          <dgm:chMax val="1"/>
          <dgm:bulletEnabled val="1"/>
        </dgm:presLayoutVars>
      </dgm:prSet>
      <dgm:spPr/>
    </dgm:pt>
    <dgm:pt modelId="{1A98226B-975D-417E-8BB5-F849EC8BE9C1}" type="pres">
      <dgm:prSet presAssocID="{872FBD6E-E11E-4DC0-91DE-BB112245BE12}" presName="descendantText" presStyleLbl="alignAccFollowNode1" presStyleIdx="3" presStyleCnt="4">
        <dgm:presLayoutVars>
          <dgm:bulletEnabled val="1"/>
        </dgm:presLayoutVars>
      </dgm:prSet>
      <dgm:spPr/>
    </dgm:pt>
  </dgm:ptLst>
  <dgm:cxnLst>
    <dgm:cxn modelId="{697C3512-591A-458C-86AD-63272514AD4D}" type="presOf" srcId="{CAEFC759-7ADB-4F8B-A92D-842B5427C5EE}" destId="{1A98226B-975D-417E-8BB5-F849EC8BE9C1}" srcOrd="0" destOrd="1" presId="urn:microsoft.com/office/officeart/2005/8/layout/vList5"/>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0445F12B-AD5F-4624-90C8-35BEF06636C1}" type="presOf" srcId="{5816EC2C-D231-48C5-AEFB-1F1898F6C4D8}" destId="{1A98226B-975D-417E-8BB5-F849EC8BE9C1}" srcOrd="0" destOrd="0" presId="urn:microsoft.com/office/officeart/2005/8/layout/vList5"/>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25033150-E7B7-433D-9E9D-FDEAD0CC325B}" srcId="{872FBD6E-E11E-4DC0-91DE-BB112245BE12}" destId="{5816EC2C-D231-48C5-AEFB-1F1898F6C4D8}" srcOrd="0" destOrd="0" parTransId="{873A91D2-A0F7-4CB8-BA82-D40EE1BF62FC}" sibTransId="{61B898E4-0ADB-4388-A448-7F0DF26673D5}"/>
    <dgm:cxn modelId="{CB60EE52-9425-45FA-87CC-59FB74B5444F}" srcId="{85D69326-44DD-4742-86E4-66314258F05D}" destId="{872FBD6E-E11E-4DC0-91DE-BB112245BE12}" srcOrd="3" destOrd="0" parTransId="{9DBF5F8F-5689-4BE4-8256-7395A1551706}" sibTransId="{F6496B42-11E7-40F6-BE26-4F92F00B5C8F}"/>
    <dgm:cxn modelId="{7C3CBA73-A049-4B09-B301-7A5AF29F8871}" srcId="{872FBD6E-E11E-4DC0-91DE-BB112245BE12}" destId="{CAEFC759-7ADB-4F8B-A92D-842B5427C5EE}" srcOrd="1" destOrd="0" parTransId="{8FF14044-9100-43AB-9AD6-6DF84FBBB50C}" sibTransId="{B3CB2C4A-D201-49B2-8702-7982D2C5BF2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003123AD-83B9-4943-AE74-3D60226B11F0}" type="presOf" srcId="{872FBD6E-E11E-4DC0-91DE-BB112245BE12}" destId="{4C3C8293-E665-422C-8F53-BB15BCE73427}" srcOrd="0" destOrd="0" presId="urn:microsoft.com/office/officeart/2005/8/layout/vList5"/>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 modelId="{CF0B15AF-42A3-4E16-8965-7434A08FA345}" type="presParOf" srcId="{E91D0413-D1BD-4220-A10D-694EAE9E0BD9}" destId="{E6712225-47FD-4783-B181-1F88C49E573F}" srcOrd="5" destOrd="0" presId="urn:microsoft.com/office/officeart/2005/8/layout/vList5"/>
    <dgm:cxn modelId="{A78CEBE0-B3B9-4A5D-B254-3971F21535AD}" type="presParOf" srcId="{E91D0413-D1BD-4220-A10D-694EAE9E0BD9}" destId="{C87277CE-22B8-4641-ACE1-A295B50C25C6}" srcOrd="6" destOrd="0" presId="urn:microsoft.com/office/officeart/2005/8/layout/vList5"/>
    <dgm:cxn modelId="{0A93B5D7-6625-4EC5-9A5A-1E5D8DA7FE99}" type="presParOf" srcId="{C87277CE-22B8-4641-ACE1-A295B50C25C6}" destId="{4C3C8293-E665-422C-8F53-BB15BCE73427}" srcOrd="0" destOrd="0" presId="urn:microsoft.com/office/officeart/2005/8/layout/vList5"/>
    <dgm:cxn modelId="{0B13FAB8-675B-4795-9B78-F267F487C99E}" type="presParOf" srcId="{C87277CE-22B8-4641-ACE1-A295B50C25C6}" destId="{1A98226B-975D-417E-8BB5-F849EC8BE9C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4D16F9B-EE76-431F-BCB5-9A552F0C08CC}" type="doc">
      <dgm:prSet loTypeId="urn:microsoft.com/office/officeart/2005/8/layout/hProcess3" loCatId="process" qsTypeId="urn:microsoft.com/office/officeart/2005/8/quickstyle/simple1" qsCatId="simple" csTypeId="urn:microsoft.com/office/officeart/2005/8/colors/accent1_2" csCatId="accent1"/>
      <dgm:spPr/>
      <dgm:t>
        <a:bodyPr/>
        <a:lstStyle/>
        <a:p>
          <a:endParaRPr lang="en-US"/>
        </a:p>
      </dgm:t>
    </dgm:pt>
    <dgm:pt modelId="{139B9A6A-D9F5-40FB-99BF-B295DB991B99}">
      <dgm:prSet custT="1"/>
      <dgm:spPr/>
      <dgm:t>
        <a:bodyPr/>
        <a:lstStyle/>
        <a:p>
          <a:r>
            <a:rPr lang="en-US" sz="2800" b="1" dirty="0">
              <a:solidFill>
                <a:schemeClr val="bg1"/>
              </a:solidFill>
            </a:rPr>
            <a:t>Απ</a:t>
          </a:r>
          <a:r>
            <a:rPr lang="en-US" sz="2800" b="1" dirty="0" err="1">
              <a:solidFill>
                <a:schemeClr val="bg1"/>
              </a:solidFill>
            </a:rPr>
            <a:t>οτελέσμ</a:t>
          </a:r>
          <a:r>
            <a:rPr lang="en-US" sz="2800" b="1" dirty="0">
              <a:solidFill>
                <a:schemeClr val="bg1"/>
              </a:solidFill>
            </a:rPr>
            <a:t>ατα &amp; Γραφήματα</a:t>
          </a:r>
          <a:br>
            <a:rPr lang="en-US" sz="2800" b="1" dirty="0"/>
          </a:br>
          <a:endParaRPr lang="en-US" sz="2800" dirty="0"/>
        </a:p>
      </dgm:t>
    </dgm:pt>
    <dgm:pt modelId="{7E882FEF-C1E2-4489-AAD0-41B33F0082E0}" type="parTrans" cxnId="{37C53E37-2118-484A-8782-47E02377EB15}">
      <dgm:prSet/>
      <dgm:spPr/>
      <dgm:t>
        <a:bodyPr/>
        <a:lstStyle/>
        <a:p>
          <a:endParaRPr lang="en-US"/>
        </a:p>
      </dgm:t>
    </dgm:pt>
    <dgm:pt modelId="{12366017-4E3F-43A2-880C-0CEF144C2A60}" type="sibTrans" cxnId="{37C53E37-2118-484A-8782-47E02377EB15}">
      <dgm:prSet/>
      <dgm:spPr/>
      <dgm:t>
        <a:bodyPr/>
        <a:lstStyle/>
        <a:p>
          <a:endParaRPr lang="en-US"/>
        </a:p>
      </dgm:t>
    </dgm:pt>
    <dgm:pt modelId="{FB2E6EEC-6B7B-4CAE-84D8-1FB064DA7077}" type="pres">
      <dgm:prSet presAssocID="{74D16F9B-EE76-431F-BCB5-9A552F0C08CC}" presName="Name0" presStyleCnt="0">
        <dgm:presLayoutVars>
          <dgm:dir/>
          <dgm:animLvl val="lvl"/>
          <dgm:resizeHandles val="exact"/>
        </dgm:presLayoutVars>
      </dgm:prSet>
      <dgm:spPr/>
    </dgm:pt>
    <dgm:pt modelId="{8BD58FDC-B3CC-493E-9689-46C80A5C1D99}" type="pres">
      <dgm:prSet presAssocID="{74D16F9B-EE76-431F-BCB5-9A552F0C08CC}" presName="dummy" presStyleCnt="0"/>
      <dgm:spPr/>
    </dgm:pt>
    <dgm:pt modelId="{E1BE43BA-68C9-4EBE-BAA0-FAFAB0686149}" type="pres">
      <dgm:prSet presAssocID="{74D16F9B-EE76-431F-BCB5-9A552F0C08CC}" presName="linH" presStyleCnt="0"/>
      <dgm:spPr/>
    </dgm:pt>
    <dgm:pt modelId="{B541EE22-AAD6-49F1-B38E-61F9F96C6DDE}" type="pres">
      <dgm:prSet presAssocID="{74D16F9B-EE76-431F-BCB5-9A552F0C08CC}" presName="padding1" presStyleCnt="0"/>
      <dgm:spPr/>
    </dgm:pt>
    <dgm:pt modelId="{DF5CED48-00FA-45B2-8B4B-82CD564DBADA}" type="pres">
      <dgm:prSet presAssocID="{139B9A6A-D9F5-40FB-99BF-B295DB991B99}" presName="linV" presStyleCnt="0"/>
      <dgm:spPr/>
    </dgm:pt>
    <dgm:pt modelId="{2F33C540-10C5-4E69-A7F6-7671FF46DE47}" type="pres">
      <dgm:prSet presAssocID="{139B9A6A-D9F5-40FB-99BF-B295DB991B99}" presName="spVertical1" presStyleCnt="0"/>
      <dgm:spPr/>
    </dgm:pt>
    <dgm:pt modelId="{697A7518-0BA5-42B0-BBE4-E290CE251132}" type="pres">
      <dgm:prSet presAssocID="{139B9A6A-D9F5-40FB-99BF-B295DB991B99}" presName="parTx" presStyleLbl="revTx" presStyleIdx="0" presStyleCnt="1" custLinFactNeighborX="-6928" custLinFactNeighborY="25783">
        <dgm:presLayoutVars>
          <dgm:chMax val="0"/>
          <dgm:chPref val="0"/>
          <dgm:bulletEnabled val="1"/>
        </dgm:presLayoutVars>
      </dgm:prSet>
      <dgm:spPr/>
    </dgm:pt>
    <dgm:pt modelId="{AC1D68E4-B7CF-4AA5-9BA3-606DF652827F}" type="pres">
      <dgm:prSet presAssocID="{139B9A6A-D9F5-40FB-99BF-B295DB991B99}" presName="spVertical2" presStyleCnt="0"/>
      <dgm:spPr/>
    </dgm:pt>
    <dgm:pt modelId="{814C8D55-3FC5-4B9D-88D4-A581D1F0521B}" type="pres">
      <dgm:prSet presAssocID="{139B9A6A-D9F5-40FB-99BF-B295DB991B99}" presName="spVertical3" presStyleCnt="0"/>
      <dgm:spPr/>
    </dgm:pt>
    <dgm:pt modelId="{76E2CC21-8297-461D-935D-48F789FA1EE4}" type="pres">
      <dgm:prSet presAssocID="{74D16F9B-EE76-431F-BCB5-9A552F0C08CC}" presName="padding2" presStyleCnt="0"/>
      <dgm:spPr/>
    </dgm:pt>
    <dgm:pt modelId="{DF5CAAEB-7FCE-43AA-A516-2C25EB89902B}" type="pres">
      <dgm:prSet presAssocID="{74D16F9B-EE76-431F-BCB5-9A552F0C08CC}" presName="negArrow" presStyleCnt="0"/>
      <dgm:spPr/>
    </dgm:pt>
    <dgm:pt modelId="{8D13CE35-6AA3-4FC9-84DE-C7DD9195C734}" type="pres">
      <dgm:prSet presAssocID="{74D16F9B-EE76-431F-BCB5-9A552F0C08CC}" presName="backgroundArrow" presStyleLbl="node1" presStyleIdx="0" presStyleCnt="1"/>
      <dgm:spPr/>
    </dgm:pt>
  </dgm:ptLst>
  <dgm:cxnLst>
    <dgm:cxn modelId="{492EE02C-A8C2-4D8E-AADA-0D35EB4CB13D}" type="presOf" srcId="{74D16F9B-EE76-431F-BCB5-9A552F0C08CC}" destId="{FB2E6EEC-6B7B-4CAE-84D8-1FB064DA7077}" srcOrd="0" destOrd="0" presId="urn:microsoft.com/office/officeart/2005/8/layout/hProcess3"/>
    <dgm:cxn modelId="{37C53E37-2118-484A-8782-47E02377EB15}" srcId="{74D16F9B-EE76-431F-BCB5-9A552F0C08CC}" destId="{139B9A6A-D9F5-40FB-99BF-B295DB991B99}" srcOrd="0" destOrd="0" parTransId="{7E882FEF-C1E2-4489-AAD0-41B33F0082E0}" sibTransId="{12366017-4E3F-43A2-880C-0CEF144C2A60}"/>
    <dgm:cxn modelId="{2D32B57C-1C9B-47AF-B6AC-34AA23D0D07B}" type="presOf" srcId="{139B9A6A-D9F5-40FB-99BF-B295DB991B99}" destId="{697A7518-0BA5-42B0-BBE4-E290CE251132}" srcOrd="0" destOrd="0" presId="urn:microsoft.com/office/officeart/2005/8/layout/hProcess3"/>
    <dgm:cxn modelId="{AFAA04A6-60D0-44D5-96CF-CD795E5E7358}" type="presParOf" srcId="{FB2E6EEC-6B7B-4CAE-84D8-1FB064DA7077}" destId="{8BD58FDC-B3CC-493E-9689-46C80A5C1D99}" srcOrd="0" destOrd="0" presId="urn:microsoft.com/office/officeart/2005/8/layout/hProcess3"/>
    <dgm:cxn modelId="{474FD215-E503-4924-BD59-1C6C270B38EE}" type="presParOf" srcId="{FB2E6EEC-6B7B-4CAE-84D8-1FB064DA7077}" destId="{E1BE43BA-68C9-4EBE-BAA0-FAFAB0686149}" srcOrd="1" destOrd="0" presId="urn:microsoft.com/office/officeart/2005/8/layout/hProcess3"/>
    <dgm:cxn modelId="{28F76B4F-1A42-4560-966F-D8D7A225949D}" type="presParOf" srcId="{E1BE43BA-68C9-4EBE-BAA0-FAFAB0686149}" destId="{B541EE22-AAD6-49F1-B38E-61F9F96C6DDE}" srcOrd="0" destOrd="0" presId="urn:microsoft.com/office/officeart/2005/8/layout/hProcess3"/>
    <dgm:cxn modelId="{DB310787-F8CB-48EF-9E72-09FAF81574D2}" type="presParOf" srcId="{E1BE43BA-68C9-4EBE-BAA0-FAFAB0686149}" destId="{DF5CED48-00FA-45B2-8B4B-82CD564DBADA}" srcOrd="1" destOrd="0" presId="urn:microsoft.com/office/officeart/2005/8/layout/hProcess3"/>
    <dgm:cxn modelId="{4BE4AEAF-7F60-4FB2-9DCD-E5184BEAA4BB}" type="presParOf" srcId="{DF5CED48-00FA-45B2-8B4B-82CD564DBADA}" destId="{2F33C540-10C5-4E69-A7F6-7671FF46DE47}" srcOrd="0" destOrd="0" presId="urn:microsoft.com/office/officeart/2005/8/layout/hProcess3"/>
    <dgm:cxn modelId="{5A0C5620-BEB9-4A1A-8953-CC3761264D54}" type="presParOf" srcId="{DF5CED48-00FA-45B2-8B4B-82CD564DBADA}" destId="{697A7518-0BA5-42B0-BBE4-E290CE251132}" srcOrd="1" destOrd="0" presId="urn:microsoft.com/office/officeart/2005/8/layout/hProcess3"/>
    <dgm:cxn modelId="{289DA061-1734-4EFA-9DDB-AA73D35A4861}" type="presParOf" srcId="{DF5CED48-00FA-45B2-8B4B-82CD564DBADA}" destId="{AC1D68E4-B7CF-4AA5-9BA3-606DF652827F}" srcOrd="2" destOrd="0" presId="urn:microsoft.com/office/officeart/2005/8/layout/hProcess3"/>
    <dgm:cxn modelId="{3DC2CF34-78C2-4A01-B8D2-61BA0BADF9F3}" type="presParOf" srcId="{DF5CED48-00FA-45B2-8B4B-82CD564DBADA}" destId="{814C8D55-3FC5-4B9D-88D4-A581D1F0521B}" srcOrd="3" destOrd="0" presId="urn:microsoft.com/office/officeart/2005/8/layout/hProcess3"/>
    <dgm:cxn modelId="{C016CF29-DBEA-4BBD-8C6D-805FBFA23C47}" type="presParOf" srcId="{E1BE43BA-68C9-4EBE-BAA0-FAFAB0686149}" destId="{76E2CC21-8297-461D-935D-48F789FA1EE4}" srcOrd="2" destOrd="0" presId="urn:microsoft.com/office/officeart/2005/8/layout/hProcess3"/>
    <dgm:cxn modelId="{787A59EC-AE38-48F8-AE8B-3D5CEF2C7296}" type="presParOf" srcId="{E1BE43BA-68C9-4EBE-BAA0-FAFAB0686149}" destId="{DF5CAAEB-7FCE-43AA-A516-2C25EB89902B}" srcOrd="3" destOrd="0" presId="urn:microsoft.com/office/officeart/2005/8/layout/hProcess3"/>
    <dgm:cxn modelId="{EA8F6383-E322-4BE6-9023-D068DD0AFBD2}" type="presParOf" srcId="{E1BE43BA-68C9-4EBE-BAA0-FAFAB0686149}" destId="{8D13CE35-6AA3-4FC9-84DE-C7DD9195C734}" srcOrd="4" destOrd="0" presId="urn:microsoft.com/office/officeart/2005/8/layout/h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4D16F9B-EE76-431F-BCB5-9A552F0C08CC}" type="doc">
      <dgm:prSet loTypeId="urn:microsoft.com/office/officeart/2005/8/layout/hProcess3" loCatId="process" qsTypeId="urn:microsoft.com/office/officeart/2005/8/quickstyle/simple1" qsCatId="simple" csTypeId="urn:microsoft.com/office/officeart/2005/8/colors/accent1_2" csCatId="accent1"/>
      <dgm:spPr/>
      <dgm:t>
        <a:bodyPr/>
        <a:lstStyle/>
        <a:p>
          <a:endParaRPr lang="en-US"/>
        </a:p>
      </dgm:t>
    </dgm:pt>
    <dgm:pt modelId="{139B9A6A-D9F5-40FB-99BF-B295DB991B99}">
      <dgm:prSet custT="1"/>
      <dgm:spPr/>
      <dgm:t>
        <a:bodyPr/>
        <a:lstStyle/>
        <a:p>
          <a:r>
            <a:rPr lang="en-US" sz="2800" b="1" dirty="0">
              <a:solidFill>
                <a:schemeClr val="bg1"/>
              </a:solidFill>
            </a:rPr>
            <a:t>Απ</a:t>
          </a:r>
          <a:r>
            <a:rPr lang="en-US" sz="2800" b="1" dirty="0" err="1">
              <a:solidFill>
                <a:schemeClr val="bg1"/>
              </a:solidFill>
            </a:rPr>
            <a:t>οτελέσμ</a:t>
          </a:r>
          <a:r>
            <a:rPr lang="en-US" sz="2800" b="1" dirty="0">
              <a:solidFill>
                <a:schemeClr val="bg1"/>
              </a:solidFill>
            </a:rPr>
            <a:t>ατα &amp; Γραφήματα</a:t>
          </a:r>
          <a:br>
            <a:rPr lang="en-US" sz="2800" b="1" dirty="0"/>
          </a:br>
          <a:endParaRPr lang="en-US" sz="2800" dirty="0"/>
        </a:p>
      </dgm:t>
    </dgm:pt>
    <dgm:pt modelId="{7E882FEF-C1E2-4489-AAD0-41B33F0082E0}" type="parTrans" cxnId="{37C53E37-2118-484A-8782-47E02377EB15}">
      <dgm:prSet/>
      <dgm:spPr/>
      <dgm:t>
        <a:bodyPr/>
        <a:lstStyle/>
        <a:p>
          <a:endParaRPr lang="en-US"/>
        </a:p>
      </dgm:t>
    </dgm:pt>
    <dgm:pt modelId="{12366017-4E3F-43A2-880C-0CEF144C2A60}" type="sibTrans" cxnId="{37C53E37-2118-484A-8782-47E02377EB15}">
      <dgm:prSet/>
      <dgm:spPr/>
      <dgm:t>
        <a:bodyPr/>
        <a:lstStyle/>
        <a:p>
          <a:endParaRPr lang="en-US"/>
        </a:p>
      </dgm:t>
    </dgm:pt>
    <dgm:pt modelId="{FB2E6EEC-6B7B-4CAE-84D8-1FB064DA7077}" type="pres">
      <dgm:prSet presAssocID="{74D16F9B-EE76-431F-BCB5-9A552F0C08CC}" presName="Name0" presStyleCnt="0">
        <dgm:presLayoutVars>
          <dgm:dir/>
          <dgm:animLvl val="lvl"/>
          <dgm:resizeHandles val="exact"/>
        </dgm:presLayoutVars>
      </dgm:prSet>
      <dgm:spPr/>
    </dgm:pt>
    <dgm:pt modelId="{8BD58FDC-B3CC-493E-9689-46C80A5C1D99}" type="pres">
      <dgm:prSet presAssocID="{74D16F9B-EE76-431F-BCB5-9A552F0C08CC}" presName="dummy" presStyleCnt="0"/>
      <dgm:spPr/>
    </dgm:pt>
    <dgm:pt modelId="{E1BE43BA-68C9-4EBE-BAA0-FAFAB0686149}" type="pres">
      <dgm:prSet presAssocID="{74D16F9B-EE76-431F-BCB5-9A552F0C08CC}" presName="linH" presStyleCnt="0"/>
      <dgm:spPr/>
    </dgm:pt>
    <dgm:pt modelId="{B541EE22-AAD6-49F1-B38E-61F9F96C6DDE}" type="pres">
      <dgm:prSet presAssocID="{74D16F9B-EE76-431F-BCB5-9A552F0C08CC}" presName="padding1" presStyleCnt="0"/>
      <dgm:spPr/>
    </dgm:pt>
    <dgm:pt modelId="{DF5CED48-00FA-45B2-8B4B-82CD564DBADA}" type="pres">
      <dgm:prSet presAssocID="{139B9A6A-D9F5-40FB-99BF-B295DB991B99}" presName="linV" presStyleCnt="0"/>
      <dgm:spPr/>
    </dgm:pt>
    <dgm:pt modelId="{2F33C540-10C5-4E69-A7F6-7671FF46DE47}" type="pres">
      <dgm:prSet presAssocID="{139B9A6A-D9F5-40FB-99BF-B295DB991B99}" presName="spVertical1" presStyleCnt="0"/>
      <dgm:spPr/>
    </dgm:pt>
    <dgm:pt modelId="{697A7518-0BA5-42B0-BBE4-E290CE251132}" type="pres">
      <dgm:prSet presAssocID="{139B9A6A-D9F5-40FB-99BF-B295DB991B99}" presName="parTx" presStyleLbl="revTx" presStyleIdx="0" presStyleCnt="1" custLinFactNeighborX="-6928" custLinFactNeighborY="25783">
        <dgm:presLayoutVars>
          <dgm:chMax val="0"/>
          <dgm:chPref val="0"/>
          <dgm:bulletEnabled val="1"/>
        </dgm:presLayoutVars>
      </dgm:prSet>
      <dgm:spPr/>
    </dgm:pt>
    <dgm:pt modelId="{AC1D68E4-B7CF-4AA5-9BA3-606DF652827F}" type="pres">
      <dgm:prSet presAssocID="{139B9A6A-D9F5-40FB-99BF-B295DB991B99}" presName="spVertical2" presStyleCnt="0"/>
      <dgm:spPr/>
    </dgm:pt>
    <dgm:pt modelId="{814C8D55-3FC5-4B9D-88D4-A581D1F0521B}" type="pres">
      <dgm:prSet presAssocID="{139B9A6A-D9F5-40FB-99BF-B295DB991B99}" presName="spVertical3" presStyleCnt="0"/>
      <dgm:spPr/>
    </dgm:pt>
    <dgm:pt modelId="{76E2CC21-8297-461D-935D-48F789FA1EE4}" type="pres">
      <dgm:prSet presAssocID="{74D16F9B-EE76-431F-BCB5-9A552F0C08CC}" presName="padding2" presStyleCnt="0"/>
      <dgm:spPr/>
    </dgm:pt>
    <dgm:pt modelId="{DF5CAAEB-7FCE-43AA-A516-2C25EB89902B}" type="pres">
      <dgm:prSet presAssocID="{74D16F9B-EE76-431F-BCB5-9A552F0C08CC}" presName="negArrow" presStyleCnt="0"/>
      <dgm:spPr/>
    </dgm:pt>
    <dgm:pt modelId="{8D13CE35-6AA3-4FC9-84DE-C7DD9195C734}" type="pres">
      <dgm:prSet presAssocID="{74D16F9B-EE76-431F-BCB5-9A552F0C08CC}" presName="backgroundArrow" presStyleLbl="node1" presStyleIdx="0" presStyleCnt="1"/>
      <dgm:spPr/>
    </dgm:pt>
  </dgm:ptLst>
  <dgm:cxnLst>
    <dgm:cxn modelId="{492EE02C-A8C2-4D8E-AADA-0D35EB4CB13D}" type="presOf" srcId="{74D16F9B-EE76-431F-BCB5-9A552F0C08CC}" destId="{FB2E6EEC-6B7B-4CAE-84D8-1FB064DA7077}" srcOrd="0" destOrd="0" presId="urn:microsoft.com/office/officeart/2005/8/layout/hProcess3"/>
    <dgm:cxn modelId="{37C53E37-2118-484A-8782-47E02377EB15}" srcId="{74D16F9B-EE76-431F-BCB5-9A552F0C08CC}" destId="{139B9A6A-D9F5-40FB-99BF-B295DB991B99}" srcOrd="0" destOrd="0" parTransId="{7E882FEF-C1E2-4489-AAD0-41B33F0082E0}" sibTransId="{12366017-4E3F-43A2-880C-0CEF144C2A60}"/>
    <dgm:cxn modelId="{2D32B57C-1C9B-47AF-B6AC-34AA23D0D07B}" type="presOf" srcId="{139B9A6A-D9F5-40FB-99BF-B295DB991B99}" destId="{697A7518-0BA5-42B0-BBE4-E290CE251132}" srcOrd="0" destOrd="0" presId="urn:microsoft.com/office/officeart/2005/8/layout/hProcess3"/>
    <dgm:cxn modelId="{AFAA04A6-60D0-44D5-96CF-CD795E5E7358}" type="presParOf" srcId="{FB2E6EEC-6B7B-4CAE-84D8-1FB064DA7077}" destId="{8BD58FDC-B3CC-493E-9689-46C80A5C1D99}" srcOrd="0" destOrd="0" presId="urn:microsoft.com/office/officeart/2005/8/layout/hProcess3"/>
    <dgm:cxn modelId="{474FD215-E503-4924-BD59-1C6C270B38EE}" type="presParOf" srcId="{FB2E6EEC-6B7B-4CAE-84D8-1FB064DA7077}" destId="{E1BE43BA-68C9-4EBE-BAA0-FAFAB0686149}" srcOrd="1" destOrd="0" presId="urn:microsoft.com/office/officeart/2005/8/layout/hProcess3"/>
    <dgm:cxn modelId="{28F76B4F-1A42-4560-966F-D8D7A225949D}" type="presParOf" srcId="{E1BE43BA-68C9-4EBE-BAA0-FAFAB0686149}" destId="{B541EE22-AAD6-49F1-B38E-61F9F96C6DDE}" srcOrd="0" destOrd="0" presId="urn:microsoft.com/office/officeart/2005/8/layout/hProcess3"/>
    <dgm:cxn modelId="{DB310787-F8CB-48EF-9E72-09FAF81574D2}" type="presParOf" srcId="{E1BE43BA-68C9-4EBE-BAA0-FAFAB0686149}" destId="{DF5CED48-00FA-45B2-8B4B-82CD564DBADA}" srcOrd="1" destOrd="0" presId="urn:microsoft.com/office/officeart/2005/8/layout/hProcess3"/>
    <dgm:cxn modelId="{4BE4AEAF-7F60-4FB2-9DCD-E5184BEAA4BB}" type="presParOf" srcId="{DF5CED48-00FA-45B2-8B4B-82CD564DBADA}" destId="{2F33C540-10C5-4E69-A7F6-7671FF46DE47}" srcOrd="0" destOrd="0" presId="urn:microsoft.com/office/officeart/2005/8/layout/hProcess3"/>
    <dgm:cxn modelId="{5A0C5620-BEB9-4A1A-8953-CC3761264D54}" type="presParOf" srcId="{DF5CED48-00FA-45B2-8B4B-82CD564DBADA}" destId="{697A7518-0BA5-42B0-BBE4-E290CE251132}" srcOrd="1" destOrd="0" presId="urn:microsoft.com/office/officeart/2005/8/layout/hProcess3"/>
    <dgm:cxn modelId="{289DA061-1734-4EFA-9DDB-AA73D35A4861}" type="presParOf" srcId="{DF5CED48-00FA-45B2-8B4B-82CD564DBADA}" destId="{AC1D68E4-B7CF-4AA5-9BA3-606DF652827F}" srcOrd="2" destOrd="0" presId="urn:microsoft.com/office/officeart/2005/8/layout/hProcess3"/>
    <dgm:cxn modelId="{3DC2CF34-78C2-4A01-B8D2-61BA0BADF9F3}" type="presParOf" srcId="{DF5CED48-00FA-45B2-8B4B-82CD564DBADA}" destId="{814C8D55-3FC5-4B9D-88D4-A581D1F0521B}" srcOrd="3" destOrd="0" presId="urn:microsoft.com/office/officeart/2005/8/layout/hProcess3"/>
    <dgm:cxn modelId="{C016CF29-DBEA-4BBD-8C6D-805FBFA23C47}" type="presParOf" srcId="{E1BE43BA-68C9-4EBE-BAA0-FAFAB0686149}" destId="{76E2CC21-8297-461D-935D-48F789FA1EE4}" srcOrd="2" destOrd="0" presId="urn:microsoft.com/office/officeart/2005/8/layout/hProcess3"/>
    <dgm:cxn modelId="{787A59EC-AE38-48F8-AE8B-3D5CEF2C7296}" type="presParOf" srcId="{E1BE43BA-68C9-4EBE-BAA0-FAFAB0686149}" destId="{DF5CAAEB-7FCE-43AA-A516-2C25EB89902B}" srcOrd="3" destOrd="0" presId="urn:microsoft.com/office/officeart/2005/8/layout/hProcess3"/>
    <dgm:cxn modelId="{EA8F6383-E322-4BE6-9023-D068DD0AFBD2}" type="presParOf" srcId="{E1BE43BA-68C9-4EBE-BAA0-FAFAB0686149}" destId="{8D13CE35-6AA3-4FC9-84DE-C7DD9195C734}" srcOrd="4" destOrd="0" presId="urn:microsoft.com/office/officeart/2005/8/layout/h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731621" y="-2839081"/>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b="1" kern="1200" dirty="0"/>
            <a:t>Bandwidth:</a:t>
          </a:r>
          <a:r>
            <a:rPr lang="el-GR" sz="1200" kern="1200" dirty="0"/>
            <a:t> 1 Mbps</a:t>
          </a:r>
          <a:r>
            <a:rPr lang="en-US" sz="1200" kern="1200" dirty="0"/>
            <a:t>.</a:t>
          </a:r>
          <a:r>
            <a:rPr lang="el-GR" sz="1200" kern="1200" dirty="0"/>
            <a:t>Το εύρος ζώνης είναι ο μέγιστος ρυθμός μεταφοράς δεδομένων.</a:t>
          </a:r>
          <a:br>
            <a:rPr lang="el-GR" sz="1200" kern="1200" dirty="0"/>
          </a:br>
          <a:r>
            <a:rPr lang="en-US" sz="1200" b="1" kern="1200" dirty="0"/>
            <a:t>Bandwidth </a:t>
          </a:r>
          <a:r>
            <a:rPr lang="el-GR" sz="1200" b="1" kern="1200" dirty="0"/>
            <a:t>σε </a:t>
          </a:r>
          <a:r>
            <a:rPr lang="en-US" sz="1200" b="1" kern="1200" dirty="0"/>
            <a:t>Bytes: </a:t>
          </a:r>
          <a:r>
            <a:rPr lang="en-US" sz="1200" kern="1200" dirty="0"/>
            <a:t>Bandwidth/8=125.000</a:t>
          </a:r>
          <a:br>
            <a:rPr lang="el-GR" sz="1200" kern="1200" dirty="0"/>
          </a:br>
          <a:r>
            <a:rPr lang="el-GR" sz="1200" b="1" kern="1200" dirty="0"/>
            <a:t>Propagation Delay:</a:t>
          </a:r>
          <a:r>
            <a:rPr lang="el-GR" sz="1200" kern="1200" dirty="0"/>
            <a:t> 50 ms. Καθυστέρηση διάδοσης είναι η χρονική διάρκεια που απαιτείται για να φτάσει ένα σήμα στον προορισμό του</a:t>
          </a:r>
          <a:r>
            <a:rPr lang="en-US" sz="1200" kern="1200" dirty="0"/>
            <a:t>.</a:t>
          </a:r>
          <a:r>
            <a:rPr lang="el-GR" sz="1200" kern="1200" dirty="0"/>
            <a:t>  </a:t>
          </a:r>
          <a:endParaRPr lang="en-US" sz="1200" kern="1200" dirty="0"/>
        </a:p>
      </dsp:txBody>
      <dsp:txXfrm rot="-5400000">
        <a:off x="3785615" y="147831"/>
        <a:ext cx="6689078" cy="756160"/>
      </dsp:txXfrm>
    </dsp:sp>
    <dsp:sp modelId="{1912DF6A-2585-4A61-90CF-3969A2906B4A}">
      <dsp:nvSpPr>
        <dsp:cNvPr id="0" name=""/>
        <dsp:cNvSpPr/>
      </dsp:nvSpPr>
      <dsp:spPr>
        <a:xfrm>
          <a:off x="0" y="2177"/>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dirty="0"/>
            <a:t>Ιδιότητες Σύνδεσης (Link Properties):</a:t>
          </a:r>
          <a:endParaRPr lang="en-US" sz="2000" kern="1200" dirty="0"/>
        </a:p>
      </dsp:txBody>
      <dsp:txXfrm>
        <a:off x="51133" y="53310"/>
        <a:ext cx="3683350" cy="945199"/>
      </dsp:txXfrm>
    </dsp:sp>
    <dsp:sp modelId="{4941C0ED-29C4-434A-A426-25C2D387BD79}">
      <dsp:nvSpPr>
        <dsp:cNvPr id="0" name=""/>
        <dsp:cNvSpPr/>
      </dsp:nvSpPr>
      <dsp:spPr>
        <a:xfrm rot="5400000">
          <a:off x="6731621" y="-1739242"/>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b="1" kern="1200"/>
            <a:t>Packet Size:</a:t>
          </a:r>
          <a:r>
            <a:rPr lang="el-GR" sz="1200" kern="1200"/>
            <a:t> 1000 Bytes. Το μέγεθος κάθε πακέτου</a:t>
          </a:r>
          <a:endParaRPr lang="en-US" sz="1200" kern="1200"/>
        </a:p>
      </dsp:txBody>
      <dsp:txXfrm rot="-5400000">
        <a:off x="3785615" y="1247670"/>
        <a:ext cx="6689078" cy="756160"/>
      </dsp:txXfrm>
    </dsp:sp>
    <dsp:sp modelId="{E8B91188-4BE9-49E8-839D-C577A75DD324}">
      <dsp:nvSpPr>
        <dsp:cNvPr id="0" name=""/>
        <dsp:cNvSpPr/>
      </dsp:nvSpPr>
      <dsp:spPr>
        <a:xfrm>
          <a:off x="0" y="1102016"/>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Ιδιότητες Κίνησης (Traffic Properties):</a:t>
          </a:r>
          <a:endParaRPr lang="en-US" sz="2000" kern="1200"/>
        </a:p>
      </dsp:txBody>
      <dsp:txXfrm>
        <a:off x="51133" y="1153149"/>
        <a:ext cx="3683350" cy="945199"/>
      </dsp:txXfrm>
    </dsp:sp>
    <dsp:sp modelId="{0B347050-530E-4D77-BD25-9718AF6A1990}">
      <dsp:nvSpPr>
        <dsp:cNvPr id="0" name=""/>
        <dsp:cNvSpPr/>
      </dsp:nvSpPr>
      <dsp:spPr>
        <a:xfrm rot="5400000">
          <a:off x="6731621" y="-639403"/>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kern="1200" dirty="0"/>
            <a:t>Transmission Delay = Packet Size / Bandwidth</a:t>
          </a:r>
          <a:endParaRPr lang="en-US" sz="1200" kern="1200" dirty="0"/>
        </a:p>
        <a:p>
          <a:pPr marL="114300" lvl="1" indent="-114300" algn="l" defTabSz="533400">
            <a:lnSpc>
              <a:spcPct val="90000"/>
            </a:lnSpc>
            <a:spcBef>
              <a:spcPct val="0"/>
            </a:spcBef>
            <a:spcAft>
              <a:spcPct val="15000"/>
            </a:spcAft>
            <a:buChar char="•"/>
          </a:pPr>
          <a:r>
            <a:rPr lang="el-GR" sz="1200" kern="1200"/>
            <a:t>1000 Bytes / 125,000 Bytes/sec = 0.008 δευτερόλεπτα</a:t>
          </a:r>
          <a:endParaRPr lang="en-US" sz="1200" kern="1200"/>
        </a:p>
        <a:p>
          <a:pPr marL="114300" lvl="1" indent="-114300" algn="l" defTabSz="533400">
            <a:lnSpc>
              <a:spcPct val="90000"/>
            </a:lnSpc>
            <a:spcBef>
              <a:spcPct val="0"/>
            </a:spcBef>
            <a:spcAft>
              <a:spcPct val="15000"/>
            </a:spcAft>
            <a:buChar char="•"/>
          </a:pPr>
          <a:r>
            <a:rPr lang="el-GR" sz="1200" kern="1200"/>
            <a:t>Αυτό σημαίνει ότι ο router χρειάζεται </a:t>
          </a:r>
          <a:r>
            <a:rPr lang="el-GR" sz="1200" b="1" kern="1200"/>
            <a:t>8ms</a:t>
          </a:r>
          <a:r>
            <a:rPr lang="el-GR" sz="1200" kern="1200"/>
            <a:t> για να σπρώξει ένα ολόκληρο πακέτο στη γραμμή.</a:t>
          </a:r>
          <a:endParaRPr lang="en-US" sz="1200" kern="1200"/>
        </a:p>
      </dsp:txBody>
      <dsp:txXfrm rot="-5400000">
        <a:off x="3785615" y="2347509"/>
        <a:ext cx="6689078" cy="756160"/>
      </dsp:txXfrm>
    </dsp:sp>
    <dsp:sp modelId="{DBB92D28-5C5A-451E-B08C-842B1CA6E3DB}">
      <dsp:nvSpPr>
        <dsp:cNvPr id="0" name=""/>
        <dsp:cNvSpPr/>
      </dsp:nvSpPr>
      <dsp:spPr>
        <a:xfrm>
          <a:off x="0" y="2201855"/>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Υπολογίζουμε τον Χρόνο Εξυπηρέτησης (Service Time):</a:t>
          </a:r>
          <a:endParaRPr lang="en-US" sz="2000" kern="1200"/>
        </a:p>
      </dsp:txBody>
      <dsp:txXfrm>
        <a:off x="51133" y="2252988"/>
        <a:ext cx="3683350" cy="945199"/>
      </dsp:txXfrm>
    </dsp:sp>
    <dsp:sp modelId="{1A98226B-975D-417E-8BB5-F849EC8BE9C1}">
      <dsp:nvSpPr>
        <dsp:cNvPr id="0" name=""/>
        <dsp:cNvSpPr/>
      </dsp:nvSpPr>
      <dsp:spPr>
        <a:xfrm rot="5400000">
          <a:off x="6731621" y="460435"/>
          <a:ext cx="837972"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22860" rIns="45720" bIns="22860" numCol="1" spcCol="1270" anchor="ctr" anchorCtr="0">
          <a:noAutofit/>
        </a:bodyPr>
        <a:lstStyle/>
        <a:p>
          <a:pPr marL="114300" lvl="1" indent="-114300" algn="l" defTabSz="533400">
            <a:lnSpc>
              <a:spcPct val="90000"/>
            </a:lnSpc>
            <a:spcBef>
              <a:spcPct val="0"/>
            </a:spcBef>
            <a:spcAft>
              <a:spcPct val="15000"/>
            </a:spcAft>
            <a:buChar char="•"/>
          </a:pPr>
          <a:r>
            <a:rPr lang="el-GR" sz="1200" kern="1200"/>
            <a:t>Packet Interval = 0.005 δευτερόλεπτα</a:t>
          </a:r>
          <a:endParaRPr lang="en-US" sz="1200" kern="1200"/>
        </a:p>
        <a:p>
          <a:pPr marL="114300" lvl="1" indent="-114300" algn="l" defTabSz="533400">
            <a:lnSpc>
              <a:spcPct val="90000"/>
            </a:lnSpc>
            <a:spcBef>
              <a:spcPct val="0"/>
            </a:spcBef>
            <a:spcAft>
              <a:spcPct val="15000"/>
            </a:spcAft>
            <a:buChar char="•"/>
          </a:pPr>
          <a:r>
            <a:rPr lang="el-GR" sz="1200" kern="1200" dirty="0"/>
            <a:t>Η πηγή στέλνει ένα νέο πακέτο κάθε </a:t>
          </a:r>
          <a:r>
            <a:rPr lang="el-GR" sz="1200" b="1" kern="1200" dirty="0"/>
            <a:t>5ms</a:t>
          </a:r>
          <a:r>
            <a:rPr lang="el-GR" sz="1200" kern="1200" dirty="0"/>
            <a:t>.</a:t>
          </a:r>
          <a:endParaRPr lang="en-US" sz="1200" kern="1200" dirty="0"/>
        </a:p>
      </dsp:txBody>
      <dsp:txXfrm rot="-5400000">
        <a:off x="3785615" y="3447347"/>
        <a:ext cx="6689078" cy="756160"/>
      </dsp:txXfrm>
    </dsp:sp>
    <dsp:sp modelId="{4C3C8293-E665-422C-8F53-BB15BCE73427}">
      <dsp:nvSpPr>
        <dsp:cNvPr id="0" name=""/>
        <dsp:cNvSpPr/>
      </dsp:nvSpPr>
      <dsp:spPr>
        <a:xfrm>
          <a:off x="0" y="3301694"/>
          <a:ext cx="3785616" cy="104746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l-GR" sz="2000" b="1" kern="1200"/>
            <a:t>Ορίζουμε τον Ρυθμό Αφίξεων (Arrival Rate):</a:t>
          </a:r>
          <a:endParaRPr lang="en-US" sz="2000" kern="1200"/>
        </a:p>
      </dsp:txBody>
      <dsp:txXfrm>
        <a:off x="51133" y="3352827"/>
        <a:ext cx="3683350" cy="94519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3CE35-6AA3-4FC9-84DE-C7DD9195C734}">
      <dsp:nvSpPr>
        <dsp:cNvPr id="0" name=""/>
        <dsp:cNvSpPr/>
      </dsp:nvSpPr>
      <dsp:spPr>
        <a:xfrm>
          <a:off x="0" y="28256"/>
          <a:ext cx="3981854" cy="2160000"/>
        </a:xfrm>
        <a:prstGeom prst="right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7A7518-0BA5-42B0-BBE4-E290CE251132}">
      <dsp:nvSpPr>
        <dsp:cNvPr id="0" name=""/>
        <dsp:cNvSpPr/>
      </dsp:nvSpPr>
      <dsp:spPr>
        <a:xfrm>
          <a:off x="95168" y="707484"/>
          <a:ext cx="3262476" cy="108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84480" rIns="0" bIns="2844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Απ</a:t>
          </a:r>
          <a:r>
            <a:rPr lang="en-US" sz="2800" b="1" kern="1200" dirty="0" err="1">
              <a:solidFill>
                <a:schemeClr val="bg1"/>
              </a:solidFill>
            </a:rPr>
            <a:t>οτελέσμ</a:t>
          </a:r>
          <a:r>
            <a:rPr lang="en-US" sz="2800" b="1" kern="1200" dirty="0">
              <a:solidFill>
                <a:schemeClr val="bg1"/>
              </a:solidFill>
            </a:rPr>
            <a:t>ατα &amp; Γραφήματα</a:t>
          </a:r>
          <a:br>
            <a:rPr lang="en-US" sz="2800" b="1" kern="1200" dirty="0"/>
          </a:br>
          <a:endParaRPr lang="en-US" sz="2800" kern="1200" dirty="0"/>
        </a:p>
      </dsp:txBody>
      <dsp:txXfrm>
        <a:off x="95168" y="707484"/>
        <a:ext cx="3262476" cy="108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13CE35-6AA3-4FC9-84DE-C7DD9195C734}">
      <dsp:nvSpPr>
        <dsp:cNvPr id="0" name=""/>
        <dsp:cNvSpPr/>
      </dsp:nvSpPr>
      <dsp:spPr>
        <a:xfrm>
          <a:off x="0" y="28256"/>
          <a:ext cx="3981854" cy="2160000"/>
        </a:xfrm>
        <a:prstGeom prst="right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97A7518-0BA5-42B0-BBE4-E290CE251132}">
      <dsp:nvSpPr>
        <dsp:cNvPr id="0" name=""/>
        <dsp:cNvSpPr/>
      </dsp:nvSpPr>
      <dsp:spPr>
        <a:xfrm>
          <a:off x="95168" y="707484"/>
          <a:ext cx="3262476" cy="108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84480" rIns="0" bIns="2844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Απ</a:t>
          </a:r>
          <a:r>
            <a:rPr lang="en-US" sz="2800" b="1" kern="1200" dirty="0" err="1">
              <a:solidFill>
                <a:schemeClr val="bg1"/>
              </a:solidFill>
            </a:rPr>
            <a:t>οτελέσμ</a:t>
          </a:r>
          <a:r>
            <a:rPr lang="en-US" sz="2800" b="1" kern="1200" dirty="0">
              <a:solidFill>
                <a:schemeClr val="bg1"/>
              </a:solidFill>
            </a:rPr>
            <a:t>ατα &amp; Γραφήματα</a:t>
          </a:r>
          <a:br>
            <a:rPr lang="en-US" sz="2800" b="1" kern="1200" dirty="0"/>
          </a:br>
          <a:endParaRPr lang="en-US" sz="2800" kern="1200" dirty="0"/>
        </a:p>
      </dsp:txBody>
      <dsp:txXfrm>
        <a:off x="95168" y="707484"/>
        <a:ext cx="3262476" cy="1080000"/>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layout6.xml><?xml version="1.0" encoding="utf-8"?>
<dgm:layoutDef xmlns:dgm="http://schemas.openxmlformats.org/drawingml/2006/diagram" xmlns:a="http://schemas.openxmlformats.org/drawingml/2006/main" uniqueId="urn:microsoft.com/office/officeart/2005/8/layout/hProcess3">
  <dgm:title val=""/>
  <dgm:desc val=""/>
  <dgm:catLst>
    <dgm:cat type="process" pri="6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chOrder="t">
    <dgm:varLst>
      <dgm:dir/>
      <dgm:animLvl val="lvl"/>
      <dgm:resizeHandles val="exact"/>
    </dgm:varLst>
    <dgm:alg type="composite"/>
    <dgm:shape xmlns:r="http://schemas.openxmlformats.org/officeDocument/2006/relationships" r:blip="">
      <dgm:adjLst/>
    </dgm:shape>
    <dgm:presOf/>
    <dgm:constrLst>
      <dgm:constr type="w" for="ch" forName="dummy" refType="w"/>
      <dgm:constr type="h" for="ch" forName="dummy" refType="h"/>
      <dgm:constr type="h" for="ch" forName="dummy" refType="w" refFor="ch" refForName="dummy" op="lte" fact="0.4"/>
      <dgm:constr type="ctrX" for="ch" forName="dummy" refType="w" fact="0.5"/>
      <dgm:constr type="ctrY" for="ch" forName="dummy" refType="h" fact="0.5"/>
      <dgm:constr type="w" for="ch" forName="linH" refType="w"/>
      <dgm:constr type="h" for="ch" forName="linH" refType="h"/>
      <dgm:constr type="ctrX" for="ch" forName="linH" refType="w" fact="0.5"/>
      <dgm:constr type="ctrY" for="ch" forName="linH" refType="h" fact="0.5"/>
      <dgm:constr type="userP" for="ch" forName="linH" refType="h" refFor="ch" refForName="dummy" fact="0.25"/>
      <dgm:constr type="userT" for="des" forName="parTx" refType="w" refFor="ch" refForName="dummy" fact="0.2"/>
    </dgm:constrLst>
    <dgm:ruleLst/>
    <dgm:layoutNode name="dummy">
      <dgm:alg type="sp"/>
      <dgm:shape xmlns:r="http://schemas.openxmlformats.org/officeDocument/2006/relationships" r:blip="">
        <dgm:adjLst/>
      </dgm:shape>
      <dgm:presOf/>
      <dgm:constrLst/>
      <dgm:ruleLst/>
    </dgm:layoutNode>
    <dgm:layoutNode name="linH">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primFontSz" for="des" forName="parTx" val="65"/>
        <dgm:constr type="primFontSz" for="des" forName="desTx" refType="primFontSz" refFor="des" refForName="parTx" op="equ"/>
        <dgm:constr type="h" for="des" forName="parTx" refType="primFontSz" refFor="des" refForName="parTx"/>
        <dgm:constr type="h" for="des" forName="desTx" refType="primFontSz" refFor="des" refForName="parTx" fact="0.5"/>
        <dgm:constr type="h" for="des" forName="parTx" op="equ"/>
        <dgm:constr type="h" for="des" forName="desTx" op="equ"/>
        <dgm:constr type="h" for="ch" forName="backgroundArrow" refType="primFontSz" refFor="des" refForName="parTx" fact="2"/>
        <dgm:constr type="h" for="ch" forName="backgroundArrow" refType="h" refFor="des" refForName="parTx" op="lte" fact="2"/>
        <dgm:constr type="h" for="ch" forName="backgroundArrow" refType="h" refFor="des" refForName="parTx" op="gte" fact="2"/>
        <dgm:constr type="h" for="des" forName="spVertical1" refType="primFontSz" refFor="des" refForName="parTx" fact="0.5"/>
        <dgm:constr type="h" for="des" forName="spVertical1" refType="h" refFor="des" refForName="parTx" op="lte" fact="0.5"/>
        <dgm:constr type="h" for="des" forName="spVertical1" refType="h" refFor="des" refForName="parTx" op="gte" fact="0.5"/>
        <dgm:constr type="h" for="des" forName="spVertical2" refType="primFontSz" refFor="des" refForName="parTx" fact="0.5"/>
        <dgm:constr type="h" for="des" forName="spVertical2" refType="h" refFor="des" refForName="parTx" op="lte" fact="0.5"/>
        <dgm:constr type="h" for="des" forName="spVertical2" refType="h" refFor="des" refForName="parTx" op="gte" fact="0.5"/>
        <dgm:constr type="h" for="des" forName="spVertical3" refType="primFontSz" refFor="des" refForName="parTx" fact="-0.4"/>
        <dgm:constr type="h" for="des" forName="spVertical3" refType="h" refFor="des" refForName="parTx" op="lte" fact="-0.4"/>
        <dgm:constr type="h" for="des" forName="spVertical3" refType="h" refFor="des" refForName="parTx" op="gte" fact="-0.4"/>
        <dgm:constr type="w" for="ch" forName="backgroundArrow" refType="w"/>
        <dgm:constr type="w" for="ch" forName="negArrow" refType="w" fact="-1"/>
        <dgm:constr type="w" for="ch" forName="linV" refType="w"/>
        <dgm:constr type="w" for="ch" forName="space" refType="w" refFor="ch" refForName="linV" fact="0.2"/>
        <dgm:constr type="w" for="ch" forName="padding1" refType="w" fact="0.08"/>
        <dgm:constr type="userP"/>
        <dgm:constr type="w" for="ch" forName="padding2" refType="userP"/>
      </dgm:constrLst>
      <dgm:ruleLst>
        <dgm:rule type="w" for="ch" forName="linV" val="0" fact="NaN" max="NaN"/>
        <dgm:rule type="primFontSz" for="des" forName="parTx" val="5" fact="NaN" max="NaN"/>
      </dgm:ruleLst>
      <dgm:layoutNode name="padding1">
        <dgm:alg type="sp"/>
        <dgm:shape xmlns:r="http://schemas.openxmlformats.org/officeDocument/2006/relationships" r:blip="">
          <dgm:adjLst/>
        </dgm:shape>
        <dgm:presOf/>
        <dgm:constrLst/>
        <dgm:ruleLst/>
      </dgm:layoutNode>
      <dgm:forEach name="Name4" axis="ch" ptType="node">
        <dgm:layoutNode name="linV">
          <dgm:alg type="lin">
            <dgm:param type="linDir" val="fromT"/>
          </dgm:alg>
          <dgm:shape xmlns:r="http://schemas.openxmlformats.org/officeDocument/2006/relationships" r:blip="">
            <dgm:adjLst/>
          </dgm:shape>
          <dgm:presOf/>
          <dgm:constrLst>
            <dgm:constr type="w" for="ch" forName="spVertical1" refType="w"/>
            <dgm:constr type="w" for="ch" forName="parTx" refType="w"/>
            <dgm:constr type="w" for="ch" forName="spVertical2" refType="w"/>
            <dgm:constr type="w" for="ch" forName="spVertical3" refType="w"/>
            <dgm:constr type="w" for="ch" forName="desTx" refType="w"/>
          </dgm:constrLst>
          <dgm:ruleLst/>
          <dgm:layoutNode name="spVertical1">
            <dgm:alg type="sp"/>
            <dgm:shape xmlns:r="http://schemas.openxmlformats.org/officeDocument/2006/relationships" r:blip="">
              <dgm:adjLst/>
            </dgm:shape>
            <dgm:presOf/>
            <dgm:constrLst/>
            <dgm:ruleLst/>
          </dgm:layoutNode>
          <dgm:layoutNode name="parTx" styleLbl="revTx">
            <dgm:varLst>
              <dgm:chMax val="0"/>
              <dgm:chPref val="0"/>
              <dgm:bulletEnabled val="1"/>
            </dgm:varLst>
            <dgm:choose name="Name5">
              <dgm:if name="Name6" axis="root des" ptType="all node" func="maxDepth" op="gt" val="1">
                <dgm:alg type="tx">
                  <dgm:param type="parTxLTRAlign" val="l"/>
                  <dgm:param type="parTxRTLAlign" val="r"/>
                </dgm:alg>
              </dgm:if>
              <dgm:else name="Name7">
                <dgm:alg type="tx">
                  <dgm:param type="parTxLTRAlign" val="ctr"/>
                  <dgm:param type="parTxRTLAlign" val="ctr"/>
                </dgm:alg>
              </dgm:else>
            </dgm:choose>
            <dgm:shape xmlns:r="http://schemas.openxmlformats.org/officeDocument/2006/relationships" type="rect" r:blip="">
              <dgm:adjLst/>
            </dgm:shape>
            <dgm:presOf axis="self" ptType="node"/>
            <dgm:choose name="Name8">
              <dgm:if name="Name9" func="var" arg="dir" op="equ" val="norm">
                <dgm:constrLst>
                  <dgm:constr type="userT"/>
                  <dgm:constr type="h" refType="userT" op="lte"/>
                  <dgm:constr type="tMarg" refType="primFontSz" fact="0.8"/>
                  <dgm:constr type="bMarg" refType="tMarg"/>
                  <dgm:constr type="lMarg"/>
                  <dgm:constr type="rMarg"/>
                </dgm:constrLst>
              </dgm:if>
              <dgm:else name="Name10">
                <dgm:constrLst>
                  <dgm:constr type="userT"/>
                  <dgm:constr type="h" refType="userT" op="lte"/>
                  <dgm:constr type="tMarg" refType="primFontSz" fact="0.8"/>
                  <dgm:constr type="bMarg" refType="tMarg"/>
                  <dgm:constr type="lMarg"/>
                  <dgm:constr type="rMarg"/>
                </dgm:constrLst>
              </dgm:else>
            </dgm:choose>
            <dgm:ruleLst>
              <dgm:rule type="h" val="INF" fact="NaN" max="NaN"/>
            </dgm:ruleLst>
          </dgm:layoutNode>
          <dgm:layoutNode name="spVertical2">
            <dgm:alg type="sp"/>
            <dgm:shape xmlns:r="http://schemas.openxmlformats.org/officeDocument/2006/relationships" r:blip="">
              <dgm:adjLst/>
            </dgm:shape>
            <dgm:presOf/>
            <dgm:constrLst/>
            <dgm:ruleLst/>
          </dgm:layoutNode>
          <dgm:layoutNode name="spVertical3">
            <dgm:alg type="sp"/>
            <dgm:shape xmlns:r="http://schemas.openxmlformats.org/officeDocument/2006/relationships" r:blip="">
              <dgm:adjLst/>
            </dgm:shape>
            <dgm:presOf/>
            <dgm:constrLst/>
            <dgm:ruleLst/>
          </dgm:layoutNode>
          <dgm:choose name="Name11">
            <dgm:if name="Name12" axis="ch" ptType="node" func="cnt" op="gte" val="1">
              <dgm:layoutNode name="desTx" styleLbl="revTx">
                <dgm:varLst>
                  <dgm:bulletEnabled val="1"/>
                </dgm:varLst>
                <dgm:alg type="tx">
                  <dgm:param type="stBulletLvl" val="1"/>
                </dgm:alg>
                <dgm:shape xmlns:r="http://schemas.openxmlformats.org/officeDocument/2006/relationships" type="rect" r:blip="">
                  <dgm:adjLst/>
                </dgm:shape>
                <dgm:presOf axis="des" ptType="node"/>
                <dgm:constrLst>
                  <dgm:constr type="tMarg"/>
                  <dgm:constr type="bMarg"/>
                  <dgm:constr type="rMarg"/>
                  <dgm:constr type="lMarg"/>
                </dgm:constrLst>
                <dgm:ruleLst>
                  <dgm:rule type="h" val="INF" fact="NaN" max="NaN"/>
                </dgm:ruleLst>
              </dgm:layoutNode>
            </dgm:if>
            <dgm:else name="Name13"/>
          </dgm:choose>
        </dgm:layoutNod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name="padding2">
        <dgm:alg type="sp"/>
        <dgm:shape xmlns:r="http://schemas.openxmlformats.org/officeDocument/2006/relationships" r:blip="">
          <dgm:adjLst/>
        </dgm:shape>
        <dgm:presOf/>
        <dgm:constrLst/>
        <dgm:ruleLst/>
      </dgm:layoutNode>
      <dgm:layoutNode name="negArrow">
        <dgm:alg type="sp"/>
        <dgm:shape xmlns:r="http://schemas.openxmlformats.org/officeDocument/2006/relationships" r:blip="">
          <dgm:adjLst/>
        </dgm:shape>
        <dgm:presOf/>
        <dgm:constrLst/>
        <dgm:ruleLst/>
      </dgm:layoutNode>
      <dgm:layoutNode name="backgroundArrow" styleLbl="node1">
        <dgm:alg type="sp"/>
        <dgm:choose name="Name15">
          <dgm:if name="Name16" func="var" arg="dir" op="equ" val="norm">
            <dgm:shape xmlns:r="http://schemas.openxmlformats.org/officeDocument/2006/relationships" type="rightArrow" r:blip="">
              <dgm:adjLst/>
            </dgm:shape>
          </dgm:if>
          <dgm:else name="Name17">
            <dgm:shape xmlns:r="http://schemas.openxmlformats.org/officeDocument/2006/relationships" type="leftArrow" r:blip="">
              <dgm:adjLst/>
            </dgm:shape>
          </dgm:else>
        </dgm:choose>
        <dgm:presOf/>
        <dgm:constrLst/>
        <dgm:ruleLst/>
      </dgm:layoutNode>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11/3/2025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2.png"/><Relationship Id="rId2" Type="http://schemas.openxmlformats.org/officeDocument/2006/relationships/diagramData" Target="../diagrams/data5.xml"/><Relationship Id="rId1" Type="http://schemas.openxmlformats.org/officeDocument/2006/relationships/slideLayout" Target="../slideLayouts/slideLayout9.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3.png"/><Relationship Id="rId2" Type="http://schemas.openxmlformats.org/officeDocument/2006/relationships/diagramData" Target="../diagrams/data6.xml"/><Relationship Id="rId1" Type="http://schemas.openxmlformats.org/officeDocument/2006/relationships/slideLayout" Target="../slideLayouts/slideLayout9.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419974926"/>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58ms</a:t>
            </a:r>
            <a:r>
              <a:rPr lang="el-GR" dirty="0"/>
              <a:t> για να ολοκληρώσει την αποστολή ενός πακέτου (8ms μετάδοση + 50ms ταξίδι). Αυτή η τεράστια αναντιστοιχία είναι η καρδιά της προσομοίωσής.</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600" dirty="0"/>
              <a:t>Η </a:t>
            </a:r>
            <a:r>
              <a:rPr lang="en-US" sz="1600" dirty="0" err="1"/>
              <a:t>συνολική</a:t>
            </a:r>
            <a:r>
              <a:rPr lang="en-US" sz="1600" dirty="0"/>
              <a:t> κα</a:t>
            </a:r>
            <a:r>
              <a:rPr lang="en-US" sz="1600" dirty="0" err="1"/>
              <a:t>θυστέρηση</a:t>
            </a:r>
            <a:r>
              <a:rPr lang="en-US" sz="1600" dirty="0"/>
              <a:t> απ</a:t>
            </a:r>
            <a:r>
              <a:rPr lang="en-US" sz="1600" dirty="0" err="1"/>
              <a:t>οτελείτ</a:t>
            </a:r>
            <a:r>
              <a:rPr lang="en-US" sz="1600" dirty="0"/>
              <a:t>αι από πολλά κομμάτια:</a:t>
            </a:r>
          </a:p>
          <a:p>
            <a:pPr indent="-228600" algn="l">
              <a:buFont typeface="Arial" panose="020B0604020202020204" pitchFamily="34" charset="0"/>
              <a:buChar char="•"/>
            </a:pPr>
            <a:r>
              <a:rPr lang="en-US" sz="1600" b="1" dirty="0"/>
              <a:t>Propagation Delay (Source → Router):</a:t>
            </a:r>
            <a:r>
              <a:rPr lang="en-US" sz="1600" dirty="0"/>
              <a:t> Ο </a:t>
            </a:r>
            <a:r>
              <a:rPr lang="en-US" sz="1600" dirty="0" err="1"/>
              <a:t>χρόνος</a:t>
            </a:r>
            <a:r>
              <a:rPr lang="en-US" sz="1600" dirty="0"/>
              <a:t> τα</a:t>
            </a:r>
            <a:r>
              <a:rPr lang="en-US" sz="1600" dirty="0" err="1"/>
              <a:t>ξιδιού</a:t>
            </a:r>
            <a:r>
              <a:rPr lang="en-US" sz="1600" dirty="0"/>
              <a:t> π</a:t>
            </a:r>
            <a:r>
              <a:rPr lang="en-US" sz="1600" dirty="0" err="1"/>
              <a:t>ρος</a:t>
            </a:r>
            <a:r>
              <a:rPr lang="en-US" sz="1600" dirty="0"/>
              <a:t> </a:t>
            </a:r>
            <a:r>
              <a:rPr lang="en-US" sz="1600" dirty="0" err="1"/>
              <a:t>τον</a:t>
            </a:r>
            <a:r>
              <a:rPr lang="en-US" sz="1600" dirty="0"/>
              <a:t> router.</a:t>
            </a:r>
          </a:p>
          <a:p>
            <a:pPr indent="-228600" algn="l">
              <a:buFont typeface="Arial" panose="020B0604020202020204" pitchFamily="34" charset="0"/>
              <a:buChar char="•"/>
            </a:pPr>
            <a:r>
              <a:rPr lang="en-US" sz="1600" b="1" dirty="0"/>
              <a:t>Queuing Delay (Router):</a:t>
            </a:r>
            <a:r>
              <a:rPr lang="en-US" sz="1600" dirty="0"/>
              <a:t> </a:t>
            </a:r>
            <a:r>
              <a:rPr lang="en-US" sz="1600" b="1" dirty="0"/>
              <a:t>Ο ΜΕΤΑΒΛΗΤΟΣ ΠΑΡΑΓΟΝΤΑΣ!</a:t>
            </a:r>
            <a:r>
              <a:rPr lang="en-US" sz="1600" dirty="0"/>
              <a:t> Ο </a:t>
            </a:r>
            <a:r>
              <a:rPr lang="en-US" sz="1600" dirty="0" err="1"/>
              <a:t>χρόνος</a:t>
            </a:r>
            <a:r>
              <a:rPr lang="en-US" sz="1600" dirty="0"/>
              <a:t> π</a:t>
            </a:r>
            <a:r>
              <a:rPr lang="en-US" sz="1600" dirty="0" err="1"/>
              <a:t>ου</a:t>
            </a:r>
            <a:r>
              <a:rPr lang="en-US" sz="1600" dirty="0"/>
              <a:t> </a:t>
            </a:r>
            <a:r>
              <a:rPr lang="en-US" sz="1600" dirty="0" err="1"/>
              <a:t>το</a:t>
            </a:r>
            <a:r>
              <a:rPr lang="en-US" sz="1600" dirty="0"/>
              <a:t> πα</a:t>
            </a:r>
            <a:r>
              <a:rPr lang="en-US" sz="1600" dirty="0" err="1"/>
              <a:t>κέτο</a:t>
            </a:r>
            <a:r>
              <a:rPr lang="en-US" sz="1600" dirty="0"/>
              <a:t> π</a:t>
            </a:r>
            <a:r>
              <a:rPr lang="en-US" sz="1600" dirty="0" err="1"/>
              <a:t>εριμένει</a:t>
            </a:r>
            <a:r>
              <a:rPr lang="en-US" sz="1600" dirty="0"/>
              <a:t> </a:t>
            </a:r>
            <a:r>
              <a:rPr lang="en-US" sz="1600" dirty="0" err="1"/>
              <a:t>στην</a:t>
            </a:r>
            <a:r>
              <a:rPr lang="en-US" sz="1600" dirty="0"/>
              <a:t> </a:t>
            </a:r>
            <a:r>
              <a:rPr lang="en-US" sz="1600" dirty="0" err="1"/>
              <a:t>ουρά</a:t>
            </a:r>
            <a:r>
              <a:rPr lang="en-US" sz="1600" dirty="0"/>
              <a:t>. Μπ</a:t>
            </a:r>
            <a:r>
              <a:rPr lang="en-US" sz="1600" dirty="0" err="1"/>
              <a:t>ορεί</a:t>
            </a:r>
            <a:r>
              <a:rPr lang="en-US" sz="1600" dirty="0"/>
              <a:t> να </a:t>
            </a:r>
            <a:r>
              <a:rPr lang="en-US" sz="1600" dirty="0" err="1"/>
              <a:t>είν</a:t>
            </a:r>
            <a:r>
              <a:rPr lang="en-US" sz="1600" dirty="0"/>
              <a:t>αι από μηδέν μέχρι πολύ μεγάλος.</a:t>
            </a:r>
          </a:p>
          <a:p>
            <a:pPr indent="-228600" algn="l">
              <a:buFont typeface="Arial" panose="020B0604020202020204" pitchFamily="34" charset="0"/>
              <a:buChar char="•"/>
            </a:pPr>
            <a:r>
              <a:rPr lang="en-US" sz="1600" b="1" dirty="0"/>
              <a:t>Transmission Delay (Router):</a:t>
            </a:r>
            <a:r>
              <a:rPr lang="en-US" sz="1600" dirty="0"/>
              <a:t> Ο </a:t>
            </a:r>
            <a:r>
              <a:rPr lang="en-US" sz="1600" dirty="0" err="1"/>
              <a:t>χρόνος</a:t>
            </a:r>
            <a:r>
              <a:rPr lang="en-US" sz="1600" dirty="0"/>
              <a:t> π</a:t>
            </a:r>
            <a:r>
              <a:rPr lang="en-US" sz="1600" dirty="0" err="1"/>
              <a:t>ου</a:t>
            </a:r>
            <a:r>
              <a:rPr lang="en-US" sz="1600" dirty="0"/>
              <a:t> ο router "</a:t>
            </a:r>
            <a:r>
              <a:rPr lang="en-US" sz="1600" dirty="0" err="1"/>
              <a:t>γράφει</a:t>
            </a:r>
            <a:r>
              <a:rPr lang="en-US" sz="1600" dirty="0"/>
              <a:t>" </a:t>
            </a:r>
            <a:r>
              <a:rPr lang="en-US" sz="1600" dirty="0" err="1"/>
              <a:t>το</a:t>
            </a:r>
            <a:r>
              <a:rPr lang="en-US" sz="1600" dirty="0"/>
              <a:t> πα</a:t>
            </a:r>
            <a:r>
              <a:rPr lang="en-US" sz="1600" dirty="0" err="1"/>
              <a:t>κέτο</a:t>
            </a:r>
            <a:r>
              <a:rPr lang="en-US" sz="1600" dirty="0"/>
              <a:t> </a:t>
            </a:r>
            <a:r>
              <a:rPr lang="en-US" sz="1600" dirty="0" err="1"/>
              <a:t>στην</a:t>
            </a:r>
            <a:r>
              <a:rPr lang="en-US" sz="1600" dirty="0"/>
              <a:t> </a:t>
            </a:r>
            <a:r>
              <a:rPr lang="en-US" sz="1600" dirty="0" err="1"/>
              <a:t>εξερχόμενη</a:t>
            </a:r>
            <a:r>
              <a:rPr lang="en-US" sz="1600" dirty="0"/>
              <a:t> </a:t>
            </a:r>
            <a:r>
              <a:rPr lang="en-US" sz="1600" dirty="0" err="1"/>
              <a:t>γρ</a:t>
            </a:r>
            <a:r>
              <a:rPr lang="en-US" sz="1600" dirty="0"/>
              <a:t>αμμή.</a:t>
            </a:r>
          </a:p>
          <a:p>
            <a:pPr indent="-228600" algn="l">
              <a:buFont typeface="Arial" panose="020B0604020202020204" pitchFamily="34" charset="0"/>
              <a:buChar char="•"/>
            </a:pPr>
            <a:r>
              <a:rPr lang="en-US" sz="1600" b="1" dirty="0"/>
              <a:t>Propagation Delay (Router → Destination):</a:t>
            </a:r>
            <a:r>
              <a:rPr lang="en-US" sz="1600" dirty="0"/>
              <a:t> Ο </a:t>
            </a:r>
            <a:r>
              <a:rPr lang="en-US" sz="1600" dirty="0" err="1"/>
              <a:t>χρόνος</a:t>
            </a:r>
            <a:r>
              <a:rPr lang="en-US" sz="1600" dirty="0"/>
              <a:t> τα</a:t>
            </a:r>
            <a:r>
              <a:rPr lang="en-US" sz="1600" dirty="0" err="1"/>
              <a:t>ξιδιού</a:t>
            </a:r>
            <a:r>
              <a:rPr lang="en-US" sz="1600" dirty="0"/>
              <a:t> π</a:t>
            </a:r>
            <a:r>
              <a:rPr lang="en-US" sz="1600" dirty="0" err="1"/>
              <a:t>ρος</a:t>
            </a:r>
            <a:r>
              <a:rPr lang="en-US" sz="1600" dirty="0"/>
              <a:t> </a:t>
            </a:r>
            <a:r>
              <a:rPr lang="en-US" sz="1600" dirty="0" err="1"/>
              <a:t>τον</a:t>
            </a:r>
            <a:r>
              <a:rPr lang="en-US" sz="1600" dirty="0"/>
              <a:t> π</a:t>
            </a:r>
            <a:r>
              <a:rPr lang="en-US" sz="1600" dirty="0" err="1"/>
              <a:t>ροορισμό</a:t>
            </a:r>
            <a:r>
              <a:rPr lang="en-US" sz="1600" dirty="0"/>
              <a:t>.</a:t>
            </a:r>
          </a:p>
          <a:p>
            <a:pPr indent="-228600" algn="l">
              <a:buFont typeface="Arial" panose="020B0604020202020204" pitchFamily="34" charset="0"/>
              <a:buChar char="•"/>
            </a:pPr>
            <a:r>
              <a:rPr lang="en-US" sz="1600" b="1" dirty="0" err="1"/>
              <a:t>Πώς</a:t>
            </a:r>
            <a:r>
              <a:rPr lang="en-US" sz="1600" b="1" dirty="0"/>
              <a:t> </a:t>
            </a:r>
            <a:r>
              <a:rPr lang="en-US" sz="1600" b="1" dirty="0" err="1"/>
              <a:t>το</a:t>
            </a:r>
            <a:r>
              <a:rPr lang="en-US" sz="1600" b="1" dirty="0"/>
              <a:t> </a:t>
            </a:r>
            <a:r>
              <a:rPr lang="en-US" sz="1600" b="1" dirty="0" err="1"/>
              <a:t>Υλο</a:t>
            </a:r>
            <a:r>
              <a:rPr lang="en-US" sz="1600" b="1" dirty="0"/>
              <a:t>ποιήσαμε:</a:t>
            </a:r>
            <a:endParaRPr lang="en-US" sz="1600" dirty="0"/>
          </a:p>
          <a:p>
            <a:pPr indent="-228600" algn="l">
              <a:buFont typeface="Arial" panose="020B0604020202020204" pitchFamily="34" charset="0"/>
              <a:buChar char="•"/>
            </a:pPr>
            <a:r>
              <a:rPr lang="en-US" sz="1600" dirty="0" err="1"/>
              <a:t>Δημιουργήσ</a:t>
            </a:r>
            <a:r>
              <a:rPr lang="en-US" sz="1600" dirty="0"/>
              <a:t>αμε μια κλάση Packet που λειτουργεί σαν ένα "δέμα με ετικέτα".</a:t>
            </a:r>
          </a:p>
          <a:p>
            <a:pPr indent="-228600" algn="l">
              <a:buFont typeface="Arial" panose="020B0604020202020204" pitchFamily="34" charset="0"/>
              <a:buChar char="•"/>
            </a:pPr>
            <a:r>
              <a:rPr lang="en-US" sz="1600" dirty="0" err="1"/>
              <a:t>Κάθε</a:t>
            </a:r>
            <a:r>
              <a:rPr lang="en-US" sz="1600" dirty="0"/>
              <a:t> πα</a:t>
            </a:r>
            <a:r>
              <a:rPr lang="en-US" sz="1600" dirty="0" err="1"/>
              <a:t>κέτο</a:t>
            </a:r>
            <a:r>
              <a:rPr lang="en-US" sz="1600" dirty="0"/>
              <a:t> </a:t>
            </a:r>
            <a:r>
              <a:rPr lang="en-US" sz="1600" dirty="0" err="1"/>
              <a:t>φέρει</a:t>
            </a:r>
            <a:r>
              <a:rPr lang="en-US" sz="1600" dirty="0"/>
              <a:t> π</a:t>
            </a:r>
            <a:r>
              <a:rPr lang="en-US" sz="1600" dirty="0" err="1"/>
              <a:t>άνω</a:t>
            </a:r>
            <a:r>
              <a:rPr lang="en-US" sz="1600" dirty="0"/>
              <a:t> </a:t>
            </a:r>
            <a:r>
              <a:rPr lang="en-US" sz="1600" dirty="0" err="1"/>
              <a:t>του</a:t>
            </a:r>
            <a:r>
              <a:rPr lang="en-US" sz="1600" dirty="0"/>
              <a:t> </a:t>
            </a:r>
            <a:r>
              <a:rPr lang="en-US" sz="1600" dirty="0" err="1"/>
              <a:t>τη</a:t>
            </a:r>
            <a:r>
              <a:rPr lang="en-US" sz="1600" dirty="0"/>
              <a:t> </a:t>
            </a:r>
            <a:r>
              <a:rPr lang="en-US" sz="1600" dirty="0" err="1"/>
              <a:t>χρονική</a:t>
            </a:r>
            <a:r>
              <a:rPr lang="en-US" sz="1600" dirty="0"/>
              <a:t> </a:t>
            </a:r>
            <a:r>
              <a:rPr lang="en-US" sz="1600" dirty="0" err="1"/>
              <a:t>σφρ</a:t>
            </a:r>
            <a:r>
              <a:rPr lang="en-US" sz="1600" dirty="0"/>
              <a:t>αγίδα της δημιουργίας του (time_created).</a:t>
            </a:r>
          </a:p>
          <a:p>
            <a:pPr indent="-228600" algn="l">
              <a:buFont typeface="Arial" panose="020B0604020202020204" pitchFamily="34" charset="0"/>
              <a:buChar char="•"/>
            </a:pPr>
            <a:r>
              <a:rPr lang="en-US" sz="1600" dirty="0" err="1"/>
              <a:t>Ότ</a:t>
            </a:r>
            <a:r>
              <a:rPr lang="en-US" sz="1600" dirty="0"/>
              <a:t>αν φτάνει στον προορισμό, απλώς αφαιρούμε: End-to-End Delay = arrival_time - time_created.</a:t>
            </a:r>
          </a:p>
          <a:p>
            <a:pPr indent="-228600" algn="l">
              <a:buFont typeface="Arial" panose="020B0604020202020204" pitchFamily="34" charset="0"/>
              <a:buChar char="•"/>
            </a:pPr>
            <a:endParaRPr lang="en-US" sz="16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3" name="Diagram 32">
            <a:extLst>
              <a:ext uri="{FF2B5EF4-FFF2-40B4-BE49-F238E27FC236}">
                <a16:creationId xmlns:a16="http://schemas.microsoft.com/office/drawing/2014/main" id="{EB98B89E-6E00-1104-D0C5-B7A4F2369204}"/>
              </a:ext>
            </a:extLst>
          </p:cNvPr>
          <p:cNvGraphicFramePr/>
          <p:nvPr>
            <p:extLst>
              <p:ext uri="{D42A27DB-BD31-4B8C-83A1-F6EECF244321}">
                <p14:modId xmlns:p14="http://schemas.microsoft.com/office/powerpoint/2010/main" val="1796463840"/>
              </p:ext>
            </p:extLst>
          </p:nvPr>
        </p:nvGraphicFramePr>
        <p:xfrm>
          <a:off x="838201" y="3998018"/>
          <a:ext cx="3981854" cy="2216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7" name="Arc 36">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4E4A1DD2-BE61-9253-AD7C-014CFB5ACCFA}"/>
              </a:ext>
            </a:extLst>
          </p:cNvPr>
          <p:cNvSpPr>
            <a:spLocks noGrp="1"/>
          </p:cNvSpPr>
          <p:nvPr>
            <p:ph type="body" sz="half" idx="2"/>
          </p:nvPr>
        </p:nvSpPr>
        <p:spPr>
          <a:xfrm>
            <a:off x="5040106" y="3568988"/>
            <a:ext cx="6382966" cy="2216512"/>
          </a:xfrm>
        </p:spPr>
        <p:txBody>
          <a:bodyPr vert="horz" lIns="91440" tIns="45720" rIns="91440" bIns="45720" rtlCol="0">
            <a:noAutofit/>
          </a:bodyPr>
          <a:lstStyle/>
          <a:p>
            <a:r>
              <a:rPr lang="el-GR" b="1" dirty="0"/>
              <a:t>Γράφημα 1: </a:t>
            </a:r>
            <a:r>
              <a:rPr lang="en-US" b="1" dirty="0"/>
              <a:t>End-to-End Delay</a:t>
            </a:r>
            <a:br>
              <a:rPr lang="el-GR" b="1" dirty="0"/>
            </a:br>
            <a:br>
              <a:rPr lang="el-GR" b="1" dirty="0"/>
            </a:br>
            <a:r>
              <a:rPr lang="el-GR" b="1" dirty="0"/>
              <a:t>Φάση 1 (Αρχή):</a:t>
            </a:r>
            <a:r>
              <a:rPr lang="el-GR" dirty="0"/>
              <a:t> Η καθυστέρηση είναι χαμηλή και σταθερή. Η ουρά είναι άδεια.</a:t>
            </a:r>
          </a:p>
          <a:p>
            <a:r>
              <a:rPr lang="el-GR" b="1" dirty="0"/>
              <a:t>Φάση 2 (Ανάπτυξη):</a:t>
            </a:r>
            <a:r>
              <a:rPr lang="el-GR" dirty="0"/>
              <a:t> Βλέπουμε μια απότομη, σχεδόν γραμμική αύξηση. Κάθε νέο πακέτο πρέπει να περιμένει όλο και περισσότερα πακέτα που βρίσκονται ήδη στην ουρά.</a:t>
            </a:r>
          </a:p>
          <a:p>
            <a:r>
              <a:rPr lang="el-GR" b="1" dirty="0"/>
              <a:t>Φάση 3 (Κορεσμός):</a:t>
            </a:r>
            <a:r>
              <a:rPr lang="el-GR" dirty="0"/>
              <a:t> Η καθυστέρηση σταθεροποιείται σε μια πολύ υψηλή τιμή. Η ουρά είναι μόνιμα γεμάτη, οπότε ο χρόνος αναμονής φτάνει στο μέγιστό του.</a:t>
            </a:r>
          </a:p>
          <a:p>
            <a:br>
              <a:rPr lang="en-US" sz="1400" dirty="0"/>
            </a:br>
            <a:br>
              <a:rPr lang="en-US" sz="1400" dirty="0"/>
            </a:br>
            <a:endParaRPr lang="en-US" sz="1400" dirty="0"/>
          </a:p>
        </p:txBody>
      </p:sp>
      <p:pic>
        <p:nvPicPr>
          <p:cNvPr id="4" name="Picture 3">
            <a:extLst>
              <a:ext uri="{FF2B5EF4-FFF2-40B4-BE49-F238E27FC236}">
                <a16:creationId xmlns:a16="http://schemas.microsoft.com/office/drawing/2014/main" id="{AC926E2F-1D3B-B6CE-82B4-0F553C173059}"/>
              </a:ext>
            </a:extLst>
          </p:cNvPr>
          <p:cNvPicPr>
            <a:picLocks noChangeAspect="1"/>
          </p:cNvPicPr>
          <p:nvPr/>
        </p:nvPicPr>
        <p:blipFill>
          <a:blip r:embed="rId7"/>
          <a:stretch>
            <a:fillRect/>
          </a:stretch>
        </p:blipFill>
        <p:spPr>
          <a:xfrm>
            <a:off x="0" y="17849"/>
            <a:ext cx="12192000" cy="3104261"/>
          </a:xfrm>
          <a:prstGeom prst="rect">
            <a:avLst/>
          </a:prstGeom>
        </p:spPr>
      </p:pic>
    </p:spTree>
    <p:extLst>
      <p:ext uri="{BB962C8B-B14F-4D97-AF65-F5344CB8AC3E}">
        <p14:creationId xmlns:p14="http://schemas.microsoft.com/office/powerpoint/2010/main" val="3511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B8B50BD2-AB94-0E44-4C56-D98003A5C3E1}"/>
              </a:ext>
            </a:extLst>
          </p:cNvPr>
          <p:cNvSpPr>
            <a:spLocks noGrp="1"/>
          </p:cNvSpPr>
          <p:nvPr>
            <p:ph type="ctrTitle"/>
          </p:nvPr>
        </p:nvSpPr>
        <p:spPr>
          <a:xfrm>
            <a:off x="826396" y="586855"/>
            <a:ext cx="4230100" cy="3387497"/>
          </a:xfrm>
        </p:spPr>
        <p:txBody>
          <a:bodyPr vert="horz" lIns="91440" tIns="45720" rIns="91440" bIns="45720" rtlCol="0" anchor="b">
            <a:normAutofit/>
          </a:bodyPr>
          <a:lstStyle/>
          <a:p>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του</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Γρ</a:t>
            </a:r>
            <a:r>
              <a:rPr lang="en-US" sz="4000" b="1" kern="1200" dirty="0">
                <a:solidFill>
                  <a:srgbClr val="FFFFFF"/>
                </a:solidFill>
                <a:latin typeface="+mj-lt"/>
                <a:ea typeface="+mj-ea"/>
                <a:cs typeface="+mj-cs"/>
              </a:rPr>
              <a:t>αφήματος</a:t>
            </a:r>
            <a:br>
              <a:rPr lang="el-GR" sz="4000" b="1" kern="1200" dirty="0">
                <a:solidFill>
                  <a:srgbClr val="FFFFFF"/>
                </a:solidFill>
                <a:latin typeface="+mj-lt"/>
                <a:ea typeface="+mj-ea"/>
                <a:cs typeface="+mj-cs"/>
              </a:rPr>
            </a:br>
            <a:r>
              <a:rPr lang="en-US" sz="4000" b="1" dirty="0">
                <a:solidFill>
                  <a:schemeClr val="bg1"/>
                </a:solidFill>
              </a:rPr>
              <a:t>End-to-End Delay</a:t>
            </a:r>
            <a:br>
              <a:rPr lang="en-US" sz="4000" b="1" kern="1200" dirty="0">
                <a:solidFill>
                  <a:srgbClr val="FFFFFF"/>
                </a:solidFill>
                <a:latin typeface="+mj-lt"/>
                <a:ea typeface="+mj-ea"/>
                <a:cs typeface="+mj-cs"/>
              </a:rPr>
            </a:br>
            <a:endParaRPr lang="en-US" sz="4000" kern="1200" dirty="0">
              <a:solidFill>
                <a:srgbClr val="FFFFFF"/>
              </a:solidFill>
              <a:latin typeface="+mj-lt"/>
              <a:ea typeface="+mj-ea"/>
              <a:cs typeface="+mj-cs"/>
            </a:endParaRPr>
          </a:p>
        </p:txBody>
      </p:sp>
      <p:sp>
        <p:nvSpPr>
          <p:cNvPr id="5" name="Subtitle 4">
            <a:extLst>
              <a:ext uri="{FF2B5EF4-FFF2-40B4-BE49-F238E27FC236}">
                <a16:creationId xmlns:a16="http://schemas.microsoft.com/office/drawing/2014/main" id="{C7EF3E07-E523-75D0-BA13-79DD304D5514}"/>
              </a:ext>
            </a:extLst>
          </p:cNvPr>
          <p:cNvSpPr>
            <a:spLocks noGrp="1"/>
          </p:cNvSpPr>
          <p:nvPr>
            <p:ph type="subTitle" idx="1"/>
          </p:nvPr>
        </p:nvSpPr>
        <p:spPr>
          <a:xfrm>
            <a:off x="5733289" y="109728"/>
            <a:ext cx="6457946" cy="6748269"/>
          </a:xfrm>
        </p:spPr>
        <p:txBody>
          <a:bodyPr vert="horz" lIns="91440" tIns="45720" rIns="91440" bIns="45720" rtlCol="0" anchor="ctr">
            <a:noAutofit/>
          </a:bodyPr>
          <a:lstStyle/>
          <a:p>
            <a:r>
              <a:rPr lang="el-GR" sz="1400" b="1" dirty="0"/>
              <a:t>Φάση 1: Η Αρχή</a:t>
            </a:r>
            <a:br>
              <a:rPr lang="en-US" sz="1400" b="1" dirty="0"/>
            </a:br>
            <a:r>
              <a:rPr lang="el-GR" sz="1400" b="1" dirty="0"/>
              <a:t>Τι συμβαίνει:</a:t>
            </a:r>
            <a:r>
              <a:rPr lang="el-GR" sz="1400" dirty="0"/>
              <a:t> Το πρώτο πακέτο (Packet 0) φτάνει στον router και τον βρίσκει εντελώς άδειο.</a:t>
            </a:r>
          </a:p>
          <a:p>
            <a:pPr lvl="1"/>
            <a:r>
              <a:rPr lang="el-GR" sz="1400" b="1" dirty="0"/>
              <a:t>Υπολογισμός Ελάχιστης Καθυστέρησης:</a:t>
            </a:r>
            <a:endParaRPr lang="el-GR" sz="1400" dirty="0"/>
          </a:p>
          <a:p>
            <a:pPr lvl="2"/>
            <a:r>
              <a:rPr lang="el-GR" sz="1400" dirty="0"/>
              <a:t>Καθυστέρηση Διάδοσης 1 (Source → Router): </a:t>
            </a:r>
            <a:r>
              <a:rPr lang="el-GR" sz="1400" b="1" dirty="0"/>
              <a:t>0.050s</a:t>
            </a:r>
            <a:endParaRPr lang="el-GR" sz="1400" dirty="0"/>
          </a:p>
          <a:p>
            <a:pPr lvl="2"/>
            <a:r>
              <a:rPr lang="el-GR" sz="1400" dirty="0"/>
              <a:t>Καθυστέρηση στην Ουρά (Queuing Delay): </a:t>
            </a:r>
            <a:r>
              <a:rPr lang="el-GR" sz="1400" b="1" dirty="0"/>
              <a:t>0s</a:t>
            </a:r>
            <a:r>
              <a:rPr lang="el-GR" sz="1400" dirty="0"/>
              <a:t> (δεν περιμένει καθόλου)</a:t>
            </a:r>
          </a:p>
          <a:p>
            <a:pPr lvl="2"/>
            <a:r>
              <a:rPr lang="el-GR" sz="1400" dirty="0"/>
              <a:t>Καθυστέρηση Μετάδοσης (Transmission Delay): </a:t>
            </a:r>
            <a:r>
              <a:rPr lang="el-GR" sz="1400" b="1" dirty="0"/>
              <a:t>0.008s</a:t>
            </a:r>
            <a:endParaRPr lang="el-GR" sz="1400" dirty="0"/>
          </a:p>
          <a:p>
            <a:pPr lvl="2"/>
            <a:r>
              <a:rPr lang="el-GR" sz="1400" dirty="0"/>
              <a:t>Καθυστέρηση Διάδοσης 2 (Router → Destination): </a:t>
            </a:r>
            <a:r>
              <a:rPr lang="el-GR" sz="1400" b="1" dirty="0"/>
              <a:t>0.050s</a:t>
            </a:r>
            <a:endParaRPr lang="el-GR" sz="1400" dirty="0"/>
          </a:p>
          <a:p>
            <a:pPr lvl="1"/>
            <a:r>
              <a:rPr lang="el-GR" sz="1400" b="1" dirty="0"/>
              <a:t>Συνολική Καθυστέρηση (ελάχιστη):</a:t>
            </a:r>
            <a:r>
              <a:rPr lang="el-GR" sz="1400" dirty="0"/>
              <a:t> 0.050 + 0 + 0.008 + 0.050 = </a:t>
            </a:r>
            <a:r>
              <a:rPr lang="el-GR" sz="1400" b="1" dirty="0"/>
              <a:t>0.108s</a:t>
            </a:r>
            <a:endParaRPr lang="el-GR" sz="1400" dirty="0"/>
          </a:p>
          <a:p>
            <a:pPr lvl="1"/>
            <a:r>
              <a:rPr lang="el-GR" sz="1400" b="1" dirty="0"/>
              <a:t>Στο Γράφημα:</a:t>
            </a:r>
            <a:r>
              <a:rPr lang="el-GR" sz="1400" dirty="0"/>
              <a:t> Το πρώτο σημείο είναι περίπου στο y = 0.11.</a:t>
            </a:r>
          </a:p>
          <a:p>
            <a:r>
              <a:rPr lang="el-GR" sz="1400" b="1" dirty="0"/>
              <a:t>Φάση 2: Η Απότομη Αύξηση (Η Ουρά Γεμίζει)</a:t>
            </a:r>
            <a:endParaRPr lang="el-GR" sz="1400" dirty="0"/>
          </a:p>
          <a:p>
            <a:pPr lvl="1"/>
            <a:r>
              <a:rPr lang="el-GR" sz="1400" b="1" dirty="0"/>
              <a:t>Το Μοτίβο:</a:t>
            </a:r>
            <a:r>
              <a:rPr lang="el-GR" sz="1400" dirty="0"/>
              <a:t> Κάθε νέο πακέτο φτάνει στον router 5ms μετά το προηγούμενο. Όμως, ο router χρειάζεται 58ms για να εξυπηρετήσει ένα πακέτο. Έτσι, η ουρά γεμίζει ταχύτατα.</a:t>
            </a:r>
          </a:p>
          <a:p>
            <a:pPr lvl="1"/>
            <a:r>
              <a:rPr lang="el-GR" sz="1400" b="1" dirty="0"/>
              <a:t>Η Αύξηση της Καθυστέρησης:</a:t>
            </a:r>
            <a:r>
              <a:rPr lang="el-GR" sz="1400" dirty="0"/>
              <a:t> Κάθε πακέτο που μπαίνει στην ουρά πρέπει να περιμένει για όλα τα προηγούμενα. Επειδή η αναμονή αυτή αυξάνεται συνεχώς, η συνολική καθυστέρηση στο γράφημα εμφανίζεται ως μια </a:t>
            </a:r>
            <a:r>
              <a:rPr lang="el-GR" sz="1400" b="1" dirty="0"/>
              <a:t>ευθεία γραμμή με απότομη κλίση</a:t>
            </a:r>
            <a:r>
              <a:rPr lang="el-GR" sz="1400" dirty="0"/>
              <a:t>.</a:t>
            </a:r>
          </a:p>
          <a:p>
            <a:r>
              <a:rPr lang="el-GR" sz="1400" b="1" dirty="0"/>
              <a:t>Φάση 3: Η Ουρά Είναι Γεμάτη (Ο Κορεσμός)</a:t>
            </a:r>
            <a:endParaRPr lang="el-GR" sz="1400" dirty="0"/>
          </a:p>
          <a:p>
            <a:pPr lvl="1"/>
            <a:r>
              <a:rPr lang="el-GR" sz="1400" b="1" dirty="0"/>
              <a:t>Η Λογική του Κορεσμού:</a:t>
            </a:r>
            <a:r>
              <a:rPr lang="el-GR" sz="1400" dirty="0"/>
              <a:t> Από εδώ και πέρα, κάθε πακέτο που καταφέρνει να μπει στην ουρά (δηλαδή δεν απορρίπτεται), βρίσκει μπροστά του πάντα μια γεμάτη ουρά 10 πακέτων.</a:t>
            </a:r>
          </a:p>
          <a:p>
            <a:pPr lvl="1"/>
            <a:r>
              <a:rPr lang="el-GR" sz="1400" b="1" dirty="0"/>
              <a:t>Μέγιστη Καθυστέρηση:</a:t>
            </a:r>
            <a:r>
              <a:rPr lang="el-GR" sz="1400" dirty="0"/>
              <a:t> Ο χρόνος αναμονής στην ουρά σταθεροποιείται στο μέγιστο δυνατό: ο χρόνος που χρειάζεται ο router για να εξυπηρετήσει τα 9 πακέτα που είναι ήδη εκεί.</a:t>
            </a:r>
          </a:p>
          <a:p>
            <a:pPr lvl="1"/>
            <a:r>
              <a:rPr lang="el-GR" sz="1400" b="1" dirty="0"/>
              <a:t>Υπολογισμός (περίπου):</a:t>
            </a:r>
            <a:r>
              <a:rPr lang="el-GR" sz="1400" dirty="0"/>
              <a:t> 9 πακέτα * 0.058 s/πακέτο ≈ </a:t>
            </a:r>
            <a:r>
              <a:rPr lang="el-GR" sz="1400" b="1" dirty="0"/>
              <a:t>0.52s</a:t>
            </a:r>
            <a:r>
              <a:rPr lang="el-GR" sz="1400" dirty="0"/>
              <a:t> (μόνο η αναμονή στην ουρά!). Η συνολική καθυστέρηση πλησιάζει τα </a:t>
            </a:r>
            <a:r>
              <a:rPr lang="el-GR" sz="1400" b="1" dirty="0"/>
              <a:t>0.63s</a:t>
            </a:r>
            <a:r>
              <a:rPr lang="el-GR" sz="1400" dirty="0"/>
              <a:t> (0.52s + 0.108s).</a:t>
            </a:r>
          </a:p>
        </p:txBody>
      </p:sp>
    </p:spTree>
    <p:extLst>
      <p:ext uri="{BB962C8B-B14F-4D97-AF65-F5344CB8AC3E}">
        <p14:creationId xmlns:p14="http://schemas.microsoft.com/office/powerpoint/2010/main" val="217109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1F18D-2EF9-59B9-6144-1276F5E98AA1}"/>
            </a:ext>
          </a:extLst>
        </p:cNvPr>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3BD460BD-26EB-E0D4-65BA-A2F3F82CC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33" name="Diagram 32">
            <a:extLst>
              <a:ext uri="{FF2B5EF4-FFF2-40B4-BE49-F238E27FC236}">
                <a16:creationId xmlns:a16="http://schemas.microsoft.com/office/drawing/2014/main" id="{BEC4A611-D4FF-5C6C-11BB-B1EF48A16371}"/>
              </a:ext>
            </a:extLst>
          </p:cNvPr>
          <p:cNvGraphicFramePr/>
          <p:nvPr/>
        </p:nvGraphicFramePr>
        <p:xfrm>
          <a:off x="838201" y="3998018"/>
          <a:ext cx="3981854" cy="2216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7" name="Arc 36">
            <a:extLst>
              <a:ext uri="{FF2B5EF4-FFF2-40B4-BE49-F238E27FC236}">
                <a16:creationId xmlns:a16="http://schemas.microsoft.com/office/drawing/2014/main" id="{027F4B77-16A9-E490-581F-47DBFC8E5A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8B7E9A36-57D3-E5A4-6A27-0CE89700D2D1}"/>
              </a:ext>
            </a:extLst>
          </p:cNvPr>
          <p:cNvSpPr>
            <a:spLocks noGrp="1"/>
          </p:cNvSpPr>
          <p:nvPr>
            <p:ph type="body" sz="half" idx="2"/>
          </p:nvPr>
        </p:nvSpPr>
        <p:spPr>
          <a:xfrm>
            <a:off x="5040106" y="3568988"/>
            <a:ext cx="6382966" cy="2216512"/>
          </a:xfrm>
        </p:spPr>
        <p:txBody>
          <a:bodyPr vert="horz" lIns="91440" tIns="45720" rIns="91440" bIns="45720" rtlCol="0">
            <a:noAutofit/>
          </a:bodyPr>
          <a:lstStyle/>
          <a:p>
            <a:r>
              <a:rPr lang="el-GR" b="1" dirty="0"/>
              <a:t>Γράφημα 2: Μέγεθος Ουράς Router</a:t>
            </a:r>
            <a:endParaRPr lang="el-GR" dirty="0"/>
          </a:p>
          <a:p>
            <a:r>
              <a:rPr lang="el-GR" b="1" dirty="0"/>
              <a:t>Φάση 1 (Γέμισμα):</a:t>
            </a:r>
            <a:r>
              <a:rPr lang="el-GR" dirty="0"/>
              <a:t> Μια κατακόρυφη αύξηση από το 0 στο 10. Η ουρά γεμίζει αστραπιαία, επιβεβαιώνοντας ότι οι αφίξεις είναι πολύ ταχύτερες από τις αναχωρήσεις.</a:t>
            </a:r>
          </a:p>
          <a:p>
            <a:r>
              <a:rPr lang="el-GR" b="1" dirty="0"/>
              <a:t>Φάση 2 (Πλατό):</a:t>
            </a:r>
            <a:r>
              <a:rPr lang="el-GR" dirty="0"/>
              <a:t> Η γραμμή παραμένει "κολλημένη" στο 10. Αυτό είναι το οπτικό αποτύπωμα της συνεχούς συμφόρησης. Για κάθε ένα πακέτο που φεύγει, ένα νέο φτάνει και παίρνει τη θέση του, ενώ άλλα απορρίπτονται.</a:t>
            </a:r>
          </a:p>
        </p:txBody>
      </p:sp>
      <p:pic>
        <p:nvPicPr>
          <p:cNvPr id="5" name="Picture 4">
            <a:extLst>
              <a:ext uri="{FF2B5EF4-FFF2-40B4-BE49-F238E27FC236}">
                <a16:creationId xmlns:a16="http://schemas.microsoft.com/office/drawing/2014/main" id="{537EC019-17B0-65D5-B551-E87ED53796EC}"/>
              </a:ext>
            </a:extLst>
          </p:cNvPr>
          <p:cNvPicPr>
            <a:picLocks noChangeAspect="1"/>
          </p:cNvPicPr>
          <p:nvPr/>
        </p:nvPicPr>
        <p:blipFill>
          <a:blip r:embed="rId7"/>
          <a:stretch>
            <a:fillRect/>
          </a:stretch>
        </p:blipFill>
        <p:spPr>
          <a:xfrm>
            <a:off x="0" y="116413"/>
            <a:ext cx="12192000" cy="3082958"/>
          </a:xfrm>
          <a:prstGeom prst="rect">
            <a:avLst/>
          </a:prstGeom>
        </p:spPr>
      </p:pic>
    </p:spTree>
    <p:extLst>
      <p:ext uri="{BB962C8B-B14F-4D97-AF65-F5344CB8AC3E}">
        <p14:creationId xmlns:p14="http://schemas.microsoft.com/office/powerpoint/2010/main" val="42604141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3E0754-F27A-156D-4808-B285869836F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7669303-83FC-F982-1F7E-CF40F4128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31EDD2A-65DA-28F3-6C68-C74F49E31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B1170CA-6D00-94A0-485B-D93168FE6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21ED1E00-E86C-6C1F-069E-608832CAD2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2333924-2D4A-A353-2B47-27A6D9A91D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C430643-561E-22A0-FA3A-1DEA648A28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AA0EEB6C-4456-4352-7184-CC8FDBB75763}"/>
              </a:ext>
            </a:extLst>
          </p:cNvPr>
          <p:cNvSpPr>
            <a:spLocks noGrp="1"/>
          </p:cNvSpPr>
          <p:nvPr>
            <p:ph type="ctrTitle"/>
          </p:nvPr>
        </p:nvSpPr>
        <p:spPr>
          <a:xfrm>
            <a:off x="826396" y="586855"/>
            <a:ext cx="4230100" cy="3387497"/>
          </a:xfrm>
        </p:spPr>
        <p:txBody>
          <a:bodyPr vert="horz" lIns="91440" tIns="45720" rIns="91440" bIns="45720" rtlCol="0" anchor="b">
            <a:normAutofit/>
          </a:bodyPr>
          <a:lstStyle/>
          <a:p>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του</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Γρ</a:t>
            </a:r>
            <a:r>
              <a:rPr lang="en-US" sz="4000" b="1" kern="1200" dirty="0">
                <a:solidFill>
                  <a:srgbClr val="FFFFFF"/>
                </a:solidFill>
                <a:latin typeface="+mj-lt"/>
                <a:ea typeface="+mj-ea"/>
                <a:cs typeface="+mj-cs"/>
              </a:rPr>
              <a:t>αφήματος</a:t>
            </a:r>
            <a:br>
              <a:rPr lang="el-GR" sz="4000" b="1" kern="1200" dirty="0">
                <a:solidFill>
                  <a:srgbClr val="FFFFFF"/>
                </a:solidFill>
                <a:latin typeface="+mj-lt"/>
                <a:ea typeface="+mj-ea"/>
                <a:cs typeface="+mj-cs"/>
              </a:rPr>
            </a:br>
            <a:r>
              <a:rPr lang="el-GR" sz="4000" b="1" dirty="0">
                <a:solidFill>
                  <a:schemeClr val="bg1"/>
                </a:solidFill>
              </a:rPr>
              <a:t>Μέγεθος Ουράς Router</a:t>
            </a:r>
            <a:br>
              <a:rPr lang="el-GR" sz="4000" dirty="0"/>
            </a:br>
            <a:br>
              <a:rPr lang="en-US" sz="4000" b="1" kern="1200" dirty="0">
                <a:solidFill>
                  <a:srgbClr val="FFFFFF"/>
                </a:solidFill>
                <a:latin typeface="+mj-lt"/>
                <a:ea typeface="+mj-ea"/>
                <a:cs typeface="+mj-cs"/>
              </a:rPr>
            </a:br>
            <a:endParaRPr lang="en-US" sz="4000" kern="1200" dirty="0">
              <a:solidFill>
                <a:srgbClr val="FFFFFF"/>
              </a:solidFill>
              <a:latin typeface="+mj-lt"/>
              <a:ea typeface="+mj-ea"/>
              <a:cs typeface="+mj-cs"/>
            </a:endParaRPr>
          </a:p>
        </p:txBody>
      </p:sp>
      <p:sp>
        <p:nvSpPr>
          <p:cNvPr id="5" name="Subtitle 4">
            <a:extLst>
              <a:ext uri="{FF2B5EF4-FFF2-40B4-BE49-F238E27FC236}">
                <a16:creationId xmlns:a16="http://schemas.microsoft.com/office/drawing/2014/main" id="{183C921E-D46E-348F-B5B4-796237713269}"/>
              </a:ext>
            </a:extLst>
          </p:cNvPr>
          <p:cNvSpPr>
            <a:spLocks noGrp="1"/>
          </p:cNvSpPr>
          <p:nvPr>
            <p:ph type="subTitle" idx="1"/>
          </p:nvPr>
        </p:nvSpPr>
        <p:spPr>
          <a:xfrm>
            <a:off x="5588347" y="10141"/>
            <a:ext cx="6602887" cy="6847856"/>
          </a:xfrm>
        </p:spPr>
        <p:txBody>
          <a:bodyPr vert="horz" lIns="91440" tIns="45720" rIns="91440" bIns="45720" rtlCol="0" anchor="ctr">
            <a:noAutofit/>
          </a:bodyPr>
          <a:lstStyle/>
          <a:p>
            <a:r>
              <a:rPr lang="el-GR" sz="1200" b="1" dirty="0"/>
              <a:t>Φάση 1: Η Καθυστερημένη Άνοδος (Χρόνος 0.05s έως ~0.1s)</a:t>
            </a:r>
            <a:endParaRPr lang="el-GR" sz="1200" dirty="0"/>
          </a:p>
          <a:p>
            <a:pPr lvl="1"/>
            <a:r>
              <a:rPr lang="el-GR" sz="1200" b="1" dirty="0"/>
              <a:t>Τι Βλέπουμε:</a:t>
            </a:r>
            <a:r>
              <a:rPr lang="el-GR" sz="1200" dirty="0"/>
              <a:t> Η ουρά παραμένει στο </a:t>
            </a:r>
            <a:r>
              <a:rPr lang="el-GR" sz="1200" b="1" dirty="0"/>
              <a:t>0 για τα πρώτα 50ms</a:t>
            </a:r>
            <a:r>
              <a:rPr lang="el-GR" sz="1200" dirty="0"/>
              <a:t>! Η πορτοκαλί γραμμή ξεκινά την άνοδό της από τη χρονική στιγμή t=0.050s, όταν φτάνει το πρώτο πακέτο.</a:t>
            </a:r>
          </a:p>
          <a:p>
            <a:pPr lvl="1"/>
            <a:r>
              <a:rPr lang="el-GR" sz="1200" b="1" dirty="0"/>
              <a:t>Ρυθμός Άφιξης (στην ουρά):</a:t>
            </a:r>
            <a:r>
              <a:rPr lang="el-GR" sz="1200" dirty="0"/>
              <a:t> Ένα νέο πακέτο φτάνει στον router κάθε </a:t>
            </a:r>
            <a:r>
              <a:rPr lang="el-GR" sz="1200" b="1" dirty="0"/>
              <a:t>5ms</a:t>
            </a:r>
            <a:r>
              <a:rPr lang="el-GR" sz="1200" dirty="0"/>
              <a:t>.</a:t>
            </a:r>
          </a:p>
          <a:p>
            <a:pPr lvl="1"/>
            <a:r>
              <a:rPr lang="el-GR" sz="1200" b="1" dirty="0"/>
              <a:t>Ρυθμός Εξυπηρέτησης (από την ουρά):</a:t>
            </a:r>
            <a:r>
              <a:rPr lang="el-GR" sz="1200" dirty="0"/>
              <a:t> Ο router εξυπηρετεί ένα πακέτο κάθε </a:t>
            </a:r>
            <a:r>
              <a:rPr lang="el-GR" sz="1200" b="1" dirty="0"/>
              <a:t>58ms</a:t>
            </a:r>
            <a:r>
              <a:rPr lang="el-GR" sz="1200" dirty="0"/>
              <a:t>.</a:t>
            </a:r>
          </a:p>
          <a:p>
            <a:pPr lvl="1"/>
            <a:r>
              <a:rPr lang="el-GR" sz="1200" b="1" dirty="0"/>
              <a:t>Το Συμπέρασμα:</a:t>
            </a:r>
            <a:r>
              <a:rPr lang="el-GR" sz="1200" dirty="0"/>
              <a:t> Η ουρά αναπόφευκτα γεμίζει, και μάλιστα πολύ γρήγορα, μόλις αρχίσουν οι αφίξεις.</a:t>
            </a:r>
          </a:p>
          <a:p>
            <a:r>
              <a:rPr lang="el-GR" sz="1200" b="1" dirty="0"/>
              <a:t>Φάση 2: Κορεσμός και Βαριά Συμφόρηση (Χρόνος ~0.1s έως 1.0s)</a:t>
            </a:r>
            <a:endParaRPr lang="el-GR" sz="1200" dirty="0"/>
          </a:p>
          <a:p>
            <a:pPr lvl="1"/>
            <a:r>
              <a:rPr lang="el-GR" sz="1200" b="1" dirty="0"/>
              <a:t>Τι Βλέπουμε:</a:t>
            </a:r>
            <a:r>
              <a:rPr lang="el-GR" sz="1200" dirty="0"/>
              <a:t> Η γραμμή "κολλάει" στο μέγιστο όριο των 10 πακέτων.</a:t>
            </a:r>
          </a:p>
          <a:p>
            <a:pPr lvl="1"/>
            <a:r>
              <a:rPr lang="el-GR" sz="1200" b="1" dirty="0"/>
              <a:t>Το Πλατό στο 10:</a:t>
            </a:r>
            <a:r>
              <a:rPr lang="el-GR" sz="1200" dirty="0"/>
              <a:t> Η ουρά είναι μόνιμα γεμάτη. Αυτή είναι η περίοδος της βαριάς συμφόρησης. Κάθε νέο πακέτο που φτάνει, βρίσκει την ουρά γεμάτη και απορρίπτεται (αυτό είναι το Packet Drop).</a:t>
            </a:r>
          </a:p>
          <a:p>
            <a:pPr lvl="1"/>
            <a:r>
              <a:rPr lang="el-GR" sz="1200" b="1" dirty="0"/>
              <a:t>Η Εξήγηση για τις "Βουτιές":</a:t>
            </a:r>
            <a:endParaRPr lang="el-GR" sz="1200" dirty="0"/>
          </a:p>
          <a:p>
            <a:pPr lvl="2"/>
            <a:r>
              <a:rPr lang="el-GR" sz="1200" b="1" dirty="0"/>
              <a:t>Στιγμή Α:</a:t>
            </a:r>
            <a:r>
              <a:rPr lang="el-GR" sz="1200" dirty="0"/>
              <a:t> Ο router ολοκληρώνει την αποστολή ενός πακέτου και το αφαιρεί από την ουρά. Για μια ανεπαίσθητη στιγμή, το μέγεθος της ουράς γίνεται </a:t>
            </a:r>
            <a:r>
              <a:rPr lang="el-GR" sz="1200" b="1" dirty="0"/>
              <a:t>9</a:t>
            </a:r>
            <a:r>
              <a:rPr lang="el-GR" sz="1200" dirty="0"/>
              <a:t>.</a:t>
            </a:r>
          </a:p>
          <a:p>
            <a:pPr lvl="2"/>
            <a:r>
              <a:rPr lang="el-GR" sz="1200" b="1" dirty="0"/>
              <a:t>Στιγμή Β:</a:t>
            </a:r>
            <a:r>
              <a:rPr lang="el-GR" sz="1200" dirty="0"/>
              <a:t> Ένα νέο πακέτο που μόλις έφτασε (από τα πολλά που περιμένουν), βρίσκει την κενή θέση και μπαίνει στην ουρά. Το μέγεθος της ουράς γίνεται ξανά </a:t>
            </a:r>
            <a:r>
              <a:rPr lang="el-GR" sz="1200" b="1" dirty="0"/>
              <a:t>10</a:t>
            </a:r>
            <a:r>
              <a:rPr lang="el-GR" sz="1200" dirty="0"/>
              <a:t>.</a:t>
            </a:r>
          </a:p>
          <a:p>
            <a:r>
              <a:rPr lang="el-GR" sz="1200" b="1" dirty="0"/>
              <a:t>Φάση 3: Η Αποσυμφόρηση (Χρόνος 1.0s έως ~1.5s)</a:t>
            </a:r>
          </a:p>
          <a:p>
            <a:pPr algn="l"/>
            <a:r>
              <a:rPr lang="el-GR" sz="1200" b="1" dirty="0"/>
              <a:t>                    Τι Βλέπουμε:</a:t>
            </a:r>
            <a:r>
              <a:rPr lang="el-GR" sz="1200" dirty="0"/>
              <a:t> Η γραμμή αρχίζει να κατεβαίνει σταδιακά, πάλι με τη μορφή σκαλοπατιών.</a:t>
            </a:r>
          </a:p>
          <a:p>
            <a:pPr lvl="1" algn="l"/>
            <a:r>
              <a:rPr lang="el-GR" sz="1200" dirty="0"/>
              <a:t>Σύμφωνα με τον κώδικα, η πηγή έχει εντολή να στείλει </a:t>
            </a:r>
            <a:r>
              <a:rPr lang="el-GR" sz="1200" b="1" dirty="0"/>
              <a:t>200 πακέτα</a:t>
            </a:r>
            <a:r>
              <a:rPr lang="el-GR" sz="1200" dirty="0"/>
              <a:t> (NUM_PACKETS = 200).</a:t>
            </a:r>
          </a:p>
          <a:p>
            <a:pPr lvl="1" algn="l"/>
            <a:r>
              <a:rPr lang="el-GR" sz="1200" dirty="0"/>
              <a:t>Ο χρόνος που χρειάζεται για να τα στείλει όλα είναι: 200 πακέτα * 0.005 s/πακέτο = 1.0 δευτερόλεπτο.</a:t>
            </a:r>
          </a:p>
          <a:p>
            <a:pPr lvl="1" algn="l"/>
            <a:r>
              <a:rPr lang="el-GR" sz="1200" dirty="0"/>
              <a:t>Ακριβώς τη χρονική στιγμή t=1.0s, η πηγή στέλνει το τελευταίο της πακέτο και </a:t>
            </a:r>
            <a:r>
              <a:rPr lang="el-GR" sz="1200" b="1" dirty="0"/>
              <a:t>σταματάει να στέλνει νέα</a:t>
            </a:r>
            <a:r>
              <a:rPr lang="el-GR" sz="1200" dirty="0"/>
              <a:t>.</a:t>
            </a:r>
          </a:p>
          <a:p>
            <a:pPr lvl="1" algn="l"/>
            <a:r>
              <a:rPr lang="el-GR" sz="1200" dirty="0"/>
              <a:t>Από αυτό το σημείο και μετά, δεν φτάνουν νέα πακέτα στον router. Ο router, όμως, συνεχίζει τη δουλειά του, στέλνοντας ένα πακέτο από την ουρά κάθε 8ms.</a:t>
            </a:r>
            <a:endParaRPr lang="en-US" sz="1200" dirty="0"/>
          </a:p>
        </p:txBody>
      </p:sp>
    </p:spTree>
    <p:extLst>
      <p:ext uri="{BB962C8B-B14F-4D97-AF65-F5344CB8AC3E}">
        <p14:creationId xmlns:p14="http://schemas.microsoft.com/office/powerpoint/2010/main" val="13680245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A556E9-E9FC-B9FB-BFB9-D8E37A21FD6E}"/>
              </a:ext>
            </a:extLst>
          </p:cNvPr>
          <p:cNvSpPr>
            <a:spLocks noGrp="1"/>
          </p:cNvSpPr>
          <p:nvPr>
            <p:ph type="title"/>
          </p:nvPr>
        </p:nvSpPr>
        <p:spPr>
          <a:xfrm>
            <a:off x="466722" y="586855"/>
            <a:ext cx="3201366" cy="3387497"/>
          </a:xfrm>
        </p:spPr>
        <p:txBody>
          <a:bodyPr anchor="b">
            <a:normAutofit/>
          </a:bodyPr>
          <a:lstStyle/>
          <a:p>
            <a:pPr algn="r"/>
            <a:r>
              <a:rPr lang="en-US" sz="4000" b="1" dirty="0">
                <a:solidFill>
                  <a:srgbClr val="FFFFFF"/>
                </a:solidFill>
              </a:rPr>
              <a:t>Bandwidth &amp; </a:t>
            </a:r>
            <a:r>
              <a:rPr lang="el-GR" sz="4000" b="1" dirty="0">
                <a:solidFill>
                  <a:srgbClr val="FFFFFF"/>
                </a:solidFill>
              </a:rPr>
              <a:t>Συμφόρηση Δικτύου</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0D6D6111-6E17-1286-4D90-602946AFB8C0}"/>
              </a:ext>
            </a:extLst>
          </p:cNvPr>
          <p:cNvSpPr>
            <a:spLocks noGrp="1"/>
          </p:cNvSpPr>
          <p:nvPr>
            <p:ph idx="1"/>
          </p:nvPr>
        </p:nvSpPr>
        <p:spPr>
          <a:xfrm>
            <a:off x="4037826" y="10138"/>
            <a:ext cx="8151125" cy="6837724"/>
          </a:xfrm>
        </p:spPr>
        <p:txBody>
          <a:bodyPr anchor="ctr">
            <a:normAutofit/>
          </a:bodyPr>
          <a:lstStyle/>
          <a:p>
            <a:r>
              <a:rPr lang="el-GR" sz="1200" b="1" dirty="0"/>
              <a:t> Η Μεθοδολογία μας</a:t>
            </a:r>
          </a:p>
          <a:p>
            <a:r>
              <a:rPr lang="el-GR" sz="1200" dirty="0"/>
              <a:t>Εκτελέσαμε την προσομοίωση 3 φορές, κρατώντας όλες τις παραμέτρους σταθερές, εκτός από το Bandwidth.</a:t>
            </a:r>
          </a:p>
          <a:p>
            <a:pPr lvl="1"/>
            <a:r>
              <a:rPr lang="el-GR" sz="1200" b="1" dirty="0"/>
              <a:t>Σενάριο 1:</a:t>
            </a:r>
            <a:r>
              <a:rPr lang="el-GR" sz="1200" dirty="0"/>
              <a:t> 1 Mbps (Η βασική μας προσομοίωση)</a:t>
            </a:r>
          </a:p>
          <a:p>
            <a:pPr lvl="1"/>
            <a:r>
              <a:rPr lang="el-GR" sz="1200" b="1" dirty="0"/>
              <a:t>Σενάrio 2:</a:t>
            </a:r>
            <a:r>
              <a:rPr lang="el-GR" sz="1200" dirty="0"/>
              <a:t> 10 Mbps</a:t>
            </a:r>
          </a:p>
          <a:p>
            <a:pPr lvl="1"/>
            <a:r>
              <a:rPr lang="el-GR" sz="1200" b="1" dirty="0"/>
              <a:t>Σενάrio 3:</a:t>
            </a:r>
            <a:r>
              <a:rPr lang="el-GR" sz="1200" dirty="0"/>
              <a:t> 100 Mbps</a:t>
            </a:r>
          </a:p>
          <a:p>
            <a:r>
              <a:rPr lang="el-GR" sz="1200" b="1" dirty="0"/>
              <a:t>Ο Στόχος:</a:t>
            </a:r>
            <a:r>
              <a:rPr lang="el-GR" sz="1200" dirty="0"/>
              <a:t> Να παρατηρήσουμε πώς η αύξηση του bandwidth επηρεάζει τις μετρικές απόδοσης (Packet Loss, Delay, Throughput).</a:t>
            </a:r>
            <a:br>
              <a:rPr lang="el-GR" sz="1200" dirty="0"/>
            </a:br>
            <a:endParaRPr lang="el-GR" sz="1200" dirty="0"/>
          </a:p>
          <a:p>
            <a:r>
              <a:rPr lang="el-GR" sz="1200" b="1" dirty="0"/>
              <a:t>Ανάλυση Αποτελεσμάτων: Ο Πραγματικός Bottleneck</a:t>
            </a:r>
          </a:p>
          <a:p>
            <a:r>
              <a:rPr lang="el-GR" sz="1200" dirty="0"/>
              <a:t> Παρατηρήσαμε ότι η 100πλάσια αύξηση του bandwidth είχε </a:t>
            </a:r>
            <a:r>
              <a:rPr lang="el-GR" sz="1200" b="1" dirty="0"/>
              <a:t>ελάχιστη έως μηδενική επίδραση.</a:t>
            </a:r>
            <a:r>
              <a:rPr lang="el-GR" sz="1200" dirty="0"/>
              <a:t> Το Packet Loss Rate παρέμεινε σταθερά σε πολύ υψηλά επίπεδα (~86%).</a:t>
            </a:r>
          </a:p>
          <a:p>
            <a:r>
              <a:rPr lang="el-GR" sz="1200" b="1" dirty="0"/>
              <a:t>Η Εξήγηση:</a:t>
            </a:r>
            <a:r>
              <a:rPr lang="el-GR" sz="1200" dirty="0"/>
              <a:t> Ο χρόνος εξυπηρέτησης του router δεν καθορίζεται από το bandwidth, αλλά από την </a:t>
            </a:r>
            <a:r>
              <a:rPr lang="el-GR" sz="1200" b="1" dirty="0"/>
              <a:t>τεράστια καθυστέρηση διάδοσης (50ms)</a:t>
            </a:r>
            <a:r>
              <a:rPr lang="el-GR" sz="1200" dirty="0"/>
              <a:t>, η οποία είναι σταθερή.</a:t>
            </a:r>
          </a:p>
          <a:p>
            <a:r>
              <a:rPr lang="el-GR" sz="1200" dirty="0"/>
              <a:t>Η βελτίωση στον χρόνο είναι αμελητέα. Ο ρυθμός εξυπηρέτησης παραμένει ~17 πακέτα/sec, ενώ ο ρυθμός άφιξης είναι 200 πακέτα/sec.</a:t>
            </a:r>
            <a:br>
              <a:rPr lang="el-GR" sz="1200" dirty="0"/>
            </a:br>
            <a:endParaRPr lang="el-GR" sz="1200" dirty="0"/>
          </a:p>
          <a:p>
            <a:r>
              <a:rPr lang="el-GR" sz="1200" b="1" dirty="0"/>
              <a:t>Το Βασικό Συμπέρασμα</a:t>
            </a:r>
          </a:p>
          <a:p>
            <a:r>
              <a:rPr lang="el-GR" sz="1200" dirty="0"/>
              <a:t>Η απόδοση του δικτύου καθορίζεται από τον </a:t>
            </a:r>
            <a:r>
              <a:rPr lang="el-GR" sz="1200" b="1" dirty="0"/>
              <a:t>πιο αργό κρίκο</a:t>
            </a:r>
            <a:r>
              <a:rPr lang="el-GR" sz="1200" dirty="0"/>
              <a:t> της αλυσίδας.</a:t>
            </a:r>
          </a:p>
          <a:p>
            <a:r>
              <a:rPr lang="el-GR" sz="1200" dirty="0"/>
              <a:t>Στο μοντέλο μας, αυτός ο κρίκος ήταν η </a:t>
            </a:r>
            <a:r>
              <a:rPr lang="el-GR" sz="1200" b="1" dirty="0"/>
              <a:t>σταθερή καθυστέρηση διάδοσης</a:t>
            </a:r>
            <a:r>
              <a:rPr lang="el-GR" sz="1200" dirty="0"/>
              <a:t>, όχι το μεταβλητό bandwidth.</a:t>
            </a:r>
          </a:p>
          <a:p>
            <a:r>
              <a:rPr lang="el-GR" sz="1200" b="1" dirty="0"/>
              <a:t>Ακόμα και με άπειρο bandwidth, η συμφόρηση θα παρέμενε</a:t>
            </a:r>
            <a:r>
              <a:rPr lang="el-GR" sz="1200" dirty="0"/>
              <a:t>, καθώς ο router δεν θα μπορούσε ποτέ να εξυπηρετήσει πακέτα γρηγορότερα από 1 ανά 50ms.</a:t>
            </a:r>
          </a:p>
          <a:p>
            <a:endParaRPr lang="en-US" sz="1200" dirty="0"/>
          </a:p>
        </p:txBody>
      </p:sp>
    </p:spTree>
    <p:extLst>
      <p:ext uri="{BB962C8B-B14F-4D97-AF65-F5344CB8AC3E}">
        <p14:creationId xmlns:p14="http://schemas.microsoft.com/office/powerpoint/2010/main" val="36443218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with lines and numbers&#10;&#10;AI-generated content may be incorrect.">
            <a:extLst>
              <a:ext uri="{FF2B5EF4-FFF2-40B4-BE49-F238E27FC236}">
                <a16:creationId xmlns:a16="http://schemas.microsoft.com/office/drawing/2014/main" id="{6D45EDB3-F4E0-2343-D2D1-F589B3516F0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48400" y="0"/>
            <a:ext cx="5943600" cy="3011805"/>
          </a:xfrm>
          <a:prstGeom prst="rect">
            <a:avLst/>
          </a:prstGeom>
        </p:spPr>
      </p:pic>
      <p:pic>
        <p:nvPicPr>
          <p:cNvPr id="5" name="Picture 4" descr="A graph with lines and text">
            <a:extLst>
              <a:ext uri="{FF2B5EF4-FFF2-40B4-BE49-F238E27FC236}">
                <a16:creationId xmlns:a16="http://schemas.microsoft.com/office/drawing/2014/main" id="{DFFFB991-E70E-6A8D-97E9-850975196F2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2400" y="3846195"/>
            <a:ext cx="5943600" cy="3011805"/>
          </a:xfrm>
          <a:prstGeom prst="rect">
            <a:avLst/>
          </a:prstGeom>
        </p:spPr>
      </p:pic>
      <p:sp>
        <p:nvSpPr>
          <p:cNvPr id="9" name="TextBox 8">
            <a:extLst>
              <a:ext uri="{FF2B5EF4-FFF2-40B4-BE49-F238E27FC236}">
                <a16:creationId xmlns:a16="http://schemas.microsoft.com/office/drawing/2014/main" id="{07DE2BF4-A21E-21CD-2458-E73EA7E588D1}"/>
              </a:ext>
            </a:extLst>
          </p:cNvPr>
          <p:cNvSpPr txBox="1"/>
          <p:nvPr/>
        </p:nvSpPr>
        <p:spPr>
          <a:xfrm>
            <a:off x="152400" y="426482"/>
            <a:ext cx="6019800" cy="2585323"/>
          </a:xfrm>
          <a:prstGeom prst="rect">
            <a:avLst/>
          </a:prstGeom>
          <a:noFill/>
        </p:spPr>
        <p:txBody>
          <a:bodyPr wrap="square" rtlCol="0">
            <a:spAutoFit/>
          </a:bodyPr>
          <a:lstStyle/>
          <a:p>
            <a:r>
              <a:rPr lang="en-US" sz="3600" b="1" dirty="0"/>
              <a:t>10 Mbps</a:t>
            </a:r>
            <a:endParaRPr lang="en-US" sz="3600" dirty="0"/>
          </a:p>
          <a:p>
            <a:pPr lvl="0"/>
            <a:r>
              <a:rPr lang="en-US" dirty="0"/>
              <a:t>Transmission delay = 8000 / 10_000_000 = 0.0008 s (0.8 </a:t>
            </a:r>
            <a:r>
              <a:rPr lang="en-US" dirty="0" err="1"/>
              <a:t>ms</a:t>
            </a:r>
            <a:r>
              <a:rPr lang="en-US" dirty="0"/>
              <a:t>)</a:t>
            </a:r>
            <a:br>
              <a:rPr lang="el-GR" dirty="0"/>
            </a:br>
            <a:endParaRPr lang="en-US" dirty="0"/>
          </a:p>
          <a:p>
            <a:pPr lvl="0"/>
            <a:r>
              <a:rPr lang="en-US" dirty="0"/>
              <a:t>Service time ≈ 0.0508 s → </a:t>
            </a:r>
            <a:r>
              <a:rPr lang="en-US" dirty="0" err="1"/>
              <a:t>service_rate</a:t>
            </a:r>
            <a:r>
              <a:rPr lang="en-US" dirty="0"/>
              <a:t> ≈ 19.68–19.6 packets/s</a:t>
            </a:r>
          </a:p>
          <a:p>
            <a:pPr lvl="0"/>
            <a:r>
              <a:rPr lang="en-US" dirty="0"/>
              <a:t>ρ ≈ 10.16</a:t>
            </a:r>
          </a:p>
          <a:p>
            <a:r>
              <a:rPr lang="en-US" dirty="0"/>
              <a:t>Max throughput ≈ 0.157 Mbps</a:t>
            </a:r>
            <a:br>
              <a:rPr lang="el-GR" b="1" dirty="0"/>
            </a:br>
            <a:endParaRPr lang="en-US" dirty="0"/>
          </a:p>
        </p:txBody>
      </p:sp>
      <p:sp>
        <p:nvSpPr>
          <p:cNvPr id="10" name="TextBox 9">
            <a:extLst>
              <a:ext uri="{FF2B5EF4-FFF2-40B4-BE49-F238E27FC236}">
                <a16:creationId xmlns:a16="http://schemas.microsoft.com/office/drawing/2014/main" id="{7454DEFF-D59D-8658-4BFE-A5411A051EF4}"/>
              </a:ext>
            </a:extLst>
          </p:cNvPr>
          <p:cNvSpPr txBox="1"/>
          <p:nvPr/>
        </p:nvSpPr>
        <p:spPr>
          <a:xfrm>
            <a:off x="6096000" y="3846195"/>
            <a:ext cx="6019800" cy="2862322"/>
          </a:xfrm>
          <a:prstGeom prst="rect">
            <a:avLst/>
          </a:prstGeom>
          <a:noFill/>
        </p:spPr>
        <p:txBody>
          <a:bodyPr wrap="square" rtlCol="0">
            <a:spAutoFit/>
          </a:bodyPr>
          <a:lstStyle/>
          <a:p>
            <a:r>
              <a:rPr lang="en-US" sz="3600" b="1" dirty="0"/>
              <a:t>10</a:t>
            </a:r>
            <a:r>
              <a:rPr lang="el-GR" sz="3600" b="1" dirty="0"/>
              <a:t>0</a:t>
            </a:r>
            <a:r>
              <a:rPr lang="en-US" sz="3600" b="1" dirty="0"/>
              <a:t> Mbps</a:t>
            </a:r>
            <a:endParaRPr lang="en-US" sz="3600" dirty="0"/>
          </a:p>
          <a:p>
            <a:pPr lvl="0"/>
            <a:r>
              <a:rPr lang="en-US" dirty="0"/>
              <a:t>Transmission delay = 8000 / 100_000_000 = 0.00008 s (0.08 </a:t>
            </a:r>
            <a:r>
              <a:rPr lang="en-US" dirty="0" err="1"/>
              <a:t>ms</a:t>
            </a:r>
            <a:r>
              <a:rPr lang="en-US" dirty="0"/>
              <a:t>)</a:t>
            </a:r>
          </a:p>
          <a:p>
            <a:pPr lvl="0"/>
            <a:r>
              <a:rPr lang="en-US" dirty="0"/>
              <a:t>Service time ≈ 0.05008 s → </a:t>
            </a:r>
            <a:r>
              <a:rPr lang="en-US" dirty="0" err="1"/>
              <a:t>service_rate</a:t>
            </a:r>
            <a:r>
              <a:rPr lang="en-US" dirty="0"/>
              <a:t> ≈ 19.97 packets/s</a:t>
            </a:r>
          </a:p>
          <a:p>
            <a:pPr lvl="0"/>
            <a:r>
              <a:rPr lang="en-US" dirty="0"/>
              <a:t>ρ ≈ 10.02</a:t>
            </a:r>
          </a:p>
          <a:p>
            <a:r>
              <a:rPr lang="en-US" dirty="0"/>
              <a:t>Max throughput ≈ 0.160 Mbps</a:t>
            </a:r>
            <a:br>
              <a:rPr lang="el-GR" b="1" dirty="0"/>
            </a:br>
            <a:br>
              <a:rPr lang="el-GR" b="1" dirty="0"/>
            </a:br>
            <a:br>
              <a:rPr lang="el-GR" b="1" dirty="0"/>
            </a:br>
            <a:endParaRPr lang="en-US" dirty="0"/>
          </a:p>
        </p:txBody>
      </p:sp>
    </p:spTree>
    <p:extLst>
      <p:ext uri="{BB962C8B-B14F-4D97-AF65-F5344CB8AC3E}">
        <p14:creationId xmlns:p14="http://schemas.microsoft.com/office/powerpoint/2010/main" val="1772195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DF9FF6-720B-F5D3-256A-D422129C28BB}"/>
              </a:ext>
            </a:extLst>
          </p:cNvPr>
          <p:cNvSpPr>
            <a:spLocks noGrp="1"/>
          </p:cNvSpPr>
          <p:nvPr>
            <p:ph type="title"/>
          </p:nvPr>
        </p:nvSpPr>
        <p:spPr>
          <a:xfrm>
            <a:off x="1371599" y="294538"/>
            <a:ext cx="9895951" cy="1033669"/>
          </a:xfrm>
        </p:spPr>
        <p:txBody>
          <a:bodyPr>
            <a:normAutofit/>
          </a:bodyPr>
          <a:lstStyle/>
          <a:p>
            <a:r>
              <a:rPr lang="el-GR" sz="4000" b="1">
                <a:solidFill>
                  <a:srgbClr val="FFFFFF"/>
                </a:solidFill>
              </a:rPr>
              <a:t>Βασικά Συμπεράσματα </a:t>
            </a:r>
            <a:endParaRPr lang="en-US" sz="4000">
              <a:solidFill>
                <a:srgbClr val="FFFFFF"/>
              </a:solidFill>
            </a:endParaRPr>
          </a:p>
        </p:txBody>
      </p:sp>
      <p:sp>
        <p:nvSpPr>
          <p:cNvPr id="3" name="Content Placeholder 2">
            <a:extLst>
              <a:ext uri="{FF2B5EF4-FFF2-40B4-BE49-F238E27FC236}">
                <a16:creationId xmlns:a16="http://schemas.microsoft.com/office/drawing/2014/main" id="{AE51ABE3-D7E0-70FB-7E8E-3B4F14CD7373}"/>
              </a:ext>
            </a:extLst>
          </p:cNvPr>
          <p:cNvSpPr>
            <a:spLocks noGrp="1"/>
          </p:cNvSpPr>
          <p:nvPr>
            <p:ph idx="1"/>
          </p:nvPr>
        </p:nvSpPr>
        <p:spPr>
          <a:xfrm>
            <a:off x="1371599" y="2318197"/>
            <a:ext cx="9724031" cy="3683358"/>
          </a:xfrm>
        </p:spPr>
        <p:txBody>
          <a:bodyPr anchor="ctr">
            <a:normAutofit fontScale="70000" lnSpcReduction="20000"/>
          </a:bodyPr>
          <a:lstStyle/>
          <a:p>
            <a:r>
              <a:rPr lang="el-GR" b="1" dirty="0"/>
              <a:t>Βασικά Συμπεράσματα (Ερωτήματα 1-5):</a:t>
            </a:r>
            <a:endParaRPr lang="el-GR" dirty="0"/>
          </a:p>
          <a:p>
            <a:pPr lvl="1"/>
            <a:r>
              <a:rPr lang="el-GR" dirty="0"/>
              <a:t>Η σχέση μεταξύ του ρυθμού άφιξης και του ρυθμού εξυπηρέτησης είναι ο </a:t>
            </a:r>
            <a:r>
              <a:rPr lang="el-GR" b="1" dirty="0"/>
              <a:t>απόλυτος καθοριστικός παράγοντας</a:t>
            </a:r>
            <a:r>
              <a:rPr lang="el-GR" dirty="0"/>
              <a:t> για τη δημιουργία συμφόρησης.</a:t>
            </a:r>
          </a:p>
          <a:p>
            <a:pPr lvl="1"/>
            <a:r>
              <a:rPr lang="el-GR" dirty="0"/>
              <a:t>Η συμφόρηση έχει δύο κύρια, μετρήσιμα συμπτώματα: </a:t>
            </a:r>
            <a:r>
              <a:rPr lang="el-GR" b="1" dirty="0"/>
              <a:t>δραματική αύξηση της καθυστέρησης</a:t>
            </a:r>
            <a:r>
              <a:rPr lang="el-GR" dirty="0"/>
              <a:t> και </a:t>
            </a:r>
            <a:r>
              <a:rPr lang="el-GR" b="1" dirty="0"/>
              <a:t>σημαντική απώλεια πακέτων</a:t>
            </a:r>
            <a:r>
              <a:rPr lang="el-GR" dirty="0"/>
              <a:t>.</a:t>
            </a:r>
          </a:p>
          <a:p>
            <a:pPr lvl="1"/>
            <a:r>
              <a:rPr lang="el-GR" dirty="0"/>
              <a:t>Η προσομοίωση με εργαλεία όπως το SimPy είναι </a:t>
            </a:r>
            <a:r>
              <a:rPr lang="el-GR"/>
              <a:t>ένας καλός </a:t>
            </a:r>
            <a:r>
              <a:rPr lang="el-GR" dirty="0"/>
              <a:t>τρόπος για να οπτικοποιήσουμε και να κατανοήσουμε αυτές τις πολύπλοκες δυναμικές του δικτύου.</a:t>
            </a:r>
          </a:p>
          <a:p>
            <a:pPr lvl="1"/>
            <a:r>
              <a:rPr lang="el-GR" dirty="0"/>
              <a:t>Ο χρόνος εξυπηρέτησης του router, στο μοντέλο μας, δεν καθορίστηκε από το bandwidth, αλλά από τον πιο αργό κρίκο: την </a:t>
            </a:r>
            <a:r>
              <a:rPr lang="el-GR" b="1" dirty="0"/>
              <a:t>σταθερή καθυστέρηση διάδοσης</a:t>
            </a:r>
            <a:r>
              <a:rPr lang="el-GR" dirty="0"/>
              <a:t>.</a:t>
            </a:r>
            <a:br>
              <a:rPr lang="el-GR" dirty="0"/>
            </a:br>
            <a:endParaRPr lang="el-GR" dirty="0"/>
          </a:p>
          <a:p>
            <a:r>
              <a:rPr lang="el-GR" b="1" dirty="0"/>
              <a:t>Τι Ακολουθεί; (Ερωτήματα 6-8)</a:t>
            </a:r>
            <a:endParaRPr lang="el-GR" dirty="0"/>
          </a:p>
          <a:p>
            <a:pPr lvl="1"/>
            <a:r>
              <a:rPr lang="el-GR" b="1" dirty="0"/>
              <a:t>Ερώτημα 6:</a:t>
            </a:r>
            <a:r>
              <a:rPr lang="el-GR" dirty="0"/>
              <a:t> Πώς επηρεάζει η αλλαγή του μεγέθους των πακέτων;</a:t>
            </a:r>
          </a:p>
          <a:p>
            <a:pPr lvl="1"/>
            <a:r>
              <a:rPr lang="el-GR" b="1" dirty="0"/>
              <a:t>Ερώτημα 7:</a:t>
            </a:r>
            <a:r>
              <a:rPr lang="el-GR" dirty="0"/>
              <a:t> Πώς η προσθήκη host και router επηρεάζει τις επιδόσεις και τις μετρικές;</a:t>
            </a:r>
          </a:p>
          <a:p>
            <a:pPr lvl="1"/>
            <a:r>
              <a:rPr lang="el-GR" b="1" dirty="0"/>
              <a:t>Ερώτημα 8:</a:t>
            </a:r>
            <a:r>
              <a:rPr lang="el-GR" dirty="0"/>
              <a:t> Μπορούμε να διαχειριστούμε την ουρά πιο έξυπνα με διαφορετικούς αλγόριθμους scheduling;</a:t>
            </a:r>
          </a:p>
        </p:txBody>
      </p:sp>
    </p:spTree>
    <p:extLst>
      <p:ext uri="{BB962C8B-B14F-4D97-AF65-F5344CB8AC3E}">
        <p14:creationId xmlns:p14="http://schemas.microsoft.com/office/powerpoint/2010/main" val="29894726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TotalTime>
  <Words>1998</Words>
  <Application>Microsoft Office PowerPoint</Application>
  <PresentationFormat>Widescreen</PresentationFormat>
  <Paragraphs>136</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Calibri</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PowerPoint Presentation</vt:lpstr>
      <vt:lpstr>Ανάλυση του Γραφήματος End-to-End Delay </vt:lpstr>
      <vt:lpstr>PowerPoint Presentation</vt:lpstr>
      <vt:lpstr>Ανάλυση του Γραφήματος Μέγεθος Ουράς Router  </vt:lpstr>
      <vt:lpstr>Bandwidth &amp; Συμφόρηση Δικτύου </vt:lpstr>
      <vt:lpstr>PowerPoint Presentation</vt:lpstr>
      <vt:lpstr>Βασικά Συμπεράσματα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alex chalampakis</cp:lastModifiedBy>
  <cp:revision>25</cp:revision>
  <dcterms:created xsi:type="dcterms:W3CDTF">2025-11-03T13:00:07Z</dcterms:created>
  <dcterms:modified xsi:type="dcterms:W3CDTF">2025-11-03T16:13:12Z</dcterms:modified>
</cp:coreProperties>
</file>